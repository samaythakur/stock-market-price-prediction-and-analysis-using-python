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2" r:id="rId19"/>
    <p:sldId id="273" r:id="rId20"/>
    <p:sldId id="274" r:id="rId21"/>
    <p:sldId id="275" r:id="rId22"/>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1.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A7EA4"/>
          </a:solidFill>
          <a:ln w="12700">
            <a:solidFill>
              <a:srgbClr val="0A7EA4"/>
            </a:solidFill>
            <a:prstDash val="solid"/>
          </a:ln>
        </p:spPr>
      </p:sp>
      <p:sp>
        <p:nvSpPr>
          <p:cNvPr id="4" name="Text 2"/>
          <p:cNvSpPr/>
          <p:nvPr/>
        </p:nvSpPr>
        <p:spPr>
          <a:xfrm>
            <a:off x="289560" y="914400"/>
            <a:ext cx="8046720" cy="731520"/>
          </a:xfrm>
          <a:prstGeom prst="rect">
            <a:avLst/>
          </a:prstGeom>
          <a:noFill/>
        </p:spPr>
        <p:txBody>
          <a:bodyPr wrap="square" rtlCol="0" anchor="ctr"/>
          <a:lstStyle/>
          <a:p>
            <a:pPr marL="0" indent="0">
              <a:buNone/>
            </a:pPr>
            <a:r>
              <a:rPr lang="en-US" sz="4000" b="1" dirty="0">
                <a:solidFill>
                  <a:srgbClr val="FFFFFF"/>
                </a:solidFill>
                <a:latin typeface="Times New Roman" panose="02020603050405020304" charset="0"/>
                <a:ea typeface="Calibri" panose="020F0502020204030204" pitchFamily="34" charset="-122"/>
                <a:cs typeface="Times New Roman" panose="02020603050405020304" charset="0"/>
              </a:rPr>
              <a:t>STOCK MARKET</a:t>
            </a:r>
            <a:r>
              <a:rPr lang="en-IN" altLang="en-US" sz="4000" b="1" dirty="0">
                <a:solidFill>
                  <a:srgbClr val="FFFFFF"/>
                </a:solidFill>
                <a:latin typeface="Times New Roman" panose="02020603050405020304" charset="0"/>
                <a:ea typeface="Calibri" panose="020F0502020204030204" pitchFamily="34" charset="-122"/>
                <a:cs typeface="Times New Roman" panose="02020603050405020304" charset="0"/>
              </a:rPr>
              <a:t> </a:t>
            </a:r>
            <a:endParaRPr lang="en-IN" altLang="en-US" sz="4000" b="1" dirty="0">
              <a:solidFill>
                <a:srgbClr val="FFFFFF"/>
              </a:solidFill>
              <a:latin typeface="Times New Roman" panose="02020603050405020304" charset="0"/>
              <a:ea typeface="Calibri" panose="020F0502020204030204" pitchFamily="34" charset="-122"/>
              <a:cs typeface="Times New Roman" panose="02020603050405020304" charset="0"/>
            </a:endParaRPr>
          </a:p>
        </p:txBody>
      </p:sp>
      <p:sp>
        <p:nvSpPr>
          <p:cNvPr id="5" name="Text 3"/>
          <p:cNvSpPr/>
          <p:nvPr/>
        </p:nvSpPr>
        <p:spPr>
          <a:xfrm>
            <a:off x="247015" y="1600200"/>
            <a:ext cx="6531610" cy="594360"/>
          </a:xfrm>
          <a:prstGeom prst="rect">
            <a:avLst/>
          </a:prstGeom>
          <a:noFill/>
        </p:spPr>
        <p:txBody>
          <a:bodyPr wrap="square" rtlCol="0" anchor="ctr"/>
          <a:lstStyle/>
          <a:p>
            <a:pPr marL="0" indent="0">
              <a:buNone/>
            </a:pPr>
            <a:r>
              <a:rPr lang="en-US" sz="2400" dirty="0">
                <a:solidFill>
                  <a:schemeClr val="bg1"/>
                </a:solidFill>
                <a:latin typeface="Times New Roman" panose="02020603050405020304" charset="0"/>
                <a:ea typeface="Calibri" panose="020F0502020204030204" pitchFamily="34" charset="-122"/>
                <a:cs typeface="Times New Roman" panose="02020603050405020304" charset="0"/>
              </a:rPr>
              <a:t>PRICE PREDICTION &amp; ANALYSIS</a:t>
            </a:r>
            <a:endParaRPr lang="en-US" sz="2400" dirty="0">
              <a:solidFill>
                <a:schemeClr val="bg1"/>
              </a:solidFill>
              <a:latin typeface="Times New Roman" panose="02020603050405020304" charset="0"/>
              <a:ea typeface="Calibri" panose="020F0502020204030204" pitchFamily="34" charset="-122"/>
              <a:cs typeface="Times New Roman" panose="02020603050405020304" charset="0"/>
            </a:endParaRPr>
          </a:p>
        </p:txBody>
      </p:sp>
      <p:sp>
        <p:nvSpPr>
          <p:cNvPr id="6" name="Text 4"/>
          <p:cNvSpPr/>
          <p:nvPr/>
        </p:nvSpPr>
        <p:spPr>
          <a:xfrm>
            <a:off x="247015" y="2194560"/>
            <a:ext cx="8046720" cy="365760"/>
          </a:xfrm>
          <a:prstGeom prst="rect">
            <a:avLst/>
          </a:prstGeom>
          <a:noFill/>
        </p:spPr>
        <p:txBody>
          <a:bodyPr wrap="square" rtlCol="0" anchor="ctr"/>
          <a:lstStyle/>
          <a:p>
            <a:pPr marL="0" indent="0">
              <a:buNone/>
            </a:pPr>
            <a:r>
              <a:rPr lang="en-US" sz="1400" dirty="0">
                <a:solidFill>
                  <a:schemeClr val="bg1"/>
                </a:solidFill>
                <a:latin typeface="Times New Roman" panose="02020603050405020304" charset="0"/>
                <a:ea typeface="Calibri" panose="020F0502020204030204" pitchFamily="34" charset="-122"/>
                <a:cs typeface="Times New Roman" panose="02020603050405020304" charset="0"/>
              </a:rPr>
              <a:t>Using Python</a:t>
            </a:r>
            <a:endParaRPr lang="en-US" sz="1400" dirty="0">
              <a:solidFill>
                <a:schemeClr val="bg1"/>
              </a:solidFill>
              <a:latin typeface="Times New Roman" panose="02020603050405020304" charset="0"/>
              <a:ea typeface="Calibri" panose="020F0502020204030204" pitchFamily="34" charset="-122"/>
              <a:cs typeface="Times New Roman" panose="02020603050405020304" charset="0"/>
            </a:endParaRPr>
          </a:p>
        </p:txBody>
      </p:sp>
      <p:sp>
        <p:nvSpPr>
          <p:cNvPr id="7" name="Shape 5"/>
          <p:cNvSpPr/>
          <p:nvPr/>
        </p:nvSpPr>
        <p:spPr>
          <a:xfrm>
            <a:off x="0" y="4297680"/>
            <a:ext cx="9144000" cy="845820"/>
          </a:xfrm>
          <a:prstGeom prst="rect">
            <a:avLst/>
          </a:prstGeom>
          <a:solidFill>
            <a:srgbClr val="081827"/>
          </a:solidFill>
          <a:ln w="12700">
            <a:solidFill>
              <a:srgbClr val="081827"/>
            </a:solidFill>
            <a:prstDash val="solid"/>
          </a:ln>
        </p:spPr>
      </p:sp>
      <p:sp>
        <p:nvSpPr>
          <p:cNvPr id="8" name="Text 6"/>
          <p:cNvSpPr/>
          <p:nvPr/>
        </p:nvSpPr>
        <p:spPr>
          <a:xfrm>
            <a:off x="548640" y="4315968"/>
            <a:ext cx="8046720" cy="777240"/>
          </a:xfrm>
          <a:prstGeom prst="rect">
            <a:avLst/>
          </a:prstGeom>
          <a:noFill/>
        </p:spPr>
        <p:txBody>
          <a:bodyPr wrap="square" rtlCol="0" anchor="ctr"/>
          <a:lstStyle/>
          <a:p>
            <a:pPr marL="0" indent="0">
              <a:buNone/>
            </a:pPr>
            <a:r>
              <a:rPr lang="en-US" dirty="0">
                <a:solidFill>
                  <a:schemeClr val="bg1"/>
                </a:solidFill>
                <a:latin typeface="Times New Roman" panose="02020603050405020304" charset="0"/>
                <a:ea typeface="Calibri" panose="020F0502020204030204" pitchFamily="34" charset="-122"/>
                <a:cs typeface="Times New Roman" panose="02020603050405020304" charset="0"/>
                <a:sym typeface="+mn-ea"/>
              </a:rPr>
              <a:t>Samay Thakur (1MS23EI044)</a:t>
            </a:r>
            <a:r>
              <a:rPr lang="en-IN" altLang="en-US" dirty="0">
                <a:solidFill>
                  <a:schemeClr val="bg1"/>
                </a:solidFill>
                <a:latin typeface="Times New Roman" panose="02020603050405020304" charset="0"/>
                <a:ea typeface="Calibri" panose="020F0502020204030204" pitchFamily="34" charset="-122"/>
                <a:cs typeface="Times New Roman" panose="02020603050405020304" charset="0"/>
                <a:sym typeface="+mn-ea"/>
              </a:rPr>
              <a:t> </a:t>
            </a:r>
            <a:r>
              <a:rPr lang="en-US" dirty="0">
                <a:solidFill>
                  <a:schemeClr val="bg1"/>
                </a:solidFill>
                <a:latin typeface="Times New Roman" panose="02020603050405020304" charset="0"/>
                <a:ea typeface="Calibri" panose="020F0502020204030204" pitchFamily="34" charset="-122"/>
                <a:cs typeface="Times New Roman" panose="02020603050405020304" charset="0"/>
                <a:sym typeface="+mn-ea"/>
              </a:rPr>
              <a:t>|</a:t>
            </a:r>
            <a:r>
              <a:rPr lang="en-IN" altLang="en-US" dirty="0">
                <a:solidFill>
                  <a:schemeClr val="bg1"/>
                </a:solidFill>
                <a:latin typeface="Times New Roman" panose="02020603050405020304" charset="0"/>
                <a:ea typeface="Calibri" panose="020F0502020204030204" pitchFamily="34" charset="-122"/>
                <a:cs typeface="Times New Roman" panose="02020603050405020304" charset="0"/>
                <a:sym typeface="+mn-ea"/>
              </a:rPr>
              <a:t> </a:t>
            </a:r>
            <a:r>
              <a:rPr lang="en-US" dirty="0">
                <a:solidFill>
                  <a:schemeClr val="bg1"/>
                </a:solidFill>
                <a:latin typeface="Times New Roman" panose="02020603050405020304" charset="0"/>
                <a:ea typeface="Calibri" panose="020F0502020204030204" pitchFamily="34" charset="-122"/>
                <a:cs typeface="Times New Roman" panose="02020603050405020304" charset="0"/>
              </a:rPr>
              <a:t>Vinod Naik (1MS24EI404)    </a:t>
            </a:r>
            <a:endParaRPr lang="en-US" dirty="0">
              <a:solidFill>
                <a:schemeClr val="bg1"/>
              </a:solidFill>
              <a:latin typeface="Times New Roman" panose="02020603050405020304" charset="0"/>
              <a:cs typeface="Times New Roman" panose="02020603050405020304" charset="0"/>
            </a:endParaRPr>
          </a:p>
          <a:p>
            <a:pPr marL="0" indent="0">
              <a:buNone/>
            </a:pPr>
            <a:r>
              <a:rPr lang="en-US" dirty="0">
                <a:solidFill>
                  <a:schemeClr val="bg1"/>
                </a:solidFill>
                <a:latin typeface="Times New Roman" panose="02020603050405020304" charset="0"/>
                <a:ea typeface="Calibri" panose="020F0502020204030204" pitchFamily="34" charset="-122"/>
                <a:cs typeface="Times New Roman" panose="02020603050405020304" charset="0"/>
              </a:rPr>
              <a:t>Guided by: Dr. Yogish H K  |  Dept. of ISE, RIT  |  2025–26</a:t>
            </a:r>
            <a:endParaRPr lang="en-US" dirty="0">
              <a:solidFill>
                <a:schemeClr val="bg1"/>
              </a:solidFill>
              <a:latin typeface="Times New Roman" panose="02020603050405020304" charset="0"/>
              <a:ea typeface="Calibri" panose="020F0502020204030204" pitchFamily="34" charset="-122"/>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73152" cy="384048"/>
          </a:xfrm>
          <a:prstGeom prst="rect">
            <a:avLst/>
          </a:prstGeom>
          <a:solidFill>
            <a:srgbClr val="0A7EA4"/>
          </a:solidFill>
          <a:ln w="12700">
            <a:solidFill>
              <a:srgbClr val="0A7EA4"/>
            </a:solidFill>
            <a:prstDash val="solid"/>
          </a:ln>
        </p:spPr>
      </p:sp>
      <p:sp>
        <p:nvSpPr>
          <p:cNvPr id="3" name="Text 1"/>
          <p:cNvSpPr/>
          <p:nvPr/>
        </p:nvSpPr>
        <p:spPr>
          <a:xfrm>
            <a:off x="621792" y="182880"/>
            <a:ext cx="7772400" cy="502920"/>
          </a:xfrm>
          <a:prstGeom prst="rect">
            <a:avLst/>
          </a:prstGeom>
          <a:noFill/>
        </p:spPr>
        <p:txBody>
          <a:bodyPr wrap="square" lIns="0" tIns="0" rIns="0" bIns="0" rtlCol="0" anchor="ctr"/>
          <a:lstStyle/>
          <a:p>
            <a:pPr marL="0" indent="0">
              <a:buNone/>
            </a:pPr>
            <a:r>
              <a:rPr lang="en-US" sz="2200" b="1" dirty="0">
                <a:solidFill>
                  <a:srgbClr val="1A2B3C"/>
                </a:solidFill>
                <a:latin typeface="Times New Roman" panose="02020603050405020304" charset="0"/>
                <a:ea typeface="Calibri" panose="020F0502020204030204" pitchFamily="34" charset="-122"/>
                <a:cs typeface="Times New Roman" panose="02020603050405020304" charset="0"/>
              </a:rPr>
              <a:t>Presentation Outline</a:t>
            </a:r>
            <a:endParaRPr lang="en-US" sz="2200" b="1" dirty="0">
              <a:solidFill>
                <a:srgbClr val="1A2B3C"/>
              </a:solidFill>
              <a:latin typeface="Times New Roman" panose="02020603050405020304" charset="0"/>
              <a:ea typeface="Calibri" panose="020F0502020204030204" pitchFamily="34" charset="-122"/>
              <a:cs typeface="Times New Roman" panose="02020603050405020304" charset="0"/>
            </a:endParaRPr>
          </a:p>
        </p:txBody>
      </p:sp>
      <p:sp>
        <p:nvSpPr>
          <p:cNvPr id="4" name="Shape 2"/>
          <p:cNvSpPr/>
          <p:nvPr/>
        </p:nvSpPr>
        <p:spPr>
          <a:xfrm>
            <a:off x="457200" y="868680"/>
            <a:ext cx="4160520" cy="658368"/>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5" name="Shape 3"/>
          <p:cNvSpPr/>
          <p:nvPr/>
        </p:nvSpPr>
        <p:spPr>
          <a:xfrm>
            <a:off x="457200" y="868680"/>
            <a:ext cx="502920" cy="658368"/>
          </a:xfrm>
          <a:prstGeom prst="rect">
            <a:avLst/>
          </a:prstGeom>
          <a:solidFill>
            <a:srgbClr val="0A7EA4"/>
          </a:solidFill>
          <a:ln w="12700">
            <a:solidFill>
              <a:srgbClr val="0A7EA4"/>
            </a:solidFill>
            <a:prstDash val="solid"/>
          </a:ln>
        </p:spPr>
      </p:sp>
      <p:sp>
        <p:nvSpPr>
          <p:cNvPr id="6" name="Text 4"/>
          <p:cNvSpPr/>
          <p:nvPr/>
        </p:nvSpPr>
        <p:spPr>
          <a:xfrm>
            <a:off x="457200" y="868680"/>
            <a:ext cx="502920" cy="658368"/>
          </a:xfrm>
          <a:prstGeom prst="rect">
            <a:avLst/>
          </a:prstGeom>
          <a:noFill/>
        </p:spPr>
        <p:txBody>
          <a:bodyPr wrap="square" rtlCol="0" anchor="ctr"/>
          <a:lstStyle/>
          <a:p>
            <a:pPr marL="0" indent="0" algn="ctr">
              <a:buNone/>
            </a:pPr>
            <a:r>
              <a:rPr lang="en-US" sz="1400" b="1" dirty="0">
                <a:solidFill>
                  <a:srgbClr val="FFFFFF"/>
                </a:solidFill>
                <a:latin typeface="Times New Roman" panose="02020603050405020304" charset="0"/>
                <a:cs typeface="Times New Roman" panose="02020603050405020304" charset="0"/>
              </a:rPr>
              <a:t>01</a:t>
            </a:r>
            <a:endParaRPr lang="en-US" sz="1400" b="1" dirty="0">
              <a:solidFill>
                <a:srgbClr val="FFFFFF"/>
              </a:solidFill>
              <a:latin typeface="Times New Roman" panose="02020603050405020304" charset="0"/>
              <a:cs typeface="Times New Roman" panose="02020603050405020304" charset="0"/>
            </a:endParaRPr>
          </a:p>
        </p:txBody>
      </p:sp>
      <p:sp>
        <p:nvSpPr>
          <p:cNvPr id="7" name="Text 5"/>
          <p:cNvSpPr/>
          <p:nvPr/>
        </p:nvSpPr>
        <p:spPr>
          <a:xfrm>
            <a:off x="1051560" y="868680"/>
            <a:ext cx="3474720" cy="658368"/>
          </a:xfrm>
          <a:prstGeom prst="rect">
            <a:avLst/>
          </a:prstGeom>
          <a:noFill/>
        </p:spPr>
        <p:txBody>
          <a:bodyPr wrap="square" rtlCol="0" anchor="ctr"/>
          <a:lstStyle/>
          <a:p>
            <a:pPr marL="0" indent="0">
              <a:buNone/>
            </a:pPr>
            <a:r>
              <a:rPr lang="en-US" sz="1200" dirty="0">
                <a:solidFill>
                  <a:srgbClr val="1A2B3C"/>
                </a:solidFill>
                <a:latin typeface="Times New Roman" panose="02020603050405020304" charset="0"/>
                <a:cs typeface="Times New Roman" panose="02020603050405020304" charset="0"/>
              </a:rPr>
              <a:t>Introduction &amp; Problem Statement</a:t>
            </a:r>
            <a:endParaRPr lang="en-US" sz="1200" dirty="0">
              <a:solidFill>
                <a:srgbClr val="1A2B3C"/>
              </a:solidFill>
              <a:latin typeface="Times New Roman" panose="02020603050405020304" charset="0"/>
              <a:cs typeface="Times New Roman" panose="02020603050405020304" charset="0"/>
            </a:endParaRPr>
          </a:p>
        </p:txBody>
      </p:sp>
      <p:sp>
        <p:nvSpPr>
          <p:cNvPr id="8" name="Shape 6"/>
          <p:cNvSpPr/>
          <p:nvPr/>
        </p:nvSpPr>
        <p:spPr>
          <a:xfrm>
            <a:off x="457200" y="1636776"/>
            <a:ext cx="4160520" cy="658368"/>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9" name="Shape 7"/>
          <p:cNvSpPr/>
          <p:nvPr/>
        </p:nvSpPr>
        <p:spPr>
          <a:xfrm>
            <a:off x="457200" y="1636776"/>
            <a:ext cx="502920" cy="658368"/>
          </a:xfrm>
          <a:prstGeom prst="rect">
            <a:avLst/>
          </a:prstGeom>
          <a:solidFill>
            <a:srgbClr val="0A7EA4"/>
          </a:solidFill>
          <a:ln w="12700">
            <a:solidFill>
              <a:srgbClr val="0A7EA4"/>
            </a:solidFill>
            <a:prstDash val="solid"/>
          </a:ln>
        </p:spPr>
      </p:sp>
      <p:sp>
        <p:nvSpPr>
          <p:cNvPr id="10" name="Text 8"/>
          <p:cNvSpPr/>
          <p:nvPr/>
        </p:nvSpPr>
        <p:spPr>
          <a:xfrm>
            <a:off x="457200" y="1636776"/>
            <a:ext cx="502920" cy="658368"/>
          </a:xfrm>
          <a:prstGeom prst="rect">
            <a:avLst/>
          </a:prstGeom>
          <a:noFill/>
        </p:spPr>
        <p:txBody>
          <a:bodyPr wrap="square" rtlCol="0" anchor="ctr"/>
          <a:lstStyle/>
          <a:p>
            <a:pPr marL="0" indent="0" algn="ctr">
              <a:buNone/>
            </a:pPr>
            <a:r>
              <a:rPr lang="en-US" sz="1400" b="1" dirty="0">
                <a:solidFill>
                  <a:srgbClr val="FFFFFF"/>
                </a:solidFill>
                <a:latin typeface="Times New Roman" panose="02020603050405020304" charset="0"/>
                <a:cs typeface="Times New Roman" panose="02020603050405020304" charset="0"/>
              </a:rPr>
              <a:t>02</a:t>
            </a:r>
            <a:endParaRPr lang="en-US" sz="1400" b="1" dirty="0">
              <a:solidFill>
                <a:srgbClr val="FFFFFF"/>
              </a:solidFill>
              <a:latin typeface="Times New Roman" panose="02020603050405020304" charset="0"/>
              <a:cs typeface="Times New Roman" panose="02020603050405020304" charset="0"/>
            </a:endParaRPr>
          </a:p>
        </p:txBody>
      </p:sp>
      <p:sp>
        <p:nvSpPr>
          <p:cNvPr id="11" name="Text 9"/>
          <p:cNvSpPr/>
          <p:nvPr/>
        </p:nvSpPr>
        <p:spPr>
          <a:xfrm>
            <a:off x="1051560" y="1636776"/>
            <a:ext cx="3474720" cy="658368"/>
          </a:xfrm>
          <a:prstGeom prst="rect">
            <a:avLst/>
          </a:prstGeom>
          <a:noFill/>
        </p:spPr>
        <p:txBody>
          <a:bodyPr wrap="square" rtlCol="0" anchor="ctr"/>
          <a:lstStyle/>
          <a:p>
            <a:pPr marL="0" indent="0">
              <a:buNone/>
            </a:pPr>
            <a:r>
              <a:rPr lang="en-US" sz="1200" dirty="0">
                <a:solidFill>
                  <a:srgbClr val="1A2B3C"/>
                </a:solidFill>
                <a:latin typeface="Times New Roman" panose="02020603050405020304" charset="0"/>
                <a:cs typeface="Times New Roman" panose="02020603050405020304" charset="0"/>
              </a:rPr>
              <a:t>Data Collection via yfinance API</a:t>
            </a:r>
            <a:endParaRPr lang="en-US" sz="1200" dirty="0">
              <a:solidFill>
                <a:srgbClr val="1A2B3C"/>
              </a:solidFill>
              <a:latin typeface="Times New Roman" panose="02020603050405020304" charset="0"/>
              <a:cs typeface="Times New Roman" panose="02020603050405020304" charset="0"/>
            </a:endParaRPr>
          </a:p>
        </p:txBody>
      </p:sp>
      <p:sp>
        <p:nvSpPr>
          <p:cNvPr id="12" name="Shape 10"/>
          <p:cNvSpPr/>
          <p:nvPr/>
        </p:nvSpPr>
        <p:spPr>
          <a:xfrm>
            <a:off x="457200" y="2404872"/>
            <a:ext cx="4160520" cy="658368"/>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13" name="Shape 11"/>
          <p:cNvSpPr/>
          <p:nvPr/>
        </p:nvSpPr>
        <p:spPr>
          <a:xfrm>
            <a:off x="457200" y="2404872"/>
            <a:ext cx="502920" cy="658368"/>
          </a:xfrm>
          <a:prstGeom prst="rect">
            <a:avLst/>
          </a:prstGeom>
          <a:solidFill>
            <a:srgbClr val="0A7EA4"/>
          </a:solidFill>
          <a:ln w="12700">
            <a:solidFill>
              <a:srgbClr val="0A7EA4"/>
            </a:solidFill>
            <a:prstDash val="solid"/>
          </a:ln>
        </p:spPr>
      </p:sp>
      <p:sp>
        <p:nvSpPr>
          <p:cNvPr id="14" name="Text 12"/>
          <p:cNvSpPr/>
          <p:nvPr/>
        </p:nvSpPr>
        <p:spPr>
          <a:xfrm>
            <a:off x="457200" y="2404872"/>
            <a:ext cx="502920" cy="658368"/>
          </a:xfrm>
          <a:prstGeom prst="rect">
            <a:avLst/>
          </a:prstGeom>
          <a:noFill/>
        </p:spPr>
        <p:txBody>
          <a:bodyPr wrap="square" rtlCol="0" anchor="ctr"/>
          <a:lstStyle/>
          <a:p>
            <a:pPr marL="0" indent="0" algn="ctr">
              <a:buNone/>
            </a:pPr>
            <a:r>
              <a:rPr lang="en-US" sz="1400" b="1" dirty="0">
                <a:solidFill>
                  <a:srgbClr val="FFFFFF"/>
                </a:solidFill>
                <a:latin typeface="Times New Roman" panose="02020603050405020304" charset="0"/>
                <a:cs typeface="Times New Roman" panose="02020603050405020304" charset="0"/>
              </a:rPr>
              <a:t>03</a:t>
            </a:r>
            <a:endParaRPr lang="en-US" sz="1400" b="1" dirty="0">
              <a:solidFill>
                <a:srgbClr val="FFFFFF"/>
              </a:solidFill>
              <a:latin typeface="Times New Roman" panose="02020603050405020304" charset="0"/>
              <a:cs typeface="Times New Roman" panose="02020603050405020304" charset="0"/>
            </a:endParaRPr>
          </a:p>
        </p:txBody>
      </p:sp>
      <p:sp>
        <p:nvSpPr>
          <p:cNvPr id="15" name="Text 13"/>
          <p:cNvSpPr/>
          <p:nvPr/>
        </p:nvSpPr>
        <p:spPr>
          <a:xfrm>
            <a:off x="1051560" y="2404872"/>
            <a:ext cx="3474720" cy="658368"/>
          </a:xfrm>
          <a:prstGeom prst="rect">
            <a:avLst/>
          </a:prstGeom>
          <a:noFill/>
        </p:spPr>
        <p:txBody>
          <a:bodyPr wrap="square" rtlCol="0" anchor="ctr"/>
          <a:lstStyle/>
          <a:p>
            <a:pPr marL="0" indent="0">
              <a:buNone/>
            </a:pPr>
            <a:r>
              <a:rPr lang="en-US" sz="1200" dirty="0">
                <a:solidFill>
                  <a:srgbClr val="1A2B3C"/>
                </a:solidFill>
                <a:latin typeface="Times New Roman" panose="02020603050405020304" charset="0"/>
                <a:cs typeface="Times New Roman" panose="02020603050405020304" charset="0"/>
              </a:rPr>
              <a:t>Data Preprocessing</a:t>
            </a:r>
            <a:endParaRPr lang="en-US" sz="1200" dirty="0">
              <a:solidFill>
                <a:srgbClr val="1A2B3C"/>
              </a:solidFill>
              <a:latin typeface="Times New Roman" panose="02020603050405020304" charset="0"/>
              <a:cs typeface="Times New Roman" panose="02020603050405020304" charset="0"/>
            </a:endParaRPr>
          </a:p>
        </p:txBody>
      </p:sp>
      <p:sp>
        <p:nvSpPr>
          <p:cNvPr id="16" name="Shape 14"/>
          <p:cNvSpPr/>
          <p:nvPr/>
        </p:nvSpPr>
        <p:spPr>
          <a:xfrm>
            <a:off x="457200" y="3172968"/>
            <a:ext cx="4160520" cy="658368"/>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17" name="Shape 15"/>
          <p:cNvSpPr/>
          <p:nvPr/>
        </p:nvSpPr>
        <p:spPr>
          <a:xfrm>
            <a:off x="457200" y="3172968"/>
            <a:ext cx="502920" cy="658368"/>
          </a:xfrm>
          <a:prstGeom prst="rect">
            <a:avLst/>
          </a:prstGeom>
          <a:solidFill>
            <a:srgbClr val="0A7EA4"/>
          </a:solidFill>
          <a:ln w="12700">
            <a:solidFill>
              <a:srgbClr val="0A7EA4"/>
            </a:solidFill>
            <a:prstDash val="solid"/>
          </a:ln>
        </p:spPr>
      </p:sp>
      <p:sp>
        <p:nvSpPr>
          <p:cNvPr id="18" name="Text 16"/>
          <p:cNvSpPr/>
          <p:nvPr/>
        </p:nvSpPr>
        <p:spPr>
          <a:xfrm>
            <a:off x="457200" y="3172968"/>
            <a:ext cx="502920" cy="658368"/>
          </a:xfrm>
          <a:prstGeom prst="rect">
            <a:avLst/>
          </a:prstGeom>
          <a:noFill/>
        </p:spPr>
        <p:txBody>
          <a:bodyPr wrap="square" rtlCol="0" anchor="ctr"/>
          <a:lstStyle/>
          <a:p>
            <a:pPr marL="0" indent="0" algn="ctr">
              <a:buNone/>
            </a:pPr>
            <a:r>
              <a:rPr lang="en-US" sz="1400" b="1" dirty="0">
                <a:solidFill>
                  <a:srgbClr val="FFFFFF"/>
                </a:solidFill>
                <a:latin typeface="Times New Roman" panose="02020603050405020304" charset="0"/>
                <a:cs typeface="Times New Roman" panose="02020603050405020304" charset="0"/>
              </a:rPr>
              <a:t>04</a:t>
            </a:r>
            <a:endParaRPr lang="en-US" sz="1400" b="1" dirty="0">
              <a:solidFill>
                <a:srgbClr val="FFFFFF"/>
              </a:solidFill>
              <a:latin typeface="Times New Roman" panose="02020603050405020304" charset="0"/>
              <a:cs typeface="Times New Roman" panose="02020603050405020304" charset="0"/>
            </a:endParaRPr>
          </a:p>
        </p:txBody>
      </p:sp>
      <p:sp>
        <p:nvSpPr>
          <p:cNvPr id="19" name="Text 17"/>
          <p:cNvSpPr/>
          <p:nvPr/>
        </p:nvSpPr>
        <p:spPr>
          <a:xfrm>
            <a:off x="1051560" y="3172968"/>
            <a:ext cx="3474720" cy="658368"/>
          </a:xfrm>
          <a:prstGeom prst="rect">
            <a:avLst/>
          </a:prstGeom>
          <a:noFill/>
        </p:spPr>
        <p:txBody>
          <a:bodyPr wrap="square" rtlCol="0" anchor="ctr"/>
          <a:lstStyle/>
          <a:p>
            <a:pPr marL="0" indent="0">
              <a:buNone/>
            </a:pPr>
            <a:r>
              <a:rPr lang="en-US" sz="1200" dirty="0">
                <a:solidFill>
                  <a:srgbClr val="1A2B3C"/>
                </a:solidFill>
                <a:latin typeface="Times New Roman" panose="02020603050405020304" charset="0"/>
                <a:cs typeface="Times New Roman" panose="02020603050405020304" charset="0"/>
              </a:rPr>
              <a:t>Feature Engineering</a:t>
            </a:r>
            <a:endParaRPr lang="en-US" sz="1200" dirty="0">
              <a:solidFill>
                <a:srgbClr val="1A2B3C"/>
              </a:solidFill>
              <a:latin typeface="Times New Roman" panose="02020603050405020304" charset="0"/>
              <a:cs typeface="Times New Roman" panose="02020603050405020304" charset="0"/>
            </a:endParaRPr>
          </a:p>
        </p:txBody>
      </p:sp>
      <p:sp>
        <p:nvSpPr>
          <p:cNvPr id="20" name="Shape 18"/>
          <p:cNvSpPr/>
          <p:nvPr/>
        </p:nvSpPr>
        <p:spPr>
          <a:xfrm>
            <a:off x="457200" y="3941064"/>
            <a:ext cx="4160520" cy="658368"/>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21" name="Shape 19"/>
          <p:cNvSpPr/>
          <p:nvPr/>
        </p:nvSpPr>
        <p:spPr>
          <a:xfrm>
            <a:off x="457200" y="3941064"/>
            <a:ext cx="502920" cy="658368"/>
          </a:xfrm>
          <a:prstGeom prst="rect">
            <a:avLst/>
          </a:prstGeom>
          <a:solidFill>
            <a:srgbClr val="0A7EA4"/>
          </a:solidFill>
          <a:ln w="12700">
            <a:solidFill>
              <a:srgbClr val="0A7EA4"/>
            </a:solidFill>
            <a:prstDash val="solid"/>
          </a:ln>
        </p:spPr>
      </p:sp>
      <p:sp>
        <p:nvSpPr>
          <p:cNvPr id="22" name="Text 20"/>
          <p:cNvSpPr/>
          <p:nvPr/>
        </p:nvSpPr>
        <p:spPr>
          <a:xfrm>
            <a:off x="457200" y="3941064"/>
            <a:ext cx="502920" cy="658368"/>
          </a:xfrm>
          <a:prstGeom prst="rect">
            <a:avLst/>
          </a:prstGeom>
          <a:noFill/>
        </p:spPr>
        <p:txBody>
          <a:bodyPr wrap="square" rtlCol="0" anchor="ctr"/>
          <a:lstStyle/>
          <a:p>
            <a:pPr marL="0" indent="0" algn="ctr">
              <a:buNone/>
            </a:pPr>
            <a:r>
              <a:rPr lang="en-US" sz="1400" b="1" dirty="0">
                <a:solidFill>
                  <a:srgbClr val="FFFFFF"/>
                </a:solidFill>
                <a:latin typeface="Times New Roman" panose="02020603050405020304" charset="0"/>
                <a:cs typeface="Times New Roman" panose="02020603050405020304" charset="0"/>
              </a:rPr>
              <a:t>05</a:t>
            </a:r>
            <a:endParaRPr lang="en-US" sz="1400" b="1" dirty="0">
              <a:solidFill>
                <a:srgbClr val="FFFFFF"/>
              </a:solidFill>
              <a:latin typeface="Times New Roman" panose="02020603050405020304" charset="0"/>
              <a:cs typeface="Times New Roman" panose="02020603050405020304" charset="0"/>
            </a:endParaRPr>
          </a:p>
        </p:txBody>
      </p:sp>
      <p:sp>
        <p:nvSpPr>
          <p:cNvPr id="23" name="Text 21"/>
          <p:cNvSpPr/>
          <p:nvPr/>
        </p:nvSpPr>
        <p:spPr>
          <a:xfrm>
            <a:off x="1051560" y="3941064"/>
            <a:ext cx="3474720" cy="658368"/>
          </a:xfrm>
          <a:prstGeom prst="rect">
            <a:avLst/>
          </a:prstGeom>
          <a:noFill/>
        </p:spPr>
        <p:txBody>
          <a:bodyPr wrap="square" rtlCol="0" anchor="ctr"/>
          <a:lstStyle/>
          <a:p>
            <a:pPr marL="0" indent="0">
              <a:buNone/>
            </a:pPr>
            <a:r>
              <a:rPr lang="en-US" sz="1200" dirty="0">
                <a:solidFill>
                  <a:srgbClr val="1A2B3C"/>
                </a:solidFill>
                <a:latin typeface="Times New Roman" panose="02020603050405020304" charset="0"/>
                <a:cs typeface="Times New Roman" panose="02020603050405020304" charset="0"/>
              </a:rPr>
              <a:t>Exploratory Data Analysis (EDA)</a:t>
            </a:r>
            <a:endParaRPr lang="en-US" sz="1200" dirty="0">
              <a:solidFill>
                <a:srgbClr val="1A2B3C"/>
              </a:solidFill>
              <a:latin typeface="Times New Roman" panose="02020603050405020304" charset="0"/>
              <a:cs typeface="Times New Roman" panose="02020603050405020304" charset="0"/>
            </a:endParaRPr>
          </a:p>
        </p:txBody>
      </p:sp>
      <p:sp>
        <p:nvSpPr>
          <p:cNvPr id="24" name="Shape 22"/>
          <p:cNvSpPr/>
          <p:nvPr/>
        </p:nvSpPr>
        <p:spPr>
          <a:xfrm>
            <a:off x="4846320" y="868680"/>
            <a:ext cx="4160520" cy="658368"/>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25" name="Shape 23"/>
          <p:cNvSpPr/>
          <p:nvPr/>
        </p:nvSpPr>
        <p:spPr>
          <a:xfrm>
            <a:off x="4846320" y="868680"/>
            <a:ext cx="502920" cy="658368"/>
          </a:xfrm>
          <a:prstGeom prst="rect">
            <a:avLst/>
          </a:prstGeom>
          <a:solidFill>
            <a:srgbClr val="0A7EA4"/>
          </a:solidFill>
          <a:ln w="12700">
            <a:solidFill>
              <a:srgbClr val="0A7EA4"/>
            </a:solidFill>
            <a:prstDash val="solid"/>
          </a:ln>
        </p:spPr>
      </p:sp>
      <p:sp>
        <p:nvSpPr>
          <p:cNvPr id="26" name="Text 24"/>
          <p:cNvSpPr/>
          <p:nvPr/>
        </p:nvSpPr>
        <p:spPr>
          <a:xfrm>
            <a:off x="4846320" y="868680"/>
            <a:ext cx="502920" cy="658368"/>
          </a:xfrm>
          <a:prstGeom prst="rect">
            <a:avLst/>
          </a:prstGeom>
          <a:noFill/>
        </p:spPr>
        <p:txBody>
          <a:bodyPr wrap="square" rtlCol="0" anchor="ctr"/>
          <a:lstStyle/>
          <a:p>
            <a:pPr marL="0" indent="0" algn="ctr">
              <a:buNone/>
            </a:pPr>
            <a:r>
              <a:rPr lang="en-US" sz="1400" b="1" dirty="0">
                <a:solidFill>
                  <a:srgbClr val="FFFFFF"/>
                </a:solidFill>
                <a:latin typeface="Times New Roman" panose="02020603050405020304" charset="0"/>
                <a:cs typeface="Times New Roman" panose="02020603050405020304" charset="0"/>
              </a:rPr>
              <a:t>06</a:t>
            </a:r>
            <a:endParaRPr lang="en-US" sz="1400" b="1" dirty="0">
              <a:solidFill>
                <a:srgbClr val="FFFFFF"/>
              </a:solidFill>
              <a:latin typeface="Times New Roman" panose="02020603050405020304" charset="0"/>
              <a:cs typeface="Times New Roman" panose="02020603050405020304" charset="0"/>
            </a:endParaRPr>
          </a:p>
        </p:txBody>
      </p:sp>
      <p:sp>
        <p:nvSpPr>
          <p:cNvPr id="27" name="Text 25"/>
          <p:cNvSpPr/>
          <p:nvPr/>
        </p:nvSpPr>
        <p:spPr>
          <a:xfrm>
            <a:off x="5440680" y="868680"/>
            <a:ext cx="3474720" cy="658368"/>
          </a:xfrm>
          <a:prstGeom prst="rect">
            <a:avLst/>
          </a:prstGeom>
          <a:noFill/>
        </p:spPr>
        <p:txBody>
          <a:bodyPr wrap="square" rtlCol="0" anchor="ctr"/>
          <a:lstStyle/>
          <a:p>
            <a:pPr marL="0" indent="0">
              <a:buNone/>
            </a:pPr>
            <a:r>
              <a:rPr lang="en-US" sz="1200" dirty="0">
                <a:solidFill>
                  <a:srgbClr val="1A2B3C"/>
                </a:solidFill>
                <a:latin typeface="Times New Roman" panose="02020603050405020304" charset="0"/>
                <a:cs typeface="Times New Roman" panose="02020603050405020304" charset="0"/>
              </a:rPr>
              <a:t>Data Visualization</a:t>
            </a:r>
            <a:endParaRPr lang="en-US" sz="1200" dirty="0">
              <a:solidFill>
                <a:srgbClr val="1A2B3C"/>
              </a:solidFill>
              <a:latin typeface="Times New Roman" panose="02020603050405020304" charset="0"/>
              <a:cs typeface="Times New Roman" panose="02020603050405020304" charset="0"/>
            </a:endParaRPr>
          </a:p>
        </p:txBody>
      </p:sp>
      <p:sp>
        <p:nvSpPr>
          <p:cNvPr id="28" name="Shape 26"/>
          <p:cNvSpPr/>
          <p:nvPr/>
        </p:nvSpPr>
        <p:spPr>
          <a:xfrm>
            <a:off x="4846320" y="1636776"/>
            <a:ext cx="4160520" cy="658368"/>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29" name="Shape 27"/>
          <p:cNvSpPr/>
          <p:nvPr/>
        </p:nvSpPr>
        <p:spPr>
          <a:xfrm>
            <a:off x="4846320" y="1636776"/>
            <a:ext cx="502920" cy="658368"/>
          </a:xfrm>
          <a:prstGeom prst="rect">
            <a:avLst/>
          </a:prstGeom>
          <a:solidFill>
            <a:srgbClr val="0A7EA4"/>
          </a:solidFill>
          <a:ln w="12700">
            <a:solidFill>
              <a:srgbClr val="0A7EA4"/>
            </a:solidFill>
            <a:prstDash val="solid"/>
          </a:ln>
        </p:spPr>
      </p:sp>
      <p:sp>
        <p:nvSpPr>
          <p:cNvPr id="30" name="Text 28"/>
          <p:cNvSpPr/>
          <p:nvPr/>
        </p:nvSpPr>
        <p:spPr>
          <a:xfrm>
            <a:off x="4846320" y="1636776"/>
            <a:ext cx="502920" cy="658368"/>
          </a:xfrm>
          <a:prstGeom prst="rect">
            <a:avLst/>
          </a:prstGeom>
          <a:noFill/>
        </p:spPr>
        <p:txBody>
          <a:bodyPr wrap="square" rtlCol="0" anchor="ctr"/>
          <a:lstStyle/>
          <a:p>
            <a:pPr marL="0" indent="0" algn="ctr">
              <a:buNone/>
            </a:pPr>
            <a:r>
              <a:rPr lang="en-US" sz="1400" b="1" dirty="0">
                <a:solidFill>
                  <a:srgbClr val="FFFFFF"/>
                </a:solidFill>
                <a:latin typeface="Times New Roman" panose="02020603050405020304" charset="0"/>
                <a:cs typeface="Times New Roman" panose="02020603050405020304" charset="0"/>
              </a:rPr>
              <a:t>07</a:t>
            </a:r>
            <a:endParaRPr lang="en-US" sz="1400" b="1" dirty="0">
              <a:solidFill>
                <a:srgbClr val="FFFFFF"/>
              </a:solidFill>
              <a:latin typeface="Times New Roman" panose="02020603050405020304" charset="0"/>
              <a:cs typeface="Times New Roman" panose="02020603050405020304" charset="0"/>
            </a:endParaRPr>
          </a:p>
        </p:txBody>
      </p:sp>
      <p:sp>
        <p:nvSpPr>
          <p:cNvPr id="31" name="Text 29"/>
          <p:cNvSpPr/>
          <p:nvPr/>
        </p:nvSpPr>
        <p:spPr>
          <a:xfrm>
            <a:off x="5440680" y="1636776"/>
            <a:ext cx="3474720" cy="658368"/>
          </a:xfrm>
          <a:prstGeom prst="rect">
            <a:avLst/>
          </a:prstGeom>
          <a:noFill/>
        </p:spPr>
        <p:txBody>
          <a:bodyPr wrap="square" rtlCol="0" anchor="ctr"/>
          <a:lstStyle/>
          <a:p>
            <a:pPr marL="0" indent="0">
              <a:buNone/>
            </a:pPr>
            <a:r>
              <a:rPr lang="en-US" sz="1200" dirty="0">
                <a:solidFill>
                  <a:srgbClr val="1A2B3C"/>
                </a:solidFill>
                <a:latin typeface="Times New Roman" panose="02020603050405020304" charset="0"/>
                <a:cs typeface="Times New Roman" panose="02020603050405020304" charset="0"/>
              </a:rPr>
              <a:t>LSTM Model Architecture</a:t>
            </a:r>
            <a:endParaRPr lang="en-US" sz="1200" dirty="0">
              <a:solidFill>
                <a:srgbClr val="1A2B3C"/>
              </a:solidFill>
              <a:latin typeface="Times New Roman" panose="02020603050405020304" charset="0"/>
              <a:cs typeface="Times New Roman" panose="02020603050405020304" charset="0"/>
            </a:endParaRPr>
          </a:p>
        </p:txBody>
      </p:sp>
      <p:sp>
        <p:nvSpPr>
          <p:cNvPr id="32" name="Shape 30"/>
          <p:cNvSpPr/>
          <p:nvPr/>
        </p:nvSpPr>
        <p:spPr>
          <a:xfrm>
            <a:off x="4846320" y="2404872"/>
            <a:ext cx="4160520" cy="658368"/>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33" name="Shape 31"/>
          <p:cNvSpPr/>
          <p:nvPr/>
        </p:nvSpPr>
        <p:spPr>
          <a:xfrm>
            <a:off x="4846320" y="2404872"/>
            <a:ext cx="502920" cy="658368"/>
          </a:xfrm>
          <a:prstGeom prst="rect">
            <a:avLst/>
          </a:prstGeom>
          <a:solidFill>
            <a:srgbClr val="0A7EA4"/>
          </a:solidFill>
          <a:ln w="12700">
            <a:solidFill>
              <a:srgbClr val="0A7EA4"/>
            </a:solidFill>
            <a:prstDash val="solid"/>
          </a:ln>
        </p:spPr>
      </p:sp>
      <p:sp>
        <p:nvSpPr>
          <p:cNvPr id="34" name="Text 32"/>
          <p:cNvSpPr/>
          <p:nvPr/>
        </p:nvSpPr>
        <p:spPr>
          <a:xfrm>
            <a:off x="4846320" y="2404872"/>
            <a:ext cx="502920" cy="658368"/>
          </a:xfrm>
          <a:prstGeom prst="rect">
            <a:avLst/>
          </a:prstGeom>
          <a:noFill/>
        </p:spPr>
        <p:txBody>
          <a:bodyPr wrap="square" rtlCol="0" anchor="ctr"/>
          <a:lstStyle/>
          <a:p>
            <a:pPr marL="0" indent="0" algn="ctr">
              <a:buNone/>
            </a:pPr>
            <a:r>
              <a:rPr lang="en-US" sz="1400" b="1" dirty="0">
                <a:solidFill>
                  <a:srgbClr val="FFFFFF"/>
                </a:solidFill>
                <a:latin typeface="Times New Roman" panose="02020603050405020304" charset="0"/>
                <a:cs typeface="Times New Roman" panose="02020603050405020304" charset="0"/>
              </a:rPr>
              <a:t>08</a:t>
            </a:r>
            <a:endParaRPr lang="en-US" sz="1400" b="1" dirty="0">
              <a:solidFill>
                <a:srgbClr val="FFFFFF"/>
              </a:solidFill>
              <a:latin typeface="Times New Roman" panose="02020603050405020304" charset="0"/>
              <a:cs typeface="Times New Roman" panose="02020603050405020304" charset="0"/>
            </a:endParaRPr>
          </a:p>
        </p:txBody>
      </p:sp>
      <p:sp>
        <p:nvSpPr>
          <p:cNvPr id="35" name="Text 33"/>
          <p:cNvSpPr/>
          <p:nvPr/>
        </p:nvSpPr>
        <p:spPr>
          <a:xfrm>
            <a:off x="5440680" y="2404872"/>
            <a:ext cx="3474720" cy="658368"/>
          </a:xfrm>
          <a:prstGeom prst="rect">
            <a:avLst/>
          </a:prstGeom>
          <a:noFill/>
        </p:spPr>
        <p:txBody>
          <a:bodyPr wrap="square" rtlCol="0" anchor="ctr"/>
          <a:lstStyle/>
          <a:p>
            <a:pPr marL="0" indent="0">
              <a:buNone/>
            </a:pPr>
            <a:r>
              <a:rPr lang="en-US" sz="1200" dirty="0">
                <a:solidFill>
                  <a:srgbClr val="1A2B3C"/>
                </a:solidFill>
                <a:latin typeface="Times New Roman" panose="02020603050405020304" charset="0"/>
                <a:cs typeface="Times New Roman" panose="02020603050405020304" charset="0"/>
              </a:rPr>
              <a:t>Model Training &amp; Evaluation</a:t>
            </a:r>
            <a:endParaRPr lang="en-US" sz="1200" dirty="0">
              <a:solidFill>
                <a:srgbClr val="1A2B3C"/>
              </a:solidFill>
              <a:latin typeface="Times New Roman" panose="02020603050405020304" charset="0"/>
              <a:cs typeface="Times New Roman" panose="02020603050405020304" charset="0"/>
            </a:endParaRPr>
          </a:p>
        </p:txBody>
      </p:sp>
      <p:sp>
        <p:nvSpPr>
          <p:cNvPr id="36" name="Shape 34"/>
          <p:cNvSpPr/>
          <p:nvPr/>
        </p:nvSpPr>
        <p:spPr>
          <a:xfrm>
            <a:off x="4846320" y="3172968"/>
            <a:ext cx="4160520" cy="658368"/>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37" name="Shape 35"/>
          <p:cNvSpPr/>
          <p:nvPr/>
        </p:nvSpPr>
        <p:spPr>
          <a:xfrm>
            <a:off x="4846320" y="3172968"/>
            <a:ext cx="502920" cy="658368"/>
          </a:xfrm>
          <a:prstGeom prst="rect">
            <a:avLst/>
          </a:prstGeom>
          <a:solidFill>
            <a:srgbClr val="0A7EA4"/>
          </a:solidFill>
          <a:ln w="12700">
            <a:solidFill>
              <a:srgbClr val="0A7EA4"/>
            </a:solidFill>
            <a:prstDash val="solid"/>
          </a:ln>
        </p:spPr>
      </p:sp>
      <p:sp>
        <p:nvSpPr>
          <p:cNvPr id="38" name="Text 36"/>
          <p:cNvSpPr/>
          <p:nvPr/>
        </p:nvSpPr>
        <p:spPr>
          <a:xfrm>
            <a:off x="4846320" y="3172968"/>
            <a:ext cx="502920" cy="658368"/>
          </a:xfrm>
          <a:prstGeom prst="rect">
            <a:avLst/>
          </a:prstGeom>
          <a:noFill/>
        </p:spPr>
        <p:txBody>
          <a:bodyPr wrap="square" rtlCol="0" anchor="ctr"/>
          <a:lstStyle/>
          <a:p>
            <a:pPr marL="0" indent="0" algn="ctr">
              <a:buNone/>
            </a:pPr>
            <a:r>
              <a:rPr lang="en-US" sz="1400" b="1" dirty="0">
                <a:solidFill>
                  <a:srgbClr val="FFFFFF"/>
                </a:solidFill>
                <a:latin typeface="Times New Roman" panose="02020603050405020304" charset="0"/>
                <a:cs typeface="Times New Roman" panose="02020603050405020304" charset="0"/>
              </a:rPr>
              <a:t>09</a:t>
            </a:r>
            <a:endParaRPr lang="en-US" sz="1400" b="1" dirty="0">
              <a:solidFill>
                <a:srgbClr val="FFFFFF"/>
              </a:solidFill>
              <a:latin typeface="Times New Roman" panose="02020603050405020304" charset="0"/>
              <a:cs typeface="Times New Roman" panose="02020603050405020304" charset="0"/>
            </a:endParaRPr>
          </a:p>
        </p:txBody>
      </p:sp>
      <p:sp>
        <p:nvSpPr>
          <p:cNvPr id="39" name="Text 37"/>
          <p:cNvSpPr/>
          <p:nvPr/>
        </p:nvSpPr>
        <p:spPr>
          <a:xfrm>
            <a:off x="5440680" y="3172968"/>
            <a:ext cx="3474720" cy="658368"/>
          </a:xfrm>
          <a:prstGeom prst="rect">
            <a:avLst/>
          </a:prstGeom>
          <a:noFill/>
        </p:spPr>
        <p:txBody>
          <a:bodyPr wrap="square" rtlCol="0" anchor="ctr"/>
          <a:lstStyle/>
          <a:p>
            <a:pPr marL="0" indent="0">
              <a:buNone/>
            </a:pPr>
            <a:r>
              <a:rPr lang="en-US" sz="1200" dirty="0">
                <a:solidFill>
                  <a:srgbClr val="1A2B3C"/>
                </a:solidFill>
                <a:latin typeface="Times New Roman" panose="02020603050405020304" charset="0"/>
                <a:cs typeface="Times New Roman" panose="02020603050405020304" charset="0"/>
              </a:rPr>
              <a:t>Results &amp; Key Insights</a:t>
            </a:r>
            <a:endParaRPr lang="en-US" sz="1200" dirty="0">
              <a:solidFill>
                <a:srgbClr val="1A2B3C"/>
              </a:solidFill>
              <a:latin typeface="Times New Roman" panose="02020603050405020304" charset="0"/>
              <a:cs typeface="Times New Roman" panose="02020603050405020304" charset="0"/>
            </a:endParaRPr>
          </a:p>
        </p:txBody>
      </p:sp>
      <p:sp>
        <p:nvSpPr>
          <p:cNvPr id="40" name="Shape 38"/>
          <p:cNvSpPr/>
          <p:nvPr/>
        </p:nvSpPr>
        <p:spPr>
          <a:xfrm>
            <a:off x="4846320" y="3941064"/>
            <a:ext cx="4160520" cy="658368"/>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41" name="Shape 39"/>
          <p:cNvSpPr/>
          <p:nvPr/>
        </p:nvSpPr>
        <p:spPr>
          <a:xfrm>
            <a:off x="4846320" y="3941064"/>
            <a:ext cx="502920" cy="658368"/>
          </a:xfrm>
          <a:prstGeom prst="rect">
            <a:avLst/>
          </a:prstGeom>
          <a:solidFill>
            <a:srgbClr val="0A7EA4"/>
          </a:solidFill>
          <a:ln w="12700">
            <a:solidFill>
              <a:srgbClr val="0A7EA4"/>
            </a:solidFill>
            <a:prstDash val="solid"/>
          </a:ln>
        </p:spPr>
      </p:sp>
      <p:sp>
        <p:nvSpPr>
          <p:cNvPr id="42" name="Text 40"/>
          <p:cNvSpPr/>
          <p:nvPr/>
        </p:nvSpPr>
        <p:spPr>
          <a:xfrm>
            <a:off x="4846320" y="3941064"/>
            <a:ext cx="502920" cy="658368"/>
          </a:xfrm>
          <a:prstGeom prst="rect">
            <a:avLst/>
          </a:prstGeom>
          <a:noFill/>
        </p:spPr>
        <p:txBody>
          <a:bodyPr wrap="square" rtlCol="0" anchor="ctr"/>
          <a:lstStyle/>
          <a:p>
            <a:pPr marL="0" indent="0" algn="ctr">
              <a:buNone/>
            </a:pPr>
            <a:r>
              <a:rPr lang="en-US" sz="1400" b="1" dirty="0">
                <a:solidFill>
                  <a:srgbClr val="FFFFFF"/>
                </a:solidFill>
                <a:latin typeface="Times New Roman" panose="02020603050405020304" charset="0"/>
                <a:cs typeface="Times New Roman" panose="02020603050405020304" charset="0"/>
              </a:rPr>
              <a:t>10</a:t>
            </a:r>
            <a:endParaRPr lang="en-US" sz="1400" b="1" dirty="0">
              <a:solidFill>
                <a:srgbClr val="FFFFFF"/>
              </a:solidFill>
              <a:latin typeface="Times New Roman" panose="02020603050405020304" charset="0"/>
              <a:cs typeface="Times New Roman" panose="02020603050405020304" charset="0"/>
            </a:endParaRPr>
          </a:p>
        </p:txBody>
      </p:sp>
      <p:sp>
        <p:nvSpPr>
          <p:cNvPr id="43" name="Text 41"/>
          <p:cNvSpPr/>
          <p:nvPr/>
        </p:nvSpPr>
        <p:spPr>
          <a:xfrm>
            <a:off x="5440680" y="3941064"/>
            <a:ext cx="3474720" cy="658368"/>
          </a:xfrm>
          <a:prstGeom prst="rect">
            <a:avLst/>
          </a:prstGeom>
          <a:noFill/>
        </p:spPr>
        <p:txBody>
          <a:bodyPr wrap="square" rtlCol="0" anchor="ctr"/>
          <a:lstStyle/>
          <a:p>
            <a:pPr marL="0" indent="0">
              <a:buNone/>
            </a:pPr>
            <a:r>
              <a:rPr lang="en-US" sz="1200" dirty="0">
                <a:solidFill>
                  <a:srgbClr val="1A2B3C"/>
                </a:solidFill>
                <a:latin typeface="Times New Roman" panose="02020603050405020304" charset="0"/>
                <a:cs typeface="Times New Roman" panose="02020603050405020304" charset="0"/>
              </a:rPr>
              <a:t>Conclusion &amp; Future Scope</a:t>
            </a:r>
            <a:endParaRPr lang="en-US" sz="1200" dirty="0">
              <a:solidFill>
                <a:srgbClr val="1A2B3C"/>
              </a:solidFill>
              <a:latin typeface="Times New Roman" panose="02020603050405020304" charset="0"/>
              <a:cs typeface="Times New Roman" panose="02020603050405020304" charset="0"/>
            </a:endParaRPr>
          </a:p>
        </p:txBody>
      </p:sp>
      <p:sp>
        <p:nvSpPr>
          <p:cNvPr id="44" name="Text 42"/>
          <p:cNvSpPr/>
          <p:nvPr/>
        </p:nvSpPr>
        <p:spPr>
          <a:xfrm>
            <a:off x="8046720" y="4800600"/>
            <a:ext cx="914400" cy="228600"/>
          </a:xfrm>
          <a:prstGeom prst="rect">
            <a:avLst/>
          </a:prstGeom>
          <a:noFill/>
        </p:spPr>
        <p:txBody>
          <a:bodyPr wrap="square" rtlCol="0" anchor="ctr"/>
          <a:lstStyle/>
          <a:p>
            <a:pPr marL="0" indent="0" algn="r">
              <a:buNone/>
            </a:pPr>
            <a:r>
              <a:rPr lang="en-US" sz="900" dirty="0">
                <a:solidFill>
                  <a:srgbClr val="5A7490"/>
                </a:solidFill>
                <a:latin typeface="Times New Roman" panose="02020603050405020304" charset="0"/>
                <a:cs typeface="Times New Roman" panose="02020603050405020304" charset="0"/>
              </a:rPr>
              <a:t>2 / 19</a:t>
            </a:r>
            <a:endParaRPr lang="en-US" sz="900" dirty="0">
              <a:solidFill>
                <a:srgbClr val="5A7490"/>
              </a:solidFill>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73152" cy="384048"/>
          </a:xfrm>
          <a:prstGeom prst="rect">
            <a:avLst/>
          </a:prstGeom>
          <a:solidFill>
            <a:srgbClr val="0A7EA4"/>
          </a:solidFill>
          <a:ln w="12700">
            <a:solidFill>
              <a:srgbClr val="0A7EA4"/>
            </a:solidFill>
            <a:prstDash val="solid"/>
          </a:ln>
        </p:spPr>
      </p:sp>
      <p:sp>
        <p:nvSpPr>
          <p:cNvPr id="3" name="Text 1"/>
          <p:cNvSpPr/>
          <p:nvPr/>
        </p:nvSpPr>
        <p:spPr>
          <a:xfrm>
            <a:off x="621792" y="182880"/>
            <a:ext cx="7772400" cy="502920"/>
          </a:xfrm>
          <a:prstGeom prst="rect">
            <a:avLst/>
          </a:prstGeom>
          <a:noFill/>
        </p:spPr>
        <p:txBody>
          <a:bodyPr wrap="square" lIns="0" tIns="0" rIns="0" bIns="0" rtlCol="0" anchor="ctr"/>
          <a:lstStyle/>
          <a:p>
            <a:pPr marL="0" indent="0">
              <a:buNone/>
            </a:pPr>
            <a:r>
              <a:rPr lang="en-US" sz="2200" b="1" dirty="0">
                <a:solidFill>
                  <a:srgbClr val="1A2B3C"/>
                </a:solidFill>
                <a:latin typeface="Times New Roman" panose="02020603050405020304" charset="0"/>
                <a:ea typeface="Calibri" panose="020F0502020204030204" pitchFamily="34" charset="-122"/>
                <a:cs typeface="Times New Roman" panose="02020603050405020304" charset="0"/>
              </a:rPr>
              <a:t>Introduction — What is Data Analytics?</a:t>
            </a:r>
            <a:endParaRPr lang="en-US" sz="2200" b="1" dirty="0">
              <a:solidFill>
                <a:srgbClr val="1A2B3C"/>
              </a:solidFill>
              <a:latin typeface="Times New Roman" panose="02020603050405020304" charset="0"/>
              <a:ea typeface="Calibri" panose="020F0502020204030204" pitchFamily="34" charset="-122"/>
              <a:cs typeface="Times New Roman" panose="02020603050405020304" charset="0"/>
            </a:endParaRPr>
          </a:p>
        </p:txBody>
      </p:sp>
      <p:sp>
        <p:nvSpPr>
          <p:cNvPr id="4" name="Shape 2"/>
          <p:cNvSpPr/>
          <p:nvPr/>
        </p:nvSpPr>
        <p:spPr>
          <a:xfrm>
            <a:off x="457200" y="822960"/>
            <a:ext cx="8229600" cy="1234440"/>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5" name="Text 3"/>
          <p:cNvSpPr/>
          <p:nvPr/>
        </p:nvSpPr>
        <p:spPr>
          <a:xfrm>
            <a:off x="640080" y="868680"/>
            <a:ext cx="7863840" cy="1143000"/>
          </a:xfrm>
          <a:prstGeom prst="rect">
            <a:avLst/>
          </a:prstGeom>
          <a:noFill/>
        </p:spPr>
        <p:txBody>
          <a:bodyPr wrap="square" rtlCol="0" anchor="ctr"/>
          <a:lstStyle/>
          <a:p>
            <a:pPr marL="0" indent="0">
              <a:buNone/>
            </a:pPr>
            <a:r>
              <a:rPr lang="en-US" sz="1300" dirty="0">
                <a:solidFill>
                  <a:srgbClr val="1A2B3C"/>
                </a:solidFill>
                <a:latin typeface="Times New Roman" panose="02020603050405020304" charset="0"/>
                <a:ea typeface="Calibri" panose="020F0502020204030204" pitchFamily="34" charset="-122"/>
                <a:cs typeface="Times New Roman" panose="02020603050405020304" charset="0"/>
              </a:rPr>
              <a:t>Data analytics is the systematic process of inspecting, cleansing, transforming, and modelling data to discover useful information and support decision-making. In finance, it ranges from basic descriptive statistics to advanced ML models that uncover non-linear market patterns.</a:t>
            </a:r>
            <a:endParaRPr lang="en-US" sz="1300" dirty="0">
              <a:solidFill>
                <a:srgbClr val="1A2B3C"/>
              </a:solidFill>
              <a:latin typeface="Times New Roman" panose="02020603050405020304" charset="0"/>
              <a:ea typeface="Calibri" panose="020F0502020204030204" pitchFamily="34" charset="-122"/>
              <a:cs typeface="Times New Roman" panose="02020603050405020304" charset="0"/>
            </a:endParaRPr>
          </a:p>
        </p:txBody>
      </p:sp>
      <p:sp>
        <p:nvSpPr>
          <p:cNvPr id="6" name="Shape 4"/>
          <p:cNvSpPr/>
          <p:nvPr/>
        </p:nvSpPr>
        <p:spPr>
          <a:xfrm>
            <a:off x="457200" y="2240280"/>
            <a:ext cx="1554480" cy="1005840"/>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7" name="Shape 5"/>
          <p:cNvSpPr/>
          <p:nvPr/>
        </p:nvSpPr>
        <p:spPr>
          <a:xfrm>
            <a:off x="457200" y="2240280"/>
            <a:ext cx="1554480" cy="256032"/>
          </a:xfrm>
          <a:prstGeom prst="rect">
            <a:avLst/>
          </a:prstGeom>
          <a:solidFill>
            <a:srgbClr val="0A7EA4"/>
          </a:solidFill>
          <a:ln w="12700">
            <a:solidFill>
              <a:srgbClr val="0A7EA4"/>
            </a:solidFill>
            <a:prstDash val="solid"/>
          </a:ln>
        </p:spPr>
      </p:sp>
      <p:sp>
        <p:nvSpPr>
          <p:cNvPr id="8" name="Text 6"/>
          <p:cNvSpPr/>
          <p:nvPr/>
        </p:nvSpPr>
        <p:spPr>
          <a:xfrm>
            <a:off x="457200" y="2240280"/>
            <a:ext cx="1554480" cy="256032"/>
          </a:xfrm>
          <a:prstGeom prst="rect">
            <a:avLst/>
          </a:prstGeom>
          <a:noFill/>
        </p:spPr>
        <p:txBody>
          <a:bodyPr wrap="square" rtlCol="0" anchor="ctr"/>
          <a:lstStyle/>
          <a:p>
            <a:pPr marL="0" indent="0" algn="ctr">
              <a:buNone/>
            </a:pPr>
            <a:r>
              <a:rPr lang="en-US" sz="900" b="1" dirty="0">
                <a:solidFill>
                  <a:srgbClr val="FFFFFF"/>
                </a:solidFill>
                <a:latin typeface="Times New Roman" panose="02020603050405020304" charset="0"/>
                <a:cs typeface="Times New Roman" panose="02020603050405020304" charset="0"/>
              </a:rPr>
              <a:t>Pandas</a:t>
            </a:r>
            <a:endParaRPr lang="en-US" sz="900" b="1" dirty="0">
              <a:solidFill>
                <a:srgbClr val="FFFFFF"/>
              </a:solidFill>
              <a:latin typeface="Times New Roman" panose="02020603050405020304" charset="0"/>
              <a:cs typeface="Times New Roman" panose="02020603050405020304" charset="0"/>
            </a:endParaRPr>
          </a:p>
        </p:txBody>
      </p:sp>
      <p:sp>
        <p:nvSpPr>
          <p:cNvPr id="9" name="Text 7"/>
          <p:cNvSpPr/>
          <p:nvPr/>
        </p:nvSpPr>
        <p:spPr>
          <a:xfrm>
            <a:off x="502920" y="2514600"/>
            <a:ext cx="1463040" cy="685800"/>
          </a:xfrm>
          <a:prstGeom prst="rect">
            <a:avLst/>
          </a:prstGeom>
          <a:noFill/>
        </p:spPr>
        <p:txBody>
          <a:bodyPr wrap="square" rtlCol="0" anchor="ctr"/>
          <a:lstStyle/>
          <a:p>
            <a:pPr marL="0" indent="0" algn="ctr">
              <a:buNone/>
            </a:pPr>
            <a:r>
              <a:rPr lang="en-US" sz="1100" dirty="0">
                <a:solidFill>
                  <a:srgbClr val="1A2B3C"/>
                </a:solidFill>
                <a:latin typeface="Times New Roman" panose="02020603050405020304" charset="0"/>
                <a:cs typeface="Times New Roman" panose="02020603050405020304" charset="0"/>
              </a:rPr>
              <a:t>Data manipulation</a:t>
            </a:r>
            <a:endParaRPr lang="en-US" sz="1100" dirty="0">
              <a:solidFill>
                <a:srgbClr val="1A2B3C"/>
              </a:solidFill>
              <a:latin typeface="Times New Roman" panose="02020603050405020304" charset="0"/>
              <a:cs typeface="Times New Roman" panose="02020603050405020304" charset="0"/>
            </a:endParaRPr>
          </a:p>
        </p:txBody>
      </p:sp>
      <p:sp>
        <p:nvSpPr>
          <p:cNvPr id="10" name="Shape 8"/>
          <p:cNvSpPr/>
          <p:nvPr/>
        </p:nvSpPr>
        <p:spPr>
          <a:xfrm>
            <a:off x="2139696" y="2240280"/>
            <a:ext cx="1554480" cy="1005840"/>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11" name="Shape 9"/>
          <p:cNvSpPr/>
          <p:nvPr/>
        </p:nvSpPr>
        <p:spPr>
          <a:xfrm>
            <a:off x="2139696" y="2240280"/>
            <a:ext cx="1554480" cy="256032"/>
          </a:xfrm>
          <a:prstGeom prst="rect">
            <a:avLst/>
          </a:prstGeom>
          <a:solidFill>
            <a:srgbClr val="0A7EA4"/>
          </a:solidFill>
          <a:ln w="12700">
            <a:solidFill>
              <a:srgbClr val="0A7EA4"/>
            </a:solidFill>
            <a:prstDash val="solid"/>
          </a:ln>
        </p:spPr>
      </p:sp>
      <p:sp>
        <p:nvSpPr>
          <p:cNvPr id="12" name="Text 10"/>
          <p:cNvSpPr/>
          <p:nvPr/>
        </p:nvSpPr>
        <p:spPr>
          <a:xfrm>
            <a:off x="2139696" y="2240280"/>
            <a:ext cx="1554480" cy="256032"/>
          </a:xfrm>
          <a:prstGeom prst="rect">
            <a:avLst/>
          </a:prstGeom>
          <a:noFill/>
        </p:spPr>
        <p:txBody>
          <a:bodyPr wrap="square" rtlCol="0" anchor="ctr"/>
          <a:lstStyle/>
          <a:p>
            <a:pPr marL="0" indent="0" algn="ctr">
              <a:buNone/>
            </a:pPr>
            <a:r>
              <a:rPr lang="en-US" sz="900" b="1" dirty="0">
                <a:solidFill>
                  <a:srgbClr val="FFFFFF"/>
                </a:solidFill>
                <a:latin typeface="Times New Roman" panose="02020603050405020304" charset="0"/>
                <a:cs typeface="Times New Roman" panose="02020603050405020304" charset="0"/>
              </a:rPr>
              <a:t>NumPy</a:t>
            </a:r>
            <a:endParaRPr lang="en-US" sz="900" b="1" dirty="0">
              <a:solidFill>
                <a:srgbClr val="FFFFFF"/>
              </a:solidFill>
              <a:latin typeface="Times New Roman" panose="02020603050405020304" charset="0"/>
              <a:cs typeface="Times New Roman" panose="02020603050405020304" charset="0"/>
            </a:endParaRPr>
          </a:p>
        </p:txBody>
      </p:sp>
      <p:sp>
        <p:nvSpPr>
          <p:cNvPr id="13" name="Text 11"/>
          <p:cNvSpPr/>
          <p:nvPr/>
        </p:nvSpPr>
        <p:spPr>
          <a:xfrm>
            <a:off x="2185416" y="2514600"/>
            <a:ext cx="1463040" cy="685800"/>
          </a:xfrm>
          <a:prstGeom prst="rect">
            <a:avLst/>
          </a:prstGeom>
          <a:noFill/>
        </p:spPr>
        <p:txBody>
          <a:bodyPr wrap="square" rtlCol="0" anchor="ctr"/>
          <a:lstStyle/>
          <a:p>
            <a:pPr marL="0" indent="0" algn="ctr">
              <a:buNone/>
            </a:pPr>
            <a:r>
              <a:rPr lang="en-US" sz="1100" dirty="0">
                <a:solidFill>
                  <a:srgbClr val="1A2B3C"/>
                </a:solidFill>
                <a:latin typeface="Times New Roman" panose="02020603050405020304" charset="0"/>
                <a:cs typeface="Times New Roman" panose="02020603050405020304" charset="0"/>
              </a:rPr>
              <a:t>Numerical computing</a:t>
            </a:r>
            <a:endParaRPr lang="en-US" sz="1100" dirty="0">
              <a:solidFill>
                <a:srgbClr val="1A2B3C"/>
              </a:solidFill>
              <a:latin typeface="Times New Roman" panose="02020603050405020304" charset="0"/>
              <a:cs typeface="Times New Roman" panose="02020603050405020304" charset="0"/>
            </a:endParaRPr>
          </a:p>
        </p:txBody>
      </p:sp>
      <p:sp>
        <p:nvSpPr>
          <p:cNvPr id="14" name="Shape 12"/>
          <p:cNvSpPr/>
          <p:nvPr/>
        </p:nvSpPr>
        <p:spPr>
          <a:xfrm>
            <a:off x="3822192" y="2240280"/>
            <a:ext cx="1554480" cy="1005840"/>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15" name="Shape 13"/>
          <p:cNvSpPr/>
          <p:nvPr/>
        </p:nvSpPr>
        <p:spPr>
          <a:xfrm>
            <a:off x="3822192" y="2240280"/>
            <a:ext cx="1554480" cy="256032"/>
          </a:xfrm>
          <a:prstGeom prst="rect">
            <a:avLst/>
          </a:prstGeom>
          <a:solidFill>
            <a:srgbClr val="0A7EA4"/>
          </a:solidFill>
          <a:ln w="12700">
            <a:solidFill>
              <a:srgbClr val="0A7EA4"/>
            </a:solidFill>
            <a:prstDash val="solid"/>
          </a:ln>
        </p:spPr>
      </p:sp>
      <p:sp>
        <p:nvSpPr>
          <p:cNvPr id="16" name="Text 14"/>
          <p:cNvSpPr/>
          <p:nvPr/>
        </p:nvSpPr>
        <p:spPr>
          <a:xfrm>
            <a:off x="3822192" y="2240280"/>
            <a:ext cx="1554480" cy="256032"/>
          </a:xfrm>
          <a:prstGeom prst="rect">
            <a:avLst/>
          </a:prstGeom>
          <a:noFill/>
        </p:spPr>
        <p:txBody>
          <a:bodyPr wrap="square" rtlCol="0" anchor="ctr"/>
          <a:lstStyle/>
          <a:p>
            <a:pPr marL="0" indent="0" algn="ctr">
              <a:buNone/>
            </a:pPr>
            <a:r>
              <a:rPr lang="en-US" sz="900" b="1" dirty="0">
                <a:solidFill>
                  <a:srgbClr val="FFFFFF"/>
                </a:solidFill>
                <a:latin typeface="Times New Roman" panose="02020603050405020304" charset="0"/>
                <a:cs typeface="Times New Roman" panose="02020603050405020304" charset="0"/>
              </a:rPr>
              <a:t>Matplotlib / Seaborn</a:t>
            </a:r>
            <a:endParaRPr lang="en-US" sz="900" b="1" dirty="0">
              <a:solidFill>
                <a:srgbClr val="FFFFFF"/>
              </a:solidFill>
              <a:latin typeface="Times New Roman" panose="02020603050405020304" charset="0"/>
              <a:cs typeface="Times New Roman" panose="02020603050405020304" charset="0"/>
            </a:endParaRPr>
          </a:p>
        </p:txBody>
      </p:sp>
      <p:sp>
        <p:nvSpPr>
          <p:cNvPr id="17" name="Text 15"/>
          <p:cNvSpPr/>
          <p:nvPr/>
        </p:nvSpPr>
        <p:spPr>
          <a:xfrm>
            <a:off x="3867912" y="2514600"/>
            <a:ext cx="1463040" cy="685800"/>
          </a:xfrm>
          <a:prstGeom prst="rect">
            <a:avLst/>
          </a:prstGeom>
          <a:noFill/>
        </p:spPr>
        <p:txBody>
          <a:bodyPr wrap="square" rtlCol="0" anchor="ctr"/>
          <a:lstStyle/>
          <a:p>
            <a:pPr marL="0" indent="0" algn="ctr">
              <a:buNone/>
            </a:pPr>
            <a:r>
              <a:rPr lang="en-US" sz="1100" dirty="0">
                <a:solidFill>
                  <a:srgbClr val="1A2B3C"/>
                </a:solidFill>
                <a:latin typeface="Times New Roman" panose="02020603050405020304" charset="0"/>
                <a:cs typeface="Times New Roman" panose="02020603050405020304" charset="0"/>
              </a:rPr>
              <a:t>Visualization</a:t>
            </a:r>
            <a:endParaRPr lang="en-US" sz="1100" dirty="0">
              <a:solidFill>
                <a:srgbClr val="1A2B3C"/>
              </a:solidFill>
              <a:latin typeface="Times New Roman" panose="02020603050405020304" charset="0"/>
              <a:cs typeface="Times New Roman" panose="02020603050405020304" charset="0"/>
            </a:endParaRPr>
          </a:p>
        </p:txBody>
      </p:sp>
      <p:sp>
        <p:nvSpPr>
          <p:cNvPr id="18" name="Shape 16"/>
          <p:cNvSpPr/>
          <p:nvPr/>
        </p:nvSpPr>
        <p:spPr>
          <a:xfrm>
            <a:off x="5504688" y="2240280"/>
            <a:ext cx="1554480" cy="1005840"/>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19" name="Shape 17"/>
          <p:cNvSpPr/>
          <p:nvPr/>
        </p:nvSpPr>
        <p:spPr>
          <a:xfrm>
            <a:off x="5504688" y="2240280"/>
            <a:ext cx="1554480" cy="256032"/>
          </a:xfrm>
          <a:prstGeom prst="rect">
            <a:avLst/>
          </a:prstGeom>
          <a:solidFill>
            <a:srgbClr val="0A7EA4"/>
          </a:solidFill>
          <a:ln w="12700">
            <a:solidFill>
              <a:srgbClr val="0A7EA4"/>
            </a:solidFill>
            <a:prstDash val="solid"/>
          </a:ln>
        </p:spPr>
      </p:sp>
      <p:sp>
        <p:nvSpPr>
          <p:cNvPr id="20" name="Text 18"/>
          <p:cNvSpPr/>
          <p:nvPr/>
        </p:nvSpPr>
        <p:spPr>
          <a:xfrm>
            <a:off x="5504688" y="2240280"/>
            <a:ext cx="1554480" cy="256032"/>
          </a:xfrm>
          <a:prstGeom prst="rect">
            <a:avLst/>
          </a:prstGeom>
          <a:noFill/>
        </p:spPr>
        <p:txBody>
          <a:bodyPr wrap="square" rtlCol="0" anchor="ctr"/>
          <a:lstStyle/>
          <a:p>
            <a:pPr marL="0" indent="0" algn="ctr">
              <a:buNone/>
            </a:pPr>
            <a:r>
              <a:rPr lang="en-US" sz="900" b="1" dirty="0">
                <a:solidFill>
                  <a:srgbClr val="FFFFFF"/>
                </a:solidFill>
                <a:latin typeface="Times New Roman" panose="02020603050405020304" charset="0"/>
                <a:cs typeface="Times New Roman" panose="02020603050405020304" charset="0"/>
              </a:rPr>
              <a:t>Scikit-learn</a:t>
            </a:r>
            <a:endParaRPr lang="en-US" sz="900" b="1" dirty="0">
              <a:solidFill>
                <a:srgbClr val="FFFFFF"/>
              </a:solidFill>
              <a:latin typeface="Times New Roman" panose="02020603050405020304" charset="0"/>
              <a:cs typeface="Times New Roman" panose="02020603050405020304" charset="0"/>
            </a:endParaRPr>
          </a:p>
        </p:txBody>
      </p:sp>
      <p:sp>
        <p:nvSpPr>
          <p:cNvPr id="21" name="Text 19"/>
          <p:cNvSpPr/>
          <p:nvPr/>
        </p:nvSpPr>
        <p:spPr>
          <a:xfrm>
            <a:off x="5550408" y="2514600"/>
            <a:ext cx="1463040" cy="685800"/>
          </a:xfrm>
          <a:prstGeom prst="rect">
            <a:avLst/>
          </a:prstGeom>
          <a:noFill/>
        </p:spPr>
        <p:txBody>
          <a:bodyPr wrap="square" rtlCol="0" anchor="ctr"/>
          <a:lstStyle/>
          <a:p>
            <a:pPr marL="0" indent="0" algn="ctr">
              <a:buNone/>
            </a:pPr>
            <a:r>
              <a:rPr lang="en-US" sz="1100" dirty="0">
                <a:solidFill>
                  <a:srgbClr val="1A2B3C"/>
                </a:solidFill>
                <a:latin typeface="Times New Roman" panose="02020603050405020304" charset="0"/>
                <a:cs typeface="Times New Roman" panose="02020603050405020304" charset="0"/>
              </a:rPr>
              <a:t>ML algorithms</a:t>
            </a:r>
            <a:endParaRPr lang="en-US" sz="1100" dirty="0">
              <a:solidFill>
                <a:srgbClr val="1A2B3C"/>
              </a:solidFill>
              <a:latin typeface="Times New Roman" panose="02020603050405020304" charset="0"/>
              <a:cs typeface="Times New Roman" panose="02020603050405020304" charset="0"/>
            </a:endParaRPr>
          </a:p>
        </p:txBody>
      </p:sp>
      <p:sp>
        <p:nvSpPr>
          <p:cNvPr id="22" name="Shape 20"/>
          <p:cNvSpPr/>
          <p:nvPr/>
        </p:nvSpPr>
        <p:spPr>
          <a:xfrm>
            <a:off x="7187184" y="2240280"/>
            <a:ext cx="1554480" cy="1005840"/>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23" name="Shape 21"/>
          <p:cNvSpPr/>
          <p:nvPr/>
        </p:nvSpPr>
        <p:spPr>
          <a:xfrm>
            <a:off x="7187184" y="2240280"/>
            <a:ext cx="1554480" cy="256032"/>
          </a:xfrm>
          <a:prstGeom prst="rect">
            <a:avLst/>
          </a:prstGeom>
          <a:solidFill>
            <a:srgbClr val="0A7EA4"/>
          </a:solidFill>
          <a:ln w="12700">
            <a:solidFill>
              <a:srgbClr val="0A7EA4"/>
            </a:solidFill>
            <a:prstDash val="solid"/>
          </a:ln>
        </p:spPr>
      </p:sp>
      <p:sp>
        <p:nvSpPr>
          <p:cNvPr id="24" name="Text 22"/>
          <p:cNvSpPr/>
          <p:nvPr/>
        </p:nvSpPr>
        <p:spPr>
          <a:xfrm>
            <a:off x="7187184" y="2240280"/>
            <a:ext cx="1554480" cy="256032"/>
          </a:xfrm>
          <a:prstGeom prst="rect">
            <a:avLst/>
          </a:prstGeom>
          <a:noFill/>
        </p:spPr>
        <p:txBody>
          <a:bodyPr wrap="square" rtlCol="0" anchor="ctr"/>
          <a:lstStyle/>
          <a:p>
            <a:pPr marL="0" indent="0" algn="ctr">
              <a:buNone/>
            </a:pPr>
            <a:r>
              <a:rPr lang="en-US" sz="900" b="1" dirty="0">
                <a:solidFill>
                  <a:srgbClr val="FFFFFF"/>
                </a:solidFill>
                <a:latin typeface="Times New Roman" panose="02020603050405020304" charset="0"/>
                <a:cs typeface="Times New Roman" panose="02020603050405020304" charset="0"/>
              </a:rPr>
              <a:t>Keras / TensorFlow</a:t>
            </a:r>
            <a:endParaRPr lang="en-US" sz="900" b="1" dirty="0">
              <a:solidFill>
                <a:srgbClr val="FFFFFF"/>
              </a:solidFill>
              <a:latin typeface="Times New Roman" panose="02020603050405020304" charset="0"/>
              <a:cs typeface="Times New Roman" panose="02020603050405020304" charset="0"/>
            </a:endParaRPr>
          </a:p>
        </p:txBody>
      </p:sp>
      <p:sp>
        <p:nvSpPr>
          <p:cNvPr id="25" name="Text 23"/>
          <p:cNvSpPr/>
          <p:nvPr/>
        </p:nvSpPr>
        <p:spPr>
          <a:xfrm>
            <a:off x="7232904" y="2514600"/>
            <a:ext cx="1463040" cy="685800"/>
          </a:xfrm>
          <a:prstGeom prst="rect">
            <a:avLst/>
          </a:prstGeom>
          <a:noFill/>
        </p:spPr>
        <p:txBody>
          <a:bodyPr wrap="square" rtlCol="0" anchor="ctr"/>
          <a:lstStyle/>
          <a:p>
            <a:pPr marL="0" indent="0" algn="ctr">
              <a:buNone/>
            </a:pPr>
            <a:r>
              <a:rPr lang="en-US" sz="1100" dirty="0">
                <a:solidFill>
                  <a:srgbClr val="1A2B3C"/>
                </a:solidFill>
                <a:latin typeface="Times New Roman" panose="02020603050405020304" charset="0"/>
                <a:cs typeface="Times New Roman" panose="02020603050405020304" charset="0"/>
              </a:rPr>
              <a:t>Deep learning</a:t>
            </a:r>
            <a:endParaRPr lang="en-US" sz="1100" dirty="0">
              <a:solidFill>
                <a:srgbClr val="1A2B3C"/>
              </a:solidFill>
              <a:latin typeface="Times New Roman" panose="02020603050405020304" charset="0"/>
              <a:cs typeface="Times New Roman" panose="02020603050405020304" charset="0"/>
            </a:endParaRPr>
          </a:p>
        </p:txBody>
      </p:sp>
      <p:sp>
        <p:nvSpPr>
          <p:cNvPr id="26" name="Text 24"/>
          <p:cNvSpPr/>
          <p:nvPr/>
        </p:nvSpPr>
        <p:spPr>
          <a:xfrm>
            <a:off x="457200" y="3401568"/>
            <a:ext cx="8229600" cy="502920"/>
          </a:xfrm>
          <a:prstGeom prst="rect">
            <a:avLst/>
          </a:prstGeom>
          <a:noFill/>
        </p:spPr>
        <p:txBody>
          <a:bodyPr wrap="square" rtlCol="0" anchor="ctr"/>
          <a:lstStyle/>
          <a:p>
            <a:pPr marL="0" indent="0">
              <a:buNone/>
            </a:pPr>
            <a:r>
              <a:rPr lang="en-US" sz="1200" i="1" dirty="0">
                <a:solidFill>
                  <a:srgbClr val="5A7490"/>
                </a:solidFill>
                <a:latin typeface="Times New Roman" panose="02020603050405020304" charset="0"/>
                <a:cs typeface="Times New Roman" panose="02020603050405020304" charset="0"/>
              </a:rPr>
              <a:t>Python provides an end-to-end toolkit — from statistical rigor to deep learning — making it indispensable for modern financial data science.</a:t>
            </a:r>
            <a:endParaRPr lang="en-US" sz="1200" i="1" dirty="0">
              <a:solidFill>
                <a:srgbClr val="5A7490"/>
              </a:solidFill>
              <a:latin typeface="Times New Roman" panose="02020603050405020304" charset="0"/>
              <a:cs typeface="Times New Roman" panose="02020603050405020304" charset="0"/>
            </a:endParaRPr>
          </a:p>
        </p:txBody>
      </p:sp>
      <p:sp>
        <p:nvSpPr>
          <p:cNvPr id="27" name="Text 25"/>
          <p:cNvSpPr/>
          <p:nvPr/>
        </p:nvSpPr>
        <p:spPr>
          <a:xfrm>
            <a:off x="8046720" y="4800600"/>
            <a:ext cx="914400" cy="228600"/>
          </a:xfrm>
          <a:prstGeom prst="rect">
            <a:avLst/>
          </a:prstGeom>
          <a:noFill/>
        </p:spPr>
        <p:txBody>
          <a:bodyPr wrap="square" rtlCol="0" anchor="ctr"/>
          <a:lstStyle/>
          <a:p>
            <a:pPr marL="0" indent="0" algn="r">
              <a:buNone/>
            </a:pPr>
            <a:r>
              <a:rPr lang="en-US" sz="900" dirty="0">
                <a:solidFill>
                  <a:srgbClr val="5A7490"/>
                </a:solidFill>
                <a:latin typeface="Times New Roman" panose="02020603050405020304" charset="0"/>
                <a:cs typeface="Times New Roman" panose="02020603050405020304" charset="0"/>
              </a:rPr>
              <a:t>3 / 19</a:t>
            </a:r>
            <a:endParaRPr lang="en-US" sz="900" dirty="0">
              <a:solidFill>
                <a:srgbClr val="5A7490"/>
              </a:solidFill>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73152" cy="384048"/>
          </a:xfrm>
          <a:prstGeom prst="rect">
            <a:avLst/>
          </a:prstGeom>
          <a:solidFill>
            <a:srgbClr val="0A7EA4"/>
          </a:solidFill>
          <a:ln w="12700">
            <a:solidFill>
              <a:srgbClr val="0A7EA4"/>
            </a:solidFill>
            <a:prstDash val="solid"/>
          </a:ln>
        </p:spPr>
      </p:sp>
      <p:sp>
        <p:nvSpPr>
          <p:cNvPr id="3" name="Text 1"/>
          <p:cNvSpPr/>
          <p:nvPr/>
        </p:nvSpPr>
        <p:spPr>
          <a:xfrm>
            <a:off x="621792" y="182880"/>
            <a:ext cx="7772400" cy="502920"/>
          </a:xfrm>
          <a:prstGeom prst="rect">
            <a:avLst/>
          </a:prstGeom>
          <a:noFill/>
        </p:spPr>
        <p:txBody>
          <a:bodyPr wrap="square" lIns="0" tIns="0" rIns="0" bIns="0" rtlCol="0" anchor="ctr"/>
          <a:lstStyle/>
          <a:p>
            <a:pPr marL="0" indent="0">
              <a:buNone/>
            </a:pPr>
            <a:r>
              <a:rPr lang="en-US" sz="2200" b="1" dirty="0">
                <a:solidFill>
                  <a:srgbClr val="1A2B3C"/>
                </a:solidFill>
                <a:latin typeface="Times New Roman" panose="02020603050405020304" charset="0"/>
                <a:ea typeface="Calibri" panose="020F0502020204030204" pitchFamily="34" charset="-122"/>
                <a:cs typeface="Times New Roman" panose="02020603050405020304" charset="0"/>
              </a:rPr>
              <a:t>Problem Statement &amp; Objectives</a:t>
            </a:r>
            <a:endParaRPr lang="en-US" sz="2200" b="1" dirty="0">
              <a:solidFill>
                <a:srgbClr val="1A2B3C"/>
              </a:solidFill>
              <a:latin typeface="Times New Roman" panose="02020603050405020304" charset="0"/>
              <a:ea typeface="Calibri" panose="020F0502020204030204" pitchFamily="34" charset="-122"/>
              <a:cs typeface="Times New Roman" panose="02020603050405020304" charset="0"/>
            </a:endParaRPr>
          </a:p>
        </p:txBody>
      </p:sp>
      <p:sp>
        <p:nvSpPr>
          <p:cNvPr id="4" name="Shape 2"/>
          <p:cNvSpPr/>
          <p:nvPr/>
        </p:nvSpPr>
        <p:spPr>
          <a:xfrm>
            <a:off x="457200" y="804672"/>
            <a:ext cx="3931920" cy="1371600"/>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5" name="Text 3"/>
          <p:cNvSpPr/>
          <p:nvPr/>
        </p:nvSpPr>
        <p:spPr>
          <a:xfrm>
            <a:off x="594360" y="850392"/>
            <a:ext cx="3657600" cy="320040"/>
          </a:xfrm>
          <a:prstGeom prst="rect">
            <a:avLst/>
          </a:prstGeom>
          <a:noFill/>
        </p:spPr>
        <p:txBody>
          <a:bodyPr wrap="square" rtlCol="0" anchor="ctr"/>
          <a:lstStyle/>
          <a:p>
            <a:pPr marL="0" indent="0">
              <a:buNone/>
            </a:pPr>
            <a:r>
              <a:rPr lang="en-US" sz="1300" b="1" dirty="0">
                <a:solidFill>
                  <a:srgbClr val="0A7EA4"/>
                </a:solidFill>
                <a:latin typeface="Times New Roman" panose="02020603050405020304" charset="0"/>
                <a:cs typeface="Times New Roman" panose="02020603050405020304" charset="0"/>
              </a:rPr>
              <a:t>Problem Statement</a:t>
            </a:r>
            <a:endParaRPr lang="en-US" sz="1300" b="1" dirty="0">
              <a:solidFill>
                <a:srgbClr val="0A7EA4"/>
              </a:solidFill>
              <a:latin typeface="Times New Roman" panose="02020603050405020304" charset="0"/>
              <a:cs typeface="Times New Roman" panose="02020603050405020304" charset="0"/>
            </a:endParaRPr>
          </a:p>
        </p:txBody>
      </p:sp>
      <p:sp>
        <p:nvSpPr>
          <p:cNvPr id="6" name="Text 4"/>
          <p:cNvSpPr/>
          <p:nvPr/>
        </p:nvSpPr>
        <p:spPr>
          <a:xfrm>
            <a:off x="594360" y="1170432"/>
            <a:ext cx="3657600" cy="960120"/>
          </a:xfrm>
          <a:prstGeom prst="rect">
            <a:avLst/>
          </a:prstGeom>
          <a:noFill/>
        </p:spPr>
        <p:txBody>
          <a:bodyPr wrap="square" rtlCol="0" anchor="ctr"/>
          <a:lstStyle/>
          <a:p>
            <a:pPr marL="0" indent="0">
              <a:buNone/>
            </a:pPr>
            <a:r>
              <a:rPr lang="en-US" sz="1100" dirty="0">
                <a:solidFill>
                  <a:srgbClr val="1A2B3C"/>
                </a:solidFill>
                <a:latin typeface="Times New Roman" panose="02020603050405020304" charset="0"/>
                <a:cs typeface="Times New Roman" panose="02020603050405020304" charset="0"/>
              </a:rPr>
              <a:t>Retail investors lack access to sophisticated analytical tools and rely on intuition with poor risk-adjusted returns. A Python-based system is needed to analyze patterns, identify indicators, and provide accurate short-term price forecasts.</a:t>
            </a:r>
            <a:endParaRPr lang="en-US" sz="1100" dirty="0">
              <a:solidFill>
                <a:srgbClr val="1A2B3C"/>
              </a:solidFill>
              <a:latin typeface="Times New Roman" panose="02020603050405020304" charset="0"/>
              <a:cs typeface="Times New Roman" panose="02020603050405020304" charset="0"/>
            </a:endParaRPr>
          </a:p>
        </p:txBody>
      </p:sp>
      <p:sp>
        <p:nvSpPr>
          <p:cNvPr id="7" name="Shape 5"/>
          <p:cNvSpPr/>
          <p:nvPr/>
        </p:nvSpPr>
        <p:spPr>
          <a:xfrm>
            <a:off x="4572000" y="804672"/>
            <a:ext cx="4206240" cy="3931920"/>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8" name="Text 6"/>
          <p:cNvSpPr/>
          <p:nvPr/>
        </p:nvSpPr>
        <p:spPr>
          <a:xfrm>
            <a:off x="4709160" y="850392"/>
            <a:ext cx="3840480" cy="320040"/>
          </a:xfrm>
          <a:prstGeom prst="rect">
            <a:avLst/>
          </a:prstGeom>
          <a:noFill/>
        </p:spPr>
        <p:txBody>
          <a:bodyPr wrap="square" rtlCol="0" anchor="ctr"/>
          <a:lstStyle/>
          <a:p>
            <a:pPr marL="0" indent="0">
              <a:buNone/>
            </a:pPr>
            <a:r>
              <a:rPr lang="en-US" sz="1300" b="1" dirty="0">
                <a:solidFill>
                  <a:srgbClr val="0A7EA4"/>
                </a:solidFill>
                <a:latin typeface="Times New Roman" panose="02020603050405020304" charset="0"/>
                <a:cs typeface="Times New Roman" panose="02020603050405020304" charset="0"/>
              </a:rPr>
              <a:t>Key Objectives</a:t>
            </a:r>
            <a:endParaRPr lang="en-US" sz="1300" b="1" dirty="0">
              <a:solidFill>
                <a:srgbClr val="0A7EA4"/>
              </a:solidFill>
              <a:latin typeface="Times New Roman" panose="02020603050405020304" charset="0"/>
              <a:cs typeface="Times New Roman" panose="02020603050405020304" charset="0"/>
            </a:endParaRPr>
          </a:p>
        </p:txBody>
      </p:sp>
      <p:sp>
        <p:nvSpPr>
          <p:cNvPr id="9" name="Shape 7"/>
          <p:cNvSpPr/>
          <p:nvPr/>
        </p:nvSpPr>
        <p:spPr>
          <a:xfrm>
            <a:off x="4709160" y="1234440"/>
            <a:ext cx="256032" cy="256032"/>
          </a:xfrm>
          <a:prstGeom prst="ellipse">
            <a:avLst/>
          </a:prstGeom>
          <a:solidFill>
            <a:srgbClr val="0A7EA4"/>
          </a:solidFill>
          <a:ln w="12700">
            <a:solidFill>
              <a:srgbClr val="0A7EA4"/>
            </a:solidFill>
            <a:prstDash val="solid"/>
          </a:ln>
        </p:spPr>
      </p:sp>
      <p:sp>
        <p:nvSpPr>
          <p:cNvPr id="10" name="Text 8"/>
          <p:cNvSpPr/>
          <p:nvPr/>
        </p:nvSpPr>
        <p:spPr>
          <a:xfrm>
            <a:off x="4709160" y="1234440"/>
            <a:ext cx="256032" cy="256032"/>
          </a:xfrm>
          <a:prstGeom prst="rect">
            <a:avLst/>
          </a:prstGeom>
          <a:noFill/>
        </p:spPr>
        <p:txBody>
          <a:bodyPr wrap="square" rtlCol="0" anchor="ctr"/>
          <a:lstStyle/>
          <a:p>
            <a:pPr marL="0" indent="0" algn="ctr">
              <a:buNone/>
            </a:pPr>
            <a:r>
              <a:rPr lang="en-US" sz="1000" b="1" dirty="0">
                <a:solidFill>
                  <a:srgbClr val="FFFFFF"/>
                </a:solidFill>
                <a:latin typeface="Times New Roman" panose="02020603050405020304" charset="0"/>
                <a:cs typeface="Times New Roman" panose="02020603050405020304" charset="0"/>
              </a:rPr>
              <a:t>1</a:t>
            </a:r>
            <a:endParaRPr lang="en-US" sz="1000" b="1" dirty="0">
              <a:solidFill>
                <a:srgbClr val="FFFFFF"/>
              </a:solidFill>
              <a:latin typeface="Times New Roman" panose="02020603050405020304" charset="0"/>
              <a:cs typeface="Times New Roman" panose="02020603050405020304" charset="0"/>
            </a:endParaRPr>
          </a:p>
        </p:txBody>
      </p:sp>
      <p:sp>
        <p:nvSpPr>
          <p:cNvPr id="11" name="Text 9"/>
          <p:cNvSpPr/>
          <p:nvPr/>
        </p:nvSpPr>
        <p:spPr>
          <a:xfrm>
            <a:off x="5047488" y="1234440"/>
            <a:ext cx="3611880" cy="502920"/>
          </a:xfrm>
          <a:prstGeom prst="rect">
            <a:avLst/>
          </a:prstGeom>
          <a:noFill/>
        </p:spPr>
        <p:txBody>
          <a:bodyPr wrap="square" rtlCol="0" anchor="ctr"/>
          <a:lstStyle/>
          <a:p>
            <a:pPr marL="0" indent="0">
              <a:buNone/>
            </a:pPr>
            <a:r>
              <a:rPr lang="en-US" sz="1100" dirty="0">
                <a:solidFill>
                  <a:srgbClr val="1A2B3C"/>
                </a:solidFill>
                <a:latin typeface="Times New Roman" panose="02020603050405020304" charset="0"/>
                <a:cs typeface="Times New Roman" panose="02020603050405020304" charset="0"/>
              </a:rPr>
              <a:t>Collect OHLCV data for NIFTY 50 via yfinance API</a:t>
            </a:r>
            <a:endParaRPr lang="en-US" sz="1100" dirty="0">
              <a:solidFill>
                <a:srgbClr val="1A2B3C"/>
              </a:solidFill>
              <a:latin typeface="Times New Roman" panose="02020603050405020304" charset="0"/>
              <a:cs typeface="Times New Roman" panose="02020603050405020304" charset="0"/>
            </a:endParaRPr>
          </a:p>
        </p:txBody>
      </p:sp>
      <p:sp>
        <p:nvSpPr>
          <p:cNvPr id="12" name="Shape 10"/>
          <p:cNvSpPr/>
          <p:nvPr/>
        </p:nvSpPr>
        <p:spPr>
          <a:xfrm>
            <a:off x="4709160" y="1856232"/>
            <a:ext cx="256032" cy="256032"/>
          </a:xfrm>
          <a:prstGeom prst="ellipse">
            <a:avLst/>
          </a:prstGeom>
          <a:solidFill>
            <a:srgbClr val="0A7EA4"/>
          </a:solidFill>
          <a:ln w="12700">
            <a:solidFill>
              <a:srgbClr val="0A7EA4"/>
            </a:solidFill>
            <a:prstDash val="solid"/>
          </a:ln>
        </p:spPr>
      </p:sp>
      <p:sp>
        <p:nvSpPr>
          <p:cNvPr id="13" name="Text 11"/>
          <p:cNvSpPr/>
          <p:nvPr/>
        </p:nvSpPr>
        <p:spPr>
          <a:xfrm>
            <a:off x="4709160" y="1856232"/>
            <a:ext cx="256032" cy="256032"/>
          </a:xfrm>
          <a:prstGeom prst="rect">
            <a:avLst/>
          </a:prstGeom>
          <a:noFill/>
        </p:spPr>
        <p:txBody>
          <a:bodyPr wrap="square" rtlCol="0" anchor="ctr"/>
          <a:lstStyle/>
          <a:p>
            <a:pPr marL="0" indent="0" algn="ctr">
              <a:buNone/>
            </a:pPr>
            <a:r>
              <a:rPr lang="en-US" sz="1000" b="1" dirty="0">
                <a:solidFill>
                  <a:srgbClr val="FFFFFF"/>
                </a:solidFill>
                <a:latin typeface="Times New Roman" panose="02020603050405020304" charset="0"/>
                <a:cs typeface="Times New Roman" panose="02020603050405020304" charset="0"/>
              </a:rPr>
              <a:t>2</a:t>
            </a:r>
            <a:endParaRPr lang="en-US" sz="1000" b="1" dirty="0">
              <a:solidFill>
                <a:srgbClr val="FFFFFF"/>
              </a:solidFill>
              <a:latin typeface="Times New Roman" panose="02020603050405020304" charset="0"/>
              <a:cs typeface="Times New Roman" panose="02020603050405020304" charset="0"/>
            </a:endParaRPr>
          </a:p>
        </p:txBody>
      </p:sp>
      <p:sp>
        <p:nvSpPr>
          <p:cNvPr id="14" name="Text 12"/>
          <p:cNvSpPr/>
          <p:nvPr/>
        </p:nvSpPr>
        <p:spPr>
          <a:xfrm>
            <a:off x="5047488" y="1856232"/>
            <a:ext cx="3611880" cy="502920"/>
          </a:xfrm>
          <a:prstGeom prst="rect">
            <a:avLst/>
          </a:prstGeom>
          <a:noFill/>
        </p:spPr>
        <p:txBody>
          <a:bodyPr wrap="square" rtlCol="0" anchor="ctr"/>
          <a:lstStyle/>
          <a:p>
            <a:pPr marL="0" indent="0">
              <a:buNone/>
            </a:pPr>
            <a:r>
              <a:rPr lang="en-US" sz="1100" dirty="0">
                <a:solidFill>
                  <a:srgbClr val="1A2B3C"/>
                </a:solidFill>
                <a:latin typeface="Times New Roman" panose="02020603050405020304" charset="0"/>
                <a:cs typeface="Times New Roman" panose="02020603050405020304" charset="0"/>
              </a:rPr>
              <a:t>Preprocess raw data — handle missing values &amp; anomalies</a:t>
            </a:r>
            <a:endParaRPr lang="en-US" sz="1100" dirty="0">
              <a:solidFill>
                <a:srgbClr val="1A2B3C"/>
              </a:solidFill>
              <a:latin typeface="Times New Roman" panose="02020603050405020304" charset="0"/>
              <a:cs typeface="Times New Roman" panose="02020603050405020304" charset="0"/>
            </a:endParaRPr>
          </a:p>
        </p:txBody>
      </p:sp>
      <p:sp>
        <p:nvSpPr>
          <p:cNvPr id="15" name="Shape 13"/>
          <p:cNvSpPr/>
          <p:nvPr/>
        </p:nvSpPr>
        <p:spPr>
          <a:xfrm>
            <a:off x="4709160" y="2478024"/>
            <a:ext cx="256032" cy="256032"/>
          </a:xfrm>
          <a:prstGeom prst="ellipse">
            <a:avLst/>
          </a:prstGeom>
          <a:solidFill>
            <a:srgbClr val="0A7EA4"/>
          </a:solidFill>
          <a:ln w="12700">
            <a:solidFill>
              <a:srgbClr val="0A7EA4"/>
            </a:solidFill>
            <a:prstDash val="solid"/>
          </a:ln>
        </p:spPr>
      </p:sp>
      <p:sp>
        <p:nvSpPr>
          <p:cNvPr id="16" name="Text 14"/>
          <p:cNvSpPr/>
          <p:nvPr/>
        </p:nvSpPr>
        <p:spPr>
          <a:xfrm>
            <a:off x="4709160" y="2478024"/>
            <a:ext cx="256032" cy="256032"/>
          </a:xfrm>
          <a:prstGeom prst="rect">
            <a:avLst/>
          </a:prstGeom>
          <a:noFill/>
        </p:spPr>
        <p:txBody>
          <a:bodyPr wrap="square" rtlCol="0" anchor="ctr"/>
          <a:lstStyle/>
          <a:p>
            <a:pPr marL="0" indent="0" algn="ctr">
              <a:buNone/>
            </a:pPr>
            <a:r>
              <a:rPr lang="en-US" sz="1000" b="1" dirty="0">
                <a:solidFill>
                  <a:srgbClr val="FFFFFF"/>
                </a:solidFill>
                <a:latin typeface="Times New Roman" panose="02020603050405020304" charset="0"/>
                <a:cs typeface="Times New Roman" panose="02020603050405020304" charset="0"/>
              </a:rPr>
              <a:t>3</a:t>
            </a:r>
            <a:endParaRPr lang="en-US" sz="1000" b="1" dirty="0">
              <a:solidFill>
                <a:srgbClr val="FFFFFF"/>
              </a:solidFill>
              <a:latin typeface="Times New Roman" panose="02020603050405020304" charset="0"/>
              <a:cs typeface="Times New Roman" panose="02020603050405020304" charset="0"/>
            </a:endParaRPr>
          </a:p>
        </p:txBody>
      </p:sp>
      <p:sp>
        <p:nvSpPr>
          <p:cNvPr id="17" name="Text 15"/>
          <p:cNvSpPr/>
          <p:nvPr/>
        </p:nvSpPr>
        <p:spPr>
          <a:xfrm>
            <a:off x="5047488" y="2478024"/>
            <a:ext cx="3611880" cy="502920"/>
          </a:xfrm>
          <a:prstGeom prst="rect">
            <a:avLst/>
          </a:prstGeom>
          <a:noFill/>
        </p:spPr>
        <p:txBody>
          <a:bodyPr wrap="square" rtlCol="0" anchor="ctr"/>
          <a:lstStyle/>
          <a:p>
            <a:pPr marL="0" indent="0">
              <a:buNone/>
            </a:pPr>
            <a:r>
              <a:rPr lang="en-US" sz="1100" dirty="0">
                <a:solidFill>
                  <a:srgbClr val="1A2B3C"/>
                </a:solidFill>
                <a:latin typeface="Times New Roman" panose="02020603050405020304" charset="0"/>
                <a:cs typeface="Times New Roman" panose="02020603050405020304" charset="0"/>
              </a:rPr>
              <a:t>Engineer technical indicators: MA, RSI, MACD, Bollinger Bands</a:t>
            </a:r>
            <a:endParaRPr lang="en-US" sz="1100" dirty="0">
              <a:solidFill>
                <a:srgbClr val="1A2B3C"/>
              </a:solidFill>
              <a:latin typeface="Times New Roman" panose="02020603050405020304" charset="0"/>
              <a:cs typeface="Times New Roman" panose="02020603050405020304" charset="0"/>
            </a:endParaRPr>
          </a:p>
        </p:txBody>
      </p:sp>
      <p:sp>
        <p:nvSpPr>
          <p:cNvPr id="18" name="Shape 16"/>
          <p:cNvSpPr/>
          <p:nvPr/>
        </p:nvSpPr>
        <p:spPr>
          <a:xfrm>
            <a:off x="4709160" y="3099816"/>
            <a:ext cx="256032" cy="256032"/>
          </a:xfrm>
          <a:prstGeom prst="ellipse">
            <a:avLst/>
          </a:prstGeom>
          <a:solidFill>
            <a:srgbClr val="0A7EA4"/>
          </a:solidFill>
          <a:ln w="12700">
            <a:solidFill>
              <a:srgbClr val="0A7EA4"/>
            </a:solidFill>
            <a:prstDash val="solid"/>
          </a:ln>
        </p:spPr>
      </p:sp>
      <p:sp>
        <p:nvSpPr>
          <p:cNvPr id="19" name="Text 17"/>
          <p:cNvSpPr/>
          <p:nvPr/>
        </p:nvSpPr>
        <p:spPr>
          <a:xfrm>
            <a:off x="4709160" y="3099816"/>
            <a:ext cx="256032" cy="256032"/>
          </a:xfrm>
          <a:prstGeom prst="rect">
            <a:avLst/>
          </a:prstGeom>
          <a:noFill/>
        </p:spPr>
        <p:txBody>
          <a:bodyPr wrap="square" rtlCol="0" anchor="ctr"/>
          <a:lstStyle/>
          <a:p>
            <a:pPr marL="0" indent="0" algn="ctr">
              <a:buNone/>
            </a:pPr>
            <a:r>
              <a:rPr lang="en-US" sz="1000" b="1" dirty="0">
                <a:solidFill>
                  <a:srgbClr val="FFFFFF"/>
                </a:solidFill>
                <a:latin typeface="Times New Roman" panose="02020603050405020304" charset="0"/>
                <a:cs typeface="Times New Roman" panose="02020603050405020304" charset="0"/>
              </a:rPr>
              <a:t>4</a:t>
            </a:r>
            <a:endParaRPr lang="en-US" sz="1000" b="1" dirty="0">
              <a:solidFill>
                <a:srgbClr val="FFFFFF"/>
              </a:solidFill>
              <a:latin typeface="Times New Roman" panose="02020603050405020304" charset="0"/>
              <a:cs typeface="Times New Roman" panose="02020603050405020304" charset="0"/>
            </a:endParaRPr>
          </a:p>
        </p:txBody>
      </p:sp>
      <p:sp>
        <p:nvSpPr>
          <p:cNvPr id="20" name="Text 18"/>
          <p:cNvSpPr/>
          <p:nvPr/>
        </p:nvSpPr>
        <p:spPr>
          <a:xfrm>
            <a:off x="5047488" y="3099816"/>
            <a:ext cx="3611880" cy="502920"/>
          </a:xfrm>
          <a:prstGeom prst="rect">
            <a:avLst/>
          </a:prstGeom>
          <a:noFill/>
        </p:spPr>
        <p:txBody>
          <a:bodyPr wrap="square" rtlCol="0" anchor="ctr"/>
          <a:lstStyle/>
          <a:p>
            <a:pPr marL="0" indent="0">
              <a:buNone/>
            </a:pPr>
            <a:r>
              <a:rPr lang="en-US" sz="1100" dirty="0">
                <a:solidFill>
                  <a:srgbClr val="1A2B3C"/>
                </a:solidFill>
                <a:latin typeface="Times New Roman" panose="02020603050405020304" charset="0"/>
                <a:cs typeface="Times New Roman" panose="02020603050405020304" charset="0"/>
              </a:rPr>
              <a:t>Perform comprehensive EDA &amp; multi-type visualization</a:t>
            </a:r>
            <a:endParaRPr lang="en-US" sz="1100" dirty="0">
              <a:solidFill>
                <a:srgbClr val="1A2B3C"/>
              </a:solidFill>
              <a:latin typeface="Times New Roman" panose="02020603050405020304" charset="0"/>
              <a:cs typeface="Times New Roman" panose="02020603050405020304" charset="0"/>
            </a:endParaRPr>
          </a:p>
        </p:txBody>
      </p:sp>
      <p:sp>
        <p:nvSpPr>
          <p:cNvPr id="21" name="Shape 19"/>
          <p:cNvSpPr/>
          <p:nvPr/>
        </p:nvSpPr>
        <p:spPr>
          <a:xfrm>
            <a:off x="4709160" y="3721608"/>
            <a:ext cx="256032" cy="256032"/>
          </a:xfrm>
          <a:prstGeom prst="ellipse">
            <a:avLst/>
          </a:prstGeom>
          <a:solidFill>
            <a:srgbClr val="0A7EA4"/>
          </a:solidFill>
          <a:ln w="12700">
            <a:solidFill>
              <a:srgbClr val="0A7EA4"/>
            </a:solidFill>
            <a:prstDash val="solid"/>
          </a:ln>
        </p:spPr>
      </p:sp>
      <p:sp>
        <p:nvSpPr>
          <p:cNvPr id="22" name="Text 20"/>
          <p:cNvSpPr/>
          <p:nvPr/>
        </p:nvSpPr>
        <p:spPr>
          <a:xfrm>
            <a:off x="4709160" y="3721608"/>
            <a:ext cx="256032" cy="256032"/>
          </a:xfrm>
          <a:prstGeom prst="rect">
            <a:avLst/>
          </a:prstGeom>
          <a:noFill/>
        </p:spPr>
        <p:txBody>
          <a:bodyPr wrap="square" rtlCol="0" anchor="ctr"/>
          <a:lstStyle/>
          <a:p>
            <a:pPr marL="0" indent="0" algn="ctr">
              <a:buNone/>
            </a:pPr>
            <a:r>
              <a:rPr lang="en-US" sz="1000" b="1" dirty="0">
                <a:solidFill>
                  <a:srgbClr val="FFFFFF"/>
                </a:solidFill>
                <a:latin typeface="Times New Roman" panose="02020603050405020304" charset="0"/>
                <a:cs typeface="Times New Roman" panose="02020603050405020304" charset="0"/>
              </a:rPr>
              <a:t>5</a:t>
            </a:r>
            <a:endParaRPr lang="en-US" sz="1000" b="1" dirty="0">
              <a:solidFill>
                <a:srgbClr val="FFFFFF"/>
              </a:solidFill>
              <a:latin typeface="Times New Roman" panose="02020603050405020304" charset="0"/>
              <a:cs typeface="Times New Roman" panose="02020603050405020304" charset="0"/>
            </a:endParaRPr>
          </a:p>
        </p:txBody>
      </p:sp>
      <p:sp>
        <p:nvSpPr>
          <p:cNvPr id="23" name="Text 21"/>
          <p:cNvSpPr/>
          <p:nvPr/>
        </p:nvSpPr>
        <p:spPr>
          <a:xfrm>
            <a:off x="5047488" y="3721608"/>
            <a:ext cx="3611880" cy="502920"/>
          </a:xfrm>
          <a:prstGeom prst="rect">
            <a:avLst/>
          </a:prstGeom>
          <a:noFill/>
        </p:spPr>
        <p:txBody>
          <a:bodyPr wrap="square" rtlCol="0" anchor="ctr"/>
          <a:lstStyle/>
          <a:p>
            <a:pPr marL="0" indent="0">
              <a:buNone/>
            </a:pPr>
            <a:r>
              <a:rPr lang="en-US" sz="1100" dirty="0">
                <a:solidFill>
                  <a:srgbClr val="1A2B3C"/>
                </a:solidFill>
                <a:latin typeface="Times New Roman" panose="02020603050405020304" charset="0"/>
                <a:cs typeface="Times New Roman" panose="02020603050405020304" charset="0"/>
              </a:rPr>
              <a:t>Design &amp; train LSTM model — achieve MAPE &lt; 2%</a:t>
            </a:r>
            <a:endParaRPr lang="en-US" sz="1100" dirty="0">
              <a:solidFill>
                <a:srgbClr val="1A2B3C"/>
              </a:solidFill>
              <a:latin typeface="Times New Roman" panose="02020603050405020304" charset="0"/>
              <a:cs typeface="Times New Roman" panose="02020603050405020304" charset="0"/>
            </a:endParaRPr>
          </a:p>
        </p:txBody>
      </p:sp>
      <p:sp>
        <p:nvSpPr>
          <p:cNvPr id="24" name="Shape 22"/>
          <p:cNvSpPr/>
          <p:nvPr/>
        </p:nvSpPr>
        <p:spPr>
          <a:xfrm>
            <a:off x="457200" y="2331720"/>
            <a:ext cx="1234440" cy="1234440"/>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25" name="Text 23"/>
          <p:cNvSpPr/>
          <p:nvPr/>
        </p:nvSpPr>
        <p:spPr>
          <a:xfrm>
            <a:off x="457200" y="2423160"/>
            <a:ext cx="1234440" cy="594360"/>
          </a:xfrm>
          <a:prstGeom prst="rect">
            <a:avLst/>
          </a:prstGeom>
          <a:noFill/>
        </p:spPr>
        <p:txBody>
          <a:bodyPr wrap="square" rtlCol="0" anchor="b"/>
          <a:lstStyle/>
          <a:p>
            <a:pPr marL="0" indent="0" algn="ctr">
              <a:buNone/>
            </a:pPr>
            <a:r>
              <a:rPr lang="en-US" sz="1100" b="1" dirty="0">
                <a:solidFill>
                  <a:srgbClr val="0A7EA4"/>
                </a:solidFill>
                <a:latin typeface="Times New Roman" panose="02020603050405020304" charset="0"/>
                <a:cs typeface="Times New Roman" panose="02020603050405020304" charset="0"/>
              </a:rPr>
              <a:t>USD 4 Trillion</a:t>
            </a:r>
            <a:endParaRPr lang="en-US" sz="1100" b="1" dirty="0">
              <a:solidFill>
                <a:srgbClr val="0A7EA4"/>
              </a:solidFill>
              <a:latin typeface="Times New Roman" panose="02020603050405020304" charset="0"/>
              <a:cs typeface="Times New Roman" panose="02020603050405020304" charset="0"/>
            </a:endParaRPr>
          </a:p>
        </p:txBody>
      </p:sp>
      <p:sp>
        <p:nvSpPr>
          <p:cNvPr id="26" name="Text 24"/>
          <p:cNvSpPr/>
          <p:nvPr/>
        </p:nvSpPr>
        <p:spPr>
          <a:xfrm>
            <a:off x="457200" y="2999232"/>
            <a:ext cx="1234440" cy="457200"/>
          </a:xfrm>
          <a:prstGeom prst="rect">
            <a:avLst/>
          </a:prstGeom>
          <a:noFill/>
        </p:spPr>
        <p:txBody>
          <a:bodyPr wrap="square" rtlCol="0" anchor="ctr"/>
          <a:lstStyle/>
          <a:p>
            <a:pPr marL="0" indent="0" algn="ctr">
              <a:buNone/>
            </a:pPr>
            <a:r>
              <a:rPr lang="en-US" sz="900" dirty="0">
                <a:solidFill>
                  <a:srgbClr val="5A7490"/>
                </a:solidFill>
                <a:latin typeface="Times New Roman" panose="02020603050405020304" charset="0"/>
                <a:cs typeface="Times New Roman" panose="02020603050405020304" charset="0"/>
              </a:rPr>
              <a:t>NSE+BSE Market Cap</a:t>
            </a:r>
            <a:endParaRPr lang="en-US" sz="900" dirty="0">
              <a:solidFill>
                <a:srgbClr val="5A7490"/>
              </a:solidFill>
              <a:latin typeface="Times New Roman" panose="02020603050405020304" charset="0"/>
              <a:cs typeface="Times New Roman" panose="02020603050405020304" charset="0"/>
            </a:endParaRPr>
          </a:p>
        </p:txBody>
      </p:sp>
      <p:sp>
        <p:nvSpPr>
          <p:cNvPr id="27" name="Shape 25"/>
          <p:cNvSpPr/>
          <p:nvPr/>
        </p:nvSpPr>
        <p:spPr>
          <a:xfrm>
            <a:off x="1801368" y="2331720"/>
            <a:ext cx="1234440" cy="1234440"/>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28" name="Text 26"/>
          <p:cNvSpPr/>
          <p:nvPr/>
        </p:nvSpPr>
        <p:spPr>
          <a:xfrm>
            <a:off x="1801368" y="2423160"/>
            <a:ext cx="1234440" cy="594360"/>
          </a:xfrm>
          <a:prstGeom prst="rect">
            <a:avLst/>
          </a:prstGeom>
          <a:noFill/>
        </p:spPr>
        <p:txBody>
          <a:bodyPr wrap="square" rtlCol="0" anchor="b"/>
          <a:lstStyle/>
          <a:p>
            <a:pPr marL="0" indent="0" algn="ctr">
              <a:buNone/>
            </a:pPr>
            <a:r>
              <a:rPr lang="en-US" sz="1100" b="1" dirty="0">
                <a:solidFill>
                  <a:srgbClr val="0A7EA4"/>
                </a:solidFill>
                <a:latin typeface="Times New Roman" panose="02020603050405020304" charset="0"/>
                <a:cs typeface="Times New Roman" panose="02020603050405020304" charset="0"/>
              </a:rPr>
              <a:t>90 Million+</a:t>
            </a:r>
            <a:endParaRPr lang="en-US" sz="1100" b="1" dirty="0">
              <a:solidFill>
                <a:srgbClr val="0A7EA4"/>
              </a:solidFill>
              <a:latin typeface="Times New Roman" panose="02020603050405020304" charset="0"/>
              <a:cs typeface="Times New Roman" panose="02020603050405020304" charset="0"/>
            </a:endParaRPr>
          </a:p>
        </p:txBody>
      </p:sp>
      <p:sp>
        <p:nvSpPr>
          <p:cNvPr id="29" name="Text 27"/>
          <p:cNvSpPr/>
          <p:nvPr/>
        </p:nvSpPr>
        <p:spPr>
          <a:xfrm>
            <a:off x="1801368" y="2999232"/>
            <a:ext cx="1234440" cy="457200"/>
          </a:xfrm>
          <a:prstGeom prst="rect">
            <a:avLst/>
          </a:prstGeom>
          <a:noFill/>
        </p:spPr>
        <p:txBody>
          <a:bodyPr wrap="square" rtlCol="0" anchor="ctr"/>
          <a:lstStyle/>
          <a:p>
            <a:pPr marL="0" indent="0" algn="ctr">
              <a:buNone/>
            </a:pPr>
            <a:r>
              <a:rPr lang="en-US" sz="900" dirty="0">
                <a:solidFill>
                  <a:srgbClr val="5A7490"/>
                </a:solidFill>
                <a:latin typeface="Times New Roman" panose="02020603050405020304" charset="0"/>
                <a:cs typeface="Times New Roman" panose="02020603050405020304" charset="0"/>
              </a:rPr>
              <a:t>Active Investors</a:t>
            </a:r>
            <a:endParaRPr lang="en-US" sz="900" dirty="0">
              <a:solidFill>
                <a:srgbClr val="5A7490"/>
              </a:solidFill>
              <a:latin typeface="Times New Roman" panose="02020603050405020304" charset="0"/>
              <a:cs typeface="Times New Roman" panose="02020603050405020304" charset="0"/>
            </a:endParaRPr>
          </a:p>
        </p:txBody>
      </p:sp>
      <p:sp>
        <p:nvSpPr>
          <p:cNvPr id="30" name="Shape 28"/>
          <p:cNvSpPr/>
          <p:nvPr/>
        </p:nvSpPr>
        <p:spPr>
          <a:xfrm>
            <a:off x="3145536" y="2331720"/>
            <a:ext cx="1234440" cy="1234440"/>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31" name="Text 29"/>
          <p:cNvSpPr/>
          <p:nvPr/>
        </p:nvSpPr>
        <p:spPr>
          <a:xfrm>
            <a:off x="3145536" y="2423160"/>
            <a:ext cx="1234440" cy="594360"/>
          </a:xfrm>
          <a:prstGeom prst="rect">
            <a:avLst/>
          </a:prstGeom>
          <a:noFill/>
        </p:spPr>
        <p:txBody>
          <a:bodyPr wrap="square" rtlCol="0" anchor="b"/>
          <a:lstStyle/>
          <a:p>
            <a:pPr marL="0" indent="0" algn="ctr">
              <a:buNone/>
            </a:pPr>
            <a:r>
              <a:rPr lang="en-US" sz="1100" b="1" dirty="0">
                <a:solidFill>
                  <a:srgbClr val="0A7EA4"/>
                </a:solidFill>
                <a:latin typeface="Times New Roman" panose="02020603050405020304" charset="0"/>
                <a:cs typeface="Times New Roman" panose="02020603050405020304" charset="0"/>
              </a:rPr>
              <a:t>INR 50,000 Cr+</a:t>
            </a:r>
            <a:endParaRPr lang="en-US" sz="1100" b="1" dirty="0">
              <a:solidFill>
                <a:srgbClr val="0A7EA4"/>
              </a:solidFill>
              <a:latin typeface="Times New Roman" panose="02020603050405020304" charset="0"/>
              <a:cs typeface="Times New Roman" panose="02020603050405020304" charset="0"/>
            </a:endParaRPr>
          </a:p>
        </p:txBody>
      </p:sp>
      <p:sp>
        <p:nvSpPr>
          <p:cNvPr id="32" name="Text 30"/>
          <p:cNvSpPr/>
          <p:nvPr/>
        </p:nvSpPr>
        <p:spPr>
          <a:xfrm>
            <a:off x="3145536" y="2999232"/>
            <a:ext cx="1234440" cy="457200"/>
          </a:xfrm>
          <a:prstGeom prst="rect">
            <a:avLst/>
          </a:prstGeom>
          <a:noFill/>
        </p:spPr>
        <p:txBody>
          <a:bodyPr wrap="square" rtlCol="0" anchor="ctr"/>
          <a:lstStyle/>
          <a:p>
            <a:pPr marL="0" indent="0" algn="ctr">
              <a:buNone/>
            </a:pPr>
            <a:r>
              <a:rPr lang="en-US" sz="900" dirty="0">
                <a:solidFill>
                  <a:srgbClr val="5A7490"/>
                </a:solidFill>
                <a:latin typeface="Times New Roman" panose="02020603050405020304" charset="0"/>
                <a:cs typeface="Times New Roman" panose="02020603050405020304" charset="0"/>
              </a:rPr>
              <a:t>Daily Trading Volume</a:t>
            </a:r>
            <a:endParaRPr lang="en-US" sz="900" dirty="0">
              <a:solidFill>
                <a:srgbClr val="5A7490"/>
              </a:solidFill>
              <a:latin typeface="Times New Roman" panose="02020603050405020304" charset="0"/>
              <a:cs typeface="Times New Roman" panose="02020603050405020304" charset="0"/>
            </a:endParaRPr>
          </a:p>
        </p:txBody>
      </p:sp>
      <p:sp>
        <p:nvSpPr>
          <p:cNvPr id="33" name="Text 31"/>
          <p:cNvSpPr/>
          <p:nvPr/>
        </p:nvSpPr>
        <p:spPr>
          <a:xfrm>
            <a:off x="8046720" y="4800600"/>
            <a:ext cx="914400" cy="228600"/>
          </a:xfrm>
          <a:prstGeom prst="rect">
            <a:avLst/>
          </a:prstGeom>
          <a:noFill/>
        </p:spPr>
        <p:txBody>
          <a:bodyPr wrap="square" rtlCol="0" anchor="ctr"/>
          <a:lstStyle/>
          <a:p>
            <a:pPr marL="0" indent="0" algn="r">
              <a:buNone/>
            </a:pPr>
            <a:r>
              <a:rPr lang="en-US" sz="900" dirty="0">
                <a:solidFill>
                  <a:srgbClr val="5A7490"/>
                </a:solidFill>
                <a:latin typeface="Times New Roman" panose="02020603050405020304" charset="0"/>
                <a:cs typeface="Times New Roman" panose="02020603050405020304" charset="0"/>
              </a:rPr>
              <a:t>4 / 19</a:t>
            </a:r>
            <a:endParaRPr lang="en-US" sz="900" dirty="0">
              <a:solidFill>
                <a:srgbClr val="5A7490"/>
              </a:solidFill>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73152" cy="384048"/>
          </a:xfrm>
          <a:prstGeom prst="rect">
            <a:avLst/>
          </a:prstGeom>
          <a:solidFill>
            <a:srgbClr val="0A7EA4"/>
          </a:solidFill>
          <a:ln w="12700">
            <a:solidFill>
              <a:srgbClr val="0A7EA4"/>
            </a:solidFill>
            <a:prstDash val="solid"/>
          </a:ln>
        </p:spPr>
      </p:sp>
      <p:sp>
        <p:nvSpPr>
          <p:cNvPr id="3" name="Text 1"/>
          <p:cNvSpPr/>
          <p:nvPr/>
        </p:nvSpPr>
        <p:spPr>
          <a:xfrm>
            <a:off x="621792" y="182880"/>
            <a:ext cx="7772400" cy="502920"/>
          </a:xfrm>
          <a:prstGeom prst="rect">
            <a:avLst/>
          </a:prstGeom>
          <a:noFill/>
        </p:spPr>
        <p:txBody>
          <a:bodyPr wrap="square" lIns="0" tIns="0" rIns="0" bIns="0" rtlCol="0" anchor="ctr"/>
          <a:lstStyle/>
          <a:p>
            <a:pPr marL="0" indent="0">
              <a:buNone/>
            </a:pPr>
            <a:r>
              <a:rPr lang="en-US" sz="2200" b="1" dirty="0">
                <a:solidFill>
                  <a:srgbClr val="1A2B3C"/>
                </a:solidFill>
                <a:latin typeface="Times New Roman" panose="02020603050405020304" charset="0"/>
                <a:ea typeface="Calibri" panose="020F0502020204030204" pitchFamily="34" charset="-122"/>
                <a:cs typeface="Times New Roman" panose="02020603050405020304" charset="0"/>
              </a:rPr>
              <a:t>Literature Survey</a:t>
            </a:r>
            <a:endParaRPr lang="en-US" sz="2200" b="1" dirty="0">
              <a:solidFill>
                <a:srgbClr val="1A2B3C"/>
              </a:solidFill>
              <a:latin typeface="Times New Roman" panose="02020603050405020304" charset="0"/>
              <a:ea typeface="Calibri" panose="020F0502020204030204" pitchFamily="34" charset="-122"/>
              <a:cs typeface="Times New Roman" panose="02020603050405020304" charset="0"/>
            </a:endParaRPr>
          </a:p>
        </p:txBody>
      </p:sp>
      <p:sp>
        <p:nvSpPr>
          <p:cNvPr id="4" name="Shape 2"/>
          <p:cNvSpPr/>
          <p:nvPr/>
        </p:nvSpPr>
        <p:spPr>
          <a:xfrm>
            <a:off x="457200" y="960120"/>
            <a:ext cx="8229600" cy="1078992"/>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5" name="Shape 3"/>
          <p:cNvSpPr/>
          <p:nvPr/>
        </p:nvSpPr>
        <p:spPr>
          <a:xfrm>
            <a:off x="457200" y="960120"/>
            <a:ext cx="914400" cy="1078992"/>
          </a:xfrm>
          <a:prstGeom prst="rect">
            <a:avLst/>
          </a:prstGeom>
          <a:solidFill>
            <a:srgbClr val="0D2137"/>
          </a:solidFill>
          <a:ln w="12700">
            <a:solidFill>
              <a:srgbClr val="0D2137"/>
            </a:solidFill>
            <a:prstDash val="solid"/>
          </a:ln>
        </p:spPr>
      </p:sp>
      <p:sp>
        <p:nvSpPr>
          <p:cNvPr id="6" name="Text 4"/>
          <p:cNvSpPr/>
          <p:nvPr/>
        </p:nvSpPr>
        <p:spPr>
          <a:xfrm>
            <a:off x="457200" y="960120"/>
            <a:ext cx="914400" cy="1078992"/>
          </a:xfrm>
          <a:prstGeom prst="rect">
            <a:avLst/>
          </a:prstGeom>
          <a:noFill/>
        </p:spPr>
        <p:txBody>
          <a:bodyPr wrap="square" rtlCol="0" anchor="ctr"/>
          <a:lstStyle/>
          <a:p>
            <a:pPr marL="0" indent="0" algn="ctr">
              <a:buNone/>
            </a:pPr>
            <a:r>
              <a:rPr lang="en-US" sz="1800" b="1" dirty="0">
                <a:solidFill>
                  <a:srgbClr val="0A7EA4"/>
                </a:solidFill>
                <a:latin typeface="Times New Roman" panose="02020603050405020304" charset="0"/>
                <a:cs typeface="Times New Roman" panose="02020603050405020304" charset="0"/>
              </a:rPr>
              <a:t>1997</a:t>
            </a:r>
            <a:endParaRPr lang="en-US" sz="1800" b="1" dirty="0">
              <a:solidFill>
                <a:srgbClr val="0A7EA4"/>
              </a:solidFill>
              <a:latin typeface="Times New Roman" panose="02020603050405020304" charset="0"/>
              <a:cs typeface="Times New Roman" panose="02020603050405020304" charset="0"/>
            </a:endParaRPr>
          </a:p>
        </p:txBody>
      </p:sp>
      <p:sp>
        <p:nvSpPr>
          <p:cNvPr id="7" name="Text 5"/>
          <p:cNvSpPr/>
          <p:nvPr/>
        </p:nvSpPr>
        <p:spPr>
          <a:xfrm>
            <a:off x="1508760" y="1005840"/>
            <a:ext cx="6949440" cy="320040"/>
          </a:xfrm>
          <a:prstGeom prst="rect">
            <a:avLst/>
          </a:prstGeom>
          <a:noFill/>
        </p:spPr>
        <p:txBody>
          <a:bodyPr wrap="square" rtlCol="0" anchor="ctr"/>
          <a:lstStyle/>
          <a:p>
            <a:pPr marL="0" indent="0">
              <a:buNone/>
            </a:pPr>
            <a:r>
              <a:rPr lang="en-US" sz="1300" b="1" dirty="0">
                <a:solidFill>
                  <a:srgbClr val="1A2B3C"/>
                </a:solidFill>
                <a:latin typeface="Times New Roman" panose="02020603050405020304" charset="0"/>
                <a:cs typeface="Times New Roman" panose="02020603050405020304" charset="0"/>
              </a:rPr>
              <a:t>Hochreiter &amp; Schmidhuber</a:t>
            </a:r>
            <a:endParaRPr lang="en-US" sz="1300" b="1" dirty="0">
              <a:solidFill>
                <a:srgbClr val="1A2B3C"/>
              </a:solidFill>
              <a:latin typeface="Times New Roman" panose="02020603050405020304" charset="0"/>
              <a:cs typeface="Times New Roman" panose="02020603050405020304" charset="0"/>
            </a:endParaRPr>
          </a:p>
        </p:txBody>
      </p:sp>
      <p:sp>
        <p:nvSpPr>
          <p:cNvPr id="8" name="Text 6"/>
          <p:cNvSpPr/>
          <p:nvPr/>
        </p:nvSpPr>
        <p:spPr>
          <a:xfrm>
            <a:off x="1508760" y="1325880"/>
            <a:ext cx="6949440" cy="594360"/>
          </a:xfrm>
          <a:prstGeom prst="rect">
            <a:avLst/>
          </a:prstGeom>
          <a:noFill/>
        </p:spPr>
        <p:txBody>
          <a:bodyPr wrap="square" rtlCol="0" anchor="ctr"/>
          <a:lstStyle/>
          <a:p>
            <a:pPr marL="0" indent="0">
              <a:buNone/>
            </a:pPr>
            <a:r>
              <a:rPr lang="en-US" sz="1100" dirty="0">
                <a:solidFill>
                  <a:srgbClr val="5A7490"/>
                </a:solidFill>
                <a:latin typeface="Times New Roman" panose="02020603050405020304" charset="0"/>
                <a:cs typeface="Times New Roman" panose="02020603050405020304" charset="0"/>
              </a:rPr>
              <a:t>Introduced LSTM — resolved vanishing gradient in RNNs, enabling long-term sequence learning.</a:t>
            </a:r>
            <a:endParaRPr lang="en-US" sz="1100" dirty="0">
              <a:solidFill>
                <a:srgbClr val="5A7490"/>
              </a:solidFill>
              <a:latin typeface="Times New Roman" panose="02020603050405020304" charset="0"/>
              <a:cs typeface="Times New Roman" panose="02020603050405020304" charset="0"/>
            </a:endParaRPr>
          </a:p>
        </p:txBody>
      </p:sp>
      <p:sp>
        <p:nvSpPr>
          <p:cNvPr id="9" name="Shape 7"/>
          <p:cNvSpPr/>
          <p:nvPr/>
        </p:nvSpPr>
        <p:spPr>
          <a:xfrm>
            <a:off x="457200" y="2221992"/>
            <a:ext cx="8229600" cy="1078992"/>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10" name="Shape 8"/>
          <p:cNvSpPr/>
          <p:nvPr/>
        </p:nvSpPr>
        <p:spPr>
          <a:xfrm>
            <a:off x="457200" y="2221992"/>
            <a:ext cx="914400" cy="1078992"/>
          </a:xfrm>
          <a:prstGeom prst="rect">
            <a:avLst/>
          </a:prstGeom>
          <a:solidFill>
            <a:srgbClr val="0D2137"/>
          </a:solidFill>
          <a:ln w="12700">
            <a:solidFill>
              <a:srgbClr val="0D2137"/>
            </a:solidFill>
            <a:prstDash val="solid"/>
          </a:ln>
        </p:spPr>
      </p:sp>
      <p:sp>
        <p:nvSpPr>
          <p:cNvPr id="11" name="Text 9"/>
          <p:cNvSpPr/>
          <p:nvPr/>
        </p:nvSpPr>
        <p:spPr>
          <a:xfrm>
            <a:off x="457200" y="2221992"/>
            <a:ext cx="914400" cy="1078992"/>
          </a:xfrm>
          <a:prstGeom prst="rect">
            <a:avLst/>
          </a:prstGeom>
          <a:noFill/>
        </p:spPr>
        <p:txBody>
          <a:bodyPr wrap="square" rtlCol="0" anchor="ctr"/>
          <a:lstStyle/>
          <a:p>
            <a:pPr marL="0" indent="0" algn="ctr">
              <a:buNone/>
            </a:pPr>
            <a:r>
              <a:rPr lang="en-US" sz="1800" b="1" dirty="0">
                <a:solidFill>
                  <a:srgbClr val="0A7EA4"/>
                </a:solidFill>
                <a:latin typeface="Times New Roman" panose="02020603050405020304" charset="0"/>
                <a:cs typeface="Times New Roman" panose="02020603050405020304" charset="0"/>
              </a:rPr>
              <a:t>2018</a:t>
            </a:r>
            <a:endParaRPr lang="en-US" sz="1800" b="1" dirty="0">
              <a:solidFill>
                <a:srgbClr val="0A7EA4"/>
              </a:solidFill>
              <a:latin typeface="Times New Roman" panose="02020603050405020304" charset="0"/>
              <a:cs typeface="Times New Roman" panose="02020603050405020304" charset="0"/>
            </a:endParaRPr>
          </a:p>
        </p:txBody>
      </p:sp>
      <p:sp>
        <p:nvSpPr>
          <p:cNvPr id="12" name="Text 10"/>
          <p:cNvSpPr/>
          <p:nvPr/>
        </p:nvSpPr>
        <p:spPr>
          <a:xfrm>
            <a:off x="1508760" y="2267712"/>
            <a:ext cx="6949440" cy="320040"/>
          </a:xfrm>
          <a:prstGeom prst="rect">
            <a:avLst/>
          </a:prstGeom>
          <a:noFill/>
        </p:spPr>
        <p:txBody>
          <a:bodyPr wrap="square" rtlCol="0" anchor="ctr"/>
          <a:lstStyle/>
          <a:p>
            <a:pPr marL="0" indent="0">
              <a:buNone/>
            </a:pPr>
            <a:r>
              <a:rPr lang="en-US" sz="1300" b="1" dirty="0">
                <a:solidFill>
                  <a:srgbClr val="1A2B3C"/>
                </a:solidFill>
                <a:latin typeface="Times New Roman" panose="02020603050405020304" charset="0"/>
                <a:cs typeface="Times New Roman" panose="02020603050405020304" charset="0"/>
              </a:rPr>
              <a:t>Fischer &amp; Krauss</a:t>
            </a:r>
            <a:endParaRPr lang="en-US" sz="1300" b="1" dirty="0">
              <a:solidFill>
                <a:srgbClr val="1A2B3C"/>
              </a:solidFill>
              <a:latin typeface="Times New Roman" panose="02020603050405020304" charset="0"/>
              <a:cs typeface="Times New Roman" panose="02020603050405020304" charset="0"/>
            </a:endParaRPr>
          </a:p>
        </p:txBody>
      </p:sp>
      <p:sp>
        <p:nvSpPr>
          <p:cNvPr id="13" name="Text 11"/>
          <p:cNvSpPr/>
          <p:nvPr/>
        </p:nvSpPr>
        <p:spPr>
          <a:xfrm>
            <a:off x="1508760" y="2587752"/>
            <a:ext cx="6949440" cy="594360"/>
          </a:xfrm>
          <a:prstGeom prst="rect">
            <a:avLst/>
          </a:prstGeom>
          <a:noFill/>
        </p:spPr>
        <p:txBody>
          <a:bodyPr wrap="square" rtlCol="0" anchor="ctr"/>
          <a:lstStyle/>
          <a:p>
            <a:pPr marL="0" indent="0">
              <a:buNone/>
            </a:pPr>
            <a:r>
              <a:rPr lang="en-US" sz="1100" dirty="0">
                <a:solidFill>
                  <a:srgbClr val="5A7490"/>
                </a:solidFill>
                <a:latin typeface="Times New Roman" panose="02020603050405020304" charset="0"/>
                <a:cs typeface="Times New Roman" panose="02020603050405020304" charset="0"/>
              </a:rPr>
              <a:t>LSTM outperforms Random Forest, DNN, and logistic regression for S&amp;P 500 prediction.</a:t>
            </a:r>
            <a:endParaRPr lang="en-US" sz="1100" dirty="0">
              <a:solidFill>
                <a:srgbClr val="5A7490"/>
              </a:solidFill>
              <a:latin typeface="Times New Roman" panose="02020603050405020304" charset="0"/>
              <a:cs typeface="Times New Roman" panose="02020603050405020304" charset="0"/>
            </a:endParaRPr>
          </a:p>
        </p:txBody>
      </p:sp>
      <p:sp>
        <p:nvSpPr>
          <p:cNvPr id="14" name="Shape 12"/>
          <p:cNvSpPr/>
          <p:nvPr/>
        </p:nvSpPr>
        <p:spPr>
          <a:xfrm>
            <a:off x="457200" y="3483864"/>
            <a:ext cx="8229600" cy="1078992"/>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15" name="Shape 13"/>
          <p:cNvSpPr/>
          <p:nvPr/>
        </p:nvSpPr>
        <p:spPr>
          <a:xfrm>
            <a:off x="457200" y="3483864"/>
            <a:ext cx="914400" cy="1078992"/>
          </a:xfrm>
          <a:prstGeom prst="rect">
            <a:avLst/>
          </a:prstGeom>
          <a:solidFill>
            <a:srgbClr val="0D2137"/>
          </a:solidFill>
          <a:ln w="12700">
            <a:solidFill>
              <a:srgbClr val="0D2137"/>
            </a:solidFill>
            <a:prstDash val="solid"/>
          </a:ln>
        </p:spPr>
      </p:sp>
      <p:sp>
        <p:nvSpPr>
          <p:cNvPr id="16" name="Text 14"/>
          <p:cNvSpPr/>
          <p:nvPr/>
        </p:nvSpPr>
        <p:spPr>
          <a:xfrm>
            <a:off x="457200" y="3483864"/>
            <a:ext cx="914400" cy="1078992"/>
          </a:xfrm>
          <a:prstGeom prst="rect">
            <a:avLst/>
          </a:prstGeom>
          <a:noFill/>
        </p:spPr>
        <p:txBody>
          <a:bodyPr wrap="square" rtlCol="0" anchor="ctr"/>
          <a:lstStyle/>
          <a:p>
            <a:pPr marL="0" indent="0" algn="ctr">
              <a:buNone/>
            </a:pPr>
            <a:r>
              <a:rPr lang="en-US" sz="1800" b="1" dirty="0">
                <a:solidFill>
                  <a:srgbClr val="0A7EA4"/>
                </a:solidFill>
                <a:latin typeface="Times New Roman" panose="02020603050405020304" charset="0"/>
                <a:cs typeface="Times New Roman" panose="02020603050405020304" charset="0"/>
              </a:rPr>
              <a:t>2020</a:t>
            </a:r>
            <a:endParaRPr lang="en-US" sz="1800" b="1" dirty="0">
              <a:solidFill>
                <a:srgbClr val="0A7EA4"/>
              </a:solidFill>
              <a:latin typeface="Times New Roman" panose="02020603050405020304" charset="0"/>
              <a:cs typeface="Times New Roman" panose="02020603050405020304" charset="0"/>
            </a:endParaRPr>
          </a:p>
        </p:txBody>
      </p:sp>
      <p:sp>
        <p:nvSpPr>
          <p:cNvPr id="17" name="Text 15"/>
          <p:cNvSpPr/>
          <p:nvPr/>
        </p:nvSpPr>
        <p:spPr>
          <a:xfrm>
            <a:off x="1508760" y="3529584"/>
            <a:ext cx="6949440" cy="320040"/>
          </a:xfrm>
          <a:prstGeom prst="rect">
            <a:avLst/>
          </a:prstGeom>
          <a:noFill/>
        </p:spPr>
        <p:txBody>
          <a:bodyPr wrap="square" rtlCol="0" anchor="ctr"/>
          <a:lstStyle/>
          <a:p>
            <a:pPr marL="0" indent="0">
              <a:buNone/>
            </a:pPr>
            <a:r>
              <a:rPr lang="en-US" sz="1300" b="1" dirty="0">
                <a:solidFill>
                  <a:srgbClr val="1A2B3C"/>
                </a:solidFill>
                <a:latin typeface="Times New Roman" panose="02020603050405020304" charset="0"/>
                <a:cs typeface="Times New Roman" panose="02020603050405020304" charset="0"/>
              </a:rPr>
              <a:t>Moghar &amp; Hamiche</a:t>
            </a:r>
            <a:endParaRPr lang="en-US" sz="1300" b="1" dirty="0">
              <a:solidFill>
                <a:srgbClr val="1A2B3C"/>
              </a:solidFill>
              <a:latin typeface="Times New Roman" panose="02020603050405020304" charset="0"/>
              <a:cs typeface="Times New Roman" panose="02020603050405020304" charset="0"/>
            </a:endParaRPr>
          </a:p>
        </p:txBody>
      </p:sp>
      <p:sp>
        <p:nvSpPr>
          <p:cNvPr id="18" name="Text 16"/>
          <p:cNvSpPr/>
          <p:nvPr/>
        </p:nvSpPr>
        <p:spPr>
          <a:xfrm>
            <a:off x="1508760" y="3849624"/>
            <a:ext cx="6949440" cy="594360"/>
          </a:xfrm>
          <a:prstGeom prst="rect">
            <a:avLst/>
          </a:prstGeom>
          <a:noFill/>
        </p:spPr>
        <p:txBody>
          <a:bodyPr wrap="square" rtlCol="0" anchor="ctr"/>
          <a:lstStyle/>
          <a:p>
            <a:pPr marL="0" indent="0">
              <a:buNone/>
            </a:pPr>
            <a:r>
              <a:rPr lang="en-US" sz="1100" dirty="0">
                <a:solidFill>
                  <a:srgbClr val="5A7490"/>
                </a:solidFill>
                <a:latin typeface="Times New Roman" panose="02020603050405020304" charset="0"/>
                <a:cs typeface="Times New Roman" panose="02020603050405020304" charset="0"/>
              </a:rPr>
              <a:t>Applied LSTM to NSE data — achieved MAPE &lt; 2%, validating for Indian market conditions.</a:t>
            </a:r>
            <a:endParaRPr lang="en-US" sz="1100" dirty="0">
              <a:solidFill>
                <a:srgbClr val="5A7490"/>
              </a:solidFill>
              <a:latin typeface="Times New Roman" panose="02020603050405020304" charset="0"/>
              <a:cs typeface="Times New Roman" panose="02020603050405020304" charset="0"/>
            </a:endParaRPr>
          </a:p>
        </p:txBody>
      </p:sp>
      <p:sp>
        <p:nvSpPr>
          <p:cNvPr id="19" name="Text 17"/>
          <p:cNvSpPr/>
          <p:nvPr/>
        </p:nvSpPr>
        <p:spPr>
          <a:xfrm>
            <a:off x="457200" y="4663440"/>
            <a:ext cx="8229600" cy="365760"/>
          </a:xfrm>
          <a:prstGeom prst="rect">
            <a:avLst/>
          </a:prstGeom>
          <a:noFill/>
        </p:spPr>
        <p:txBody>
          <a:bodyPr wrap="square" rtlCol="0" anchor="ctr"/>
          <a:lstStyle/>
          <a:p>
            <a:pPr marL="0" indent="0">
              <a:buNone/>
            </a:pPr>
            <a:r>
              <a:rPr lang="en-US" sz="1100" i="1" dirty="0">
                <a:solidFill>
                  <a:srgbClr val="5A7490"/>
                </a:solidFill>
                <a:latin typeface="Times New Roman" panose="02020603050405020304" charset="0"/>
                <a:cs typeface="Times New Roman" panose="02020603050405020304" charset="0"/>
              </a:rPr>
              <a:t>Earlier ARIMA and GARCH models handled short-term linear trends but failed to capture complex non-linear market dependencies — motivating the shift to deep learning approaches.</a:t>
            </a:r>
            <a:endParaRPr lang="en-US" sz="1100" i="1" dirty="0">
              <a:solidFill>
                <a:srgbClr val="5A7490"/>
              </a:solidFill>
              <a:latin typeface="Times New Roman" panose="02020603050405020304" charset="0"/>
              <a:cs typeface="Times New Roman" panose="02020603050405020304" charset="0"/>
            </a:endParaRPr>
          </a:p>
        </p:txBody>
      </p:sp>
      <p:sp>
        <p:nvSpPr>
          <p:cNvPr id="20" name="Text 18"/>
          <p:cNvSpPr/>
          <p:nvPr/>
        </p:nvSpPr>
        <p:spPr>
          <a:xfrm>
            <a:off x="8046720" y="4800600"/>
            <a:ext cx="914400" cy="228600"/>
          </a:xfrm>
          <a:prstGeom prst="rect">
            <a:avLst/>
          </a:prstGeom>
          <a:noFill/>
        </p:spPr>
        <p:txBody>
          <a:bodyPr wrap="square" rtlCol="0" anchor="ctr"/>
          <a:lstStyle/>
          <a:p>
            <a:pPr marL="0" indent="0" algn="r">
              <a:buNone/>
            </a:pPr>
            <a:r>
              <a:rPr lang="en-US" sz="900" dirty="0">
                <a:solidFill>
                  <a:srgbClr val="5A7490"/>
                </a:solidFill>
                <a:latin typeface="Times New Roman" panose="02020603050405020304" charset="0"/>
                <a:cs typeface="Times New Roman" panose="02020603050405020304" charset="0"/>
              </a:rPr>
              <a:t>5 / 19</a:t>
            </a:r>
            <a:endParaRPr lang="en-US" sz="900" dirty="0">
              <a:solidFill>
                <a:srgbClr val="5A7490"/>
              </a:solidFill>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73152" cy="384048"/>
          </a:xfrm>
          <a:prstGeom prst="rect">
            <a:avLst/>
          </a:prstGeom>
          <a:solidFill>
            <a:srgbClr val="0A7EA4"/>
          </a:solidFill>
          <a:ln w="12700">
            <a:solidFill>
              <a:srgbClr val="0A7EA4"/>
            </a:solidFill>
            <a:prstDash val="solid"/>
          </a:ln>
        </p:spPr>
      </p:sp>
      <p:sp>
        <p:nvSpPr>
          <p:cNvPr id="3" name="Text 1"/>
          <p:cNvSpPr/>
          <p:nvPr/>
        </p:nvSpPr>
        <p:spPr>
          <a:xfrm>
            <a:off x="621792" y="182880"/>
            <a:ext cx="7772400" cy="502920"/>
          </a:xfrm>
          <a:prstGeom prst="rect">
            <a:avLst/>
          </a:prstGeom>
          <a:noFill/>
        </p:spPr>
        <p:txBody>
          <a:bodyPr wrap="square" lIns="0" tIns="0" rIns="0" bIns="0" rtlCol="0" anchor="ctr"/>
          <a:lstStyle/>
          <a:p>
            <a:pPr marL="0" indent="0">
              <a:buNone/>
            </a:pPr>
            <a:r>
              <a:rPr lang="en-US" sz="2200" b="1" dirty="0">
                <a:solidFill>
                  <a:srgbClr val="1A2B3C"/>
                </a:solidFill>
                <a:latin typeface="Times New Roman" panose="02020603050405020304" charset="0"/>
                <a:ea typeface="Calibri" panose="020F0502020204030204" pitchFamily="34" charset="-122"/>
                <a:cs typeface="Times New Roman" panose="02020603050405020304" charset="0"/>
              </a:rPr>
              <a:t>Data Collection — yfinance API</a:t>
            </a:r>
            <a:endParaRPr lang="en-US" sz="2200" b="1" dirty="0">
              <a:solidFill>
                <a:srgbClr val="1A2B3C"/>
              </a:solidFill>
              <a:latin typeface="Times New Roman" panose="02020603050405020304" charset="0"/>
              <a:ea typeface="Calibri" panose="020F0502020204030204" pitchFamily="34" charset="-122"/>
              <a:cs typeface="Times New Roman" panose="02020603050405020304" charset="0"/>
            </a:endParaRPr>
          </a:p>
        </p:txBody>
      </p:sp>
      <p:sp>
        <p:nvSpPr>
          <p:cNvPr id="4" name="Shape 2"/>
          <p:cNvSpPr/>
          <p:nvPr/>
        </p:nvSpPr>
        <p:spPr>
          <a:xfrm>
            <a:off x="457200" y="822960"/>
            <a:ext cx="4114800" cy="3931920"/>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5" name="Text 3"/>
          <p:cNvSpPr/>
          <p:nvPr/>
        </p:nvSpPr>
        <p:spPr>
          <a:xfrm>
            <a:off x="594360" y="868680"/>
            <a:ext cx="3840480" cy="347472"/>
          </a:xfrm>
          <a:prstGeom prst="rect">
            <a:avLst/>
          </a:prstGeom>
          <a:noFill/>
        </p:spPr>
        <p:txBody>
          <a:bodyPr wrap="square" rtlCol="0" anchor="ctr"/>
          <a:lstStyle/>
          <a:p>
            <a:pPr marL="0" indent="0">
              <a:buNone/>
            </a:pPr>
            <a:r>
              <a:rPr lang="en-US" sz="1300" b="1" dirty="0">
                <a:solidFill>
                  <a:srgbClr val="0A7EA4"/>
                </a:solidFill>
                <a:latin typeface="Times New Roman" panose="02020603050405020304" charset="0"/>
                <a:cs typeface="Times New Roman" panose="02020603050405020304" charset="0"/>
              </a:rPr>
              <a:t>Primary Source: yfinance API</a:t>
            </a:r>
            <a:endParaRPr lang="en-US" sz="1300" b="1" dirty="0">
              <a:solidFill>
                <a:srgbClr val="0A7EA4"/>
              </a:solidFill>
              <a:latin typeface="Times New Roman" panose="02020603050405020304" charset="0"/>
              <a:cs typeface="Times New Roman" panose="02020603050405020304" charset="0"/>
            </a:endParaRPr>
          </a:p>
        </p:txBody>
      </p:sp>
      <p:sp>
        <p:nvSpPr>
          <p:cNvPr id="6" name="Text 4"/>
          <p:cNvSpPr/>
          <p:nvPr/>
        </p:nvSpPr>
        <p:spPr>
          <a:xfrm>
            <a:off x="594360" y="1298448"/>
            <a:ext cx="3840480" cy="1645920"/>
          </a:xfrm>
          <a:prstGeom prst="rect">
            <a:avLst/>
          </a:prstGeom>
          <a:noFill/>
        </p:spPr>
        <p:txBody>
          <a:bodyPr wrap="square" rtlCol="0" anchor="ctr"/>
          <a:lstStyle/>
          <a:p>
            <a:pPr marL="0" indent="0">
              <a:buNone/>
            </a:pPr>
            <a:r>
              <a:rPr lang="en-US" sz="1200" b="1" dirty="0">
                <a:solidFill>
                  <a:srgbClr val="1A2B3C"/>
                </a:solidFill>
                <a:latin typeface="Times New Roman" panose="02020603050405020304" charset="0"/>
                <a:cs typeface="Times New Roman" panose="02020603050405020304" charset="0"/>
              </a:rPr>
              <a:t>Ticker: </a:t>
            </a:r>
            <a:r>
              <a:rPr lang="en-US" sz="1200" dirty="0">
                <a:solidFill>
                  <a:srgbClr val="1A2B3C"/>
                </a:solidFill>
                <a:latin typeface="Times New Roman" panose="02020603050405020304" charset="0"/>
                <a:cs typeface="Times New Roman" panose="02020603050405020304" charset="0"/>
              </a:rPr>
              <a:t>^NSEI (NIFTY 50 Index)
</a:t>
            </a:r>
            <a:r>
              <a:rPr lang="en-US" sz="1200" b="1" dirty="0">
                <a:solidFill>
                  <a:srgbClr val="1A2B3C"/>
                </a:solidFill>
                <a:latin typeface="Times New Roman" panose="02020603050405020304" charset="0"/>
                <a:cs typeface="Times New Roman" panose="02020603050405020304" charset="0"/>
              </a:rPr>
              <a:t>Stocks: </a:t>
            </a:r>
            <a:r>
              <a:rPr lang="en-US" sz="1200" dirty="0">
                <a:solidFill>
                  <a:srgbClr val="1A2B3C"/>
                </a:solidFill>
                <a:latin typeface="Times New Roman" panose="02020603050405020304" charset="0"/>
                <a:cs typeface="Times New Roman" panose="02020603050405020304" charset="0"/>
              </a:rPr>
              <a:t>RELIANCE.NS, TCS.NS, INFY.NS, HDFCBANK.NS
</a:t>
            </a:r>
            <a:r>
              <a:rPr lang="en-US" sz="1200" b="1" dirty="0">
                <a:solidFill>
                  <a:srgbClr val="1A2B3C"/>
                </a:solidFill>
                <a:latin typeface="Times New Roman" panose="02020603050405020304" charset="0"/>
                <a:cs typeface="Times New Roman" panose="02020603050405020304" charset="0"/>
              </a:rPr>
              <a:t>Period: </a:t>
            </a:r>
            <a:r>
              <a:rPr lang="en-US" sz="1200" dirty="0">
                <a:solidFill>
                  <a:srgbClr val="1A2B3C"/>
                </a:solidFill>
                <a:latin typeface="Times New Roman" panose="02020603050405020304" charset="0"/>
                <a:cs typeface="Times New Roman" panose="02020603050405020304" charset="0"/>
              </a:rPr>
              <a:t>Jan 2019 – Dec 2024 (5 Years)
</a:t>
            </a:r>
            <a:r>
              <a:rPr lang="en-US" sz="1200" b="1" dirty="0">
                <a:solidFill>
                  <a:srgbClr val="1A2B3C"/>
                </a:solidFill>
                <a:latin typeface="Times New Roman" panose="02020603050405020304" charset="0"/>
                <a:cs typeface="Times New Roman" panose="02020603050405020304" charset="0"/>
              </a:rPr>
              <a:t>Coverage: </a:t>
            </a:r>
            <a:r>
              <a:rPr lang="en-US" sz="1200" dirty="0">
                <a:solidFill>
                  <a:srgbClr val="1A2B3C"/>
                </a:solidFill>
                <a:latin typeface="Times New Roman" panose="02020603050405020304" charset="0"/>
                <a:cs typeface="Times New Roman" panose="02020603050405020304" charset="0"/>
              </a:rPr>
              <a:t>Includes COVID-19 crash &amp; recovery cycle</a:t>
            </a:r>
            <a:endParaRPr lang="en-US" sz="1200" dirty="0">
              <a:latin typeface="Times New Roman" panose="02020603050405020304" charset="0"/>
              <a:cs typeface="Times New Roman" panose="02020603050405020304" charset="0"/>
            </a:endParaRPr>
          </a:p>
        </p:txBody>
      </p:sp>
      <p:sp>
        <p:nvSpPr>
          <p:cNvPr id="7" name="Shape 5"/>
          <p:cNvSpPr/>
          <p:nvPr/>
        </p:nvSpPr>
        <p:spPr>
          <a:xfrm>
            <a:off x="594360" y="2999232"/>
            <a:ext cx="3840480" cy="45720"/>
          </a:xfrm>
          <a:prstGeom prst="rect">
            <a:avLst/>
          </a:prstGeom>
          <a:solidFill>
            <a:srgbClr val="E0EAF2"/>
          </a:solidFill>
          <a:ln w="12700">
            <a:solidFill>
              <a:srgbClr val="E0EAF2"/>
            </a:solidFill>
            <a:prstDash val="solid"/>
          </a:ln>
        </p:spPr>
      </p:sp>
      <p:sp>
        <p:nvSpPr>
          <p:cNvPr id="8" name="Text 6"/>
          <p:cNvSpPr/>
          <p:nvPr/>
        </p:nvSpPr>
        <p:spPr>
          <a:xfrm>
            <a:off x="594360" y="3127248"/>
            <a:ext cx="3840480" cy="502920"/>
          </a:xfrm>
          <a:prstGeom prst="rect">
            <a:avLst/>
          </a:prstGeom>
          <a:noFill/>
        </p:spPr>
        <p:txBody>
          <a:bodyPr wrap="square" rtlCol="0" anchor="ctr"/>
          <a:lstStyle/>
          <a:p>
            <a:pPr marL="0" indent="0">
              <a:buNone/>
            </a:pPr>
            <a:r>
              <a:rPr lang="en-US" sz="1100" dirty="0">
                <a:solidFill>
                  <a:srgbClr val="5A7490"/>
                </a:solidFill>
                <a:latin typeface="Times New Roman" panose="02020603050405020304" charset="0"/>
                <a:cs typeface="Times New Roman" panose="02020603050405020304" charset="0"/>
              </a:rPr>
              <a:t>Secondary: Kaggle — NSE NIFTY 50 Stock Dataset (Rohan Rao, 2021)</a:t>
            </a:r>
            <a:endParaRPr lang="en-US" sz="1100" dirty="0">
              <a:solidFill>
                <a:srgbClr val="5A7490"/>
              </a:solidFill>
              <a:latin typeface="Times New Roman" panose="02020603050405020304" charset="0"/>
              <a:cs typeface="Times New Roman" panose="02020603050405020304" charset="0"/>
            </a:endParaRPr>
          </a:p>
        </p:txBody>
      </p:sp>
      <p:sp>
        <p:nvSpPr>
          <p:cNvPr id="9" name="Shape 7"/>
          <p:cNvSpPr/>
          <p:nvPr/>
        </p:nvSpPr>
        <p:spPr>
          <a:xfrm>
            <a:off x="4754880" y="822960"/>
            <a:ext cx="3931920" cy="3931920"/>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10" name="Text 8"/>
          <p:cNvSpPr/>
          <p:nvPr/>
        </p:nvSpPr>
        <p:spPr>
          <a:xfrm>
            <a:off x="4892040" y="868680"/>
            <a:ext cx="3657600" cy="347472"/>
          </a:xfrm>
          <a:prstGeom prst="rect">
            <a:avLst/>
          </a:prstGeom>
          <a:noFill/>
        </p:spPr>
        <p:txBody>
          <a:bodyPr wrap="square" rtlCol="0" anchor="ctr"/>
          <a:lstStyle/>
          <a:p>
            <a:pPr marL="0" indent="0">
              <a:buNone/>
            </a:pPr>
            <a:r>
              <a:rPr lang="en-US" sz="1300" b="1" dirty="0">
                <a:solidFill>
                  <a:srgbClr val="0A7EA4"/>
                </a:solidFill>
                <a:latin typeface="Times New Roman" panose="02020603050405020304" charset="0"/>
                <a:cs typeface="Times New Roman" panose="02020603050405020304" charset="0"/>
              </a:rPr>
              <a:t>Dataset Features (OHLCV)</a:t>
            </a:r>
            <a:endParaRPr lang="en-US" sz="1300" b="1" dirty="0">
              <a:solidFill>
                <a:srgbClr val="0A7EA4"/>
              </a:solidFill>
              <a:latin typeface="Times New Roman" panose="02020603050405020304" charset="0"/>
              <a:cs typeface="Times New Roman" panose="02020603050405020304" charset="0"/>
            </a:endParaRPr>
          </a:p>
        </p:txBody>
      </p:sp>
      <p:graphicFrame>
        <p:nvGraphicFramePr>
          <p:cNvPr id="11" name="Table 0"/>
          <p:cNvGraphicFramePr>
            <a:graphicFrameLocks noGrp="1"/>
          </p:cNvGraphicFramePr>
          <p:nvPr/>
        </p:nvGraphicFramePr>
        <p:xfrm>
          <a:off x="4892040" y="1298448"/>
          <a:ext cx="3657600" cy="3108960"/>
        </p:xfrm>
        <a:graphic>
          <a:graphicData uri="http://schemas.openxmlformats.org/drawingml/2006/table">
            <a:tbl>
              <a:tblPr/>
              <a:tblGrid>
                <a:gridCol w="1005840"/>
                <a:gridCol w="822960"/>
                <a:gridCol w="1828800"/>
              </a:tblGrid>
              <a:tr h="444137">
                <a:tc>
                  <a:txBody>
                    <a:bodyPr/>
                    <a:lstStyle/>
                    <a:p>
                      <a:pPr marL="0" indent="0">
                        <a:buNone/>
                      </a:pPr>
                      <a:r>
                        <a:rPr lang="en-US" sz="1000" b="1" dirty="0">
                          <a:solidFill>
                            <a:srgbClr val="FFFFFF"/>
                          </a:solidFill>
                          <a:latin typeface="Times New Roman" panose="02020603050405020304" charset="0"/>
                          <a:cs typeface="Times New Roman" panose="02020603050405020304" charset="0"/>
                        </a:rPr>
                        <a:t>Column</a:t>
                      </a:r>
                      <a:endParaRPr lang="en-US" sz="1000" b="1" dirty="0">
                        <a:solidFill>
                          <a:srgbClr val="FFFFFF"/>
                        </a:solidFill>
                        <a:latin typeface="Times New Roman" panose="02020603050405020304" charset="0"/>
                        <a:cs typeface="Times New Roman" panose="02020603050405020304" charset="0"/>
                      </a:endParaRPr>
                    </a:p>
                  </a:txBody>
                  <a:tcPr>
                    <a:lnL w="0" cap="flat" cmpd="sng" algn="ctr">
                      <a:noFill/>
                    </a:lnL>
                    <a:lnR w="0" cap="flat" cmpd="sng" algn="ctr">
                      <a:noFill/>
                    </a:lnR>
                    <a:lnT w="0" cap="flat" cmpd="sng" algn="ctr">
                      <a:noFill/>
                    </a:lnT>
                    <a:lnB w="0" cap="flat" cmpd="sng" algn="ctr">
                      <a:noFill/>
                    </a:lnB>
                    <a:solidFill>
                      <a:srgbClr val="0A7EA4"/>
                    </a:solidFill>
                  </a:tcPr>
                </a:tc>
                <a:tc>
                  <a:txBody>
                    <a:bodyPr/>
                    <a:lstStyle/>
                    <a:p>
                      <a:pPr marL="0" indent="0">
                        <a:buNone/>
                      </a:pPr>
                      <a:r>
                        <a:rPr lang="en-US" sz="1000" b="1" dirty="0">
                          <a:solidFill>
                            <a:srgbClr val="FFFFFF"/>
                          </a:solidFill>
                          <a:latin typeface="Times New Roman" panose="02020603050405020304" charset="0"/>
                          <a:cs typeface="Times New Roman" panose="02020603050405020304" charset="0"/>
                        </a:rPr>
                        <a:t>Type</a:t>
                      </a:r>
                      <a:endParaRPr lang="en-US" sz="1000" b="1" dirty="0">
                        <a:solidFill>
                          <a:srgbClr val="FFFFFF"/>
                        </a:solidFill>
                        <a:latin typeface="Times New Roman" panose="02020603050405020304" charset="0"/>
                        <a:cs typeface="Times New Roman" panose="02020603050405020304" charset="0"/>
                      </a:endParaRPr>
                    </a:p>
                  </a:txBody>
                  <a:tcPr>
                    <a:lnL w="0" cap="flat" cmpd="sng" algn="ctr">
                      <a:noFill/>
                    </a:lnL>
                    <a:lnR w="0" cap="flat" cmpd="sng" algn="ctr">
                      <a:noFill/>
                    </a:lnR>
                    <a:lnT w="0" cap="flat" cmpd="sng" algn="ctr">
                      <a:noFill/>
                    </a:lnT>
                    <a:lnB w="0" cap="flat" cmpd="sng" algn="ctr">
                      <a:noFill/>
                    </a:lnB>
                    <a:solidFill>
                      <a:srgbClr val="0A7EA4"/>
                    </a:solidFill>
                  </a:tcPr>
                </a:tc>
                <a:tc>
                  <a:txBody>
                    <a:bodyPr/>
                    <a:lstStyle/>
                    <a:p>
                      <a:pPr marL="0" indent="0">
                        <a:buNone/>
                      </a:pPr>
                      <a:r>
                        <a:rPr lang="en-US" sz="1000" b="1" dirty="0">
                          <a:solidFill>
                            <a:srgbClr val="FFFFFF"/>
                          </a:solidFill>
                          <a:latin typeface="Times New Roman" panose="02020603050405020304" charset="0"/>
                          <a:cs typeface="Times New Roman" panose="02020603050405020304" charset="0"/>
                        </a:rPr>
                        <a:t>Description</a:t>
                      </a:r>
                      <a:endParaRPr lang="en-US" sz="1000" b="1" dirty="0">
                        <a:solidFill>
                          <a:srgbClr val="FFFFFF"/>
                        </a:solidFill>
                        <a:latin typeface="Times New Roman" panose="02020603050405020304" charset="0"/>
                        <a:cs typeface="Times New Roman" panose="02020603050405020304" charset="0"/>
                      </a:endParaRPr>
                    </a:p>
                  </a:txBody>
                  <a:tcPr>
                    <a:lnL w="0" cap="flat" cmpd="sng" algn="ctr">
                      <a:noFill/>
                    </a:lnL>
                    <a:lnR w="0" cap="flat" cmpd="sng" algn="ctr">
                      <a:noFill/>
                    </a:lnR>
                    <a:lnT w="0" cap="flat" cmpd="sng" algn="ctr">
                      <a:noFill/>
                    </a:lnT>
                    <a:lnB w="0" cap="flat" cmpd="sng" algn="ctr">
                      <a:noFill/>
                    </a:lnB>
                    <a:solidFill>
                      <a:srgbClr val="0A7EA4"/>
                    </a:solidFill>
                  </a:tcPr>
                </a:tc>
              </a:tr>
              <a:tr h="444137">
                <a:tc>
                  <a:txBody>
                    <a:bodyPr/>
                    <a:lstStyle/>
                    <a:p>
                      <a:pPr marL="0" indent="0">
                        <a:buNone/>
                      </a:pPr>
                      <a:r>
                        <a:rPr lang="en-US" sz="1000" dirty="0">
                          <a:solidFill>
                            <a:srgbClr val="1A2B3C"/>
                          </a:solidFill>
                          <a:latin typeface="Times New Roman" panose="02020603050405020304" charset="0"/>
                          <a:cs typeface="Times New Roman" panose="02020603050405020304" charset="0"/>
                        </a:rPr>
                        <a:t>Date</a:t>
                      </a:r>
                      <a:endParaRPr lang="en-US" sz="1000" dirty="0">
                        <a:solidFill>
                          <a:srgbClr val="1A2B3C"/>
                        </a:solidFill>
                        <a:latin typeface="Times New Roman" panose="02020603050405020304" charset="0"/>
                        <a:cs typeface="Times New Roman" panose="02020603050405020304" charset="0"/>
                      </a:endParaRPr>
                    </a:p>
                  </a:txBody>
                  <a:tcPr>
                    <a:lnL w="0" cap="flat" cmpd="sng" algn="ctr">
                      <a:noFill/>
                    </a:lnL>
                    <a:lnR w="0" cap="flat" cmpd="sng" algn="ctr">
                      <a:noFill/>
                    </a:lnR>
                    <a:lnT w="0" cap="flat" cmpd="sng" algn="ctr">
                      <a:noFill/>
                    </a:lnT>
                    <a:lnB w="0" cap="flat" cmpd="sng" algn="ctr">
                      <a:noFill/>
                    </a:lnB>
                    <a:solidFill>
                      <a:srgbClr val="EEF5FB"/>
                    </a:solidFill>
                  </a:tcPr>
                </a:tc>
                <a:tc>
                  <a:txBody>
                    <a:bodyPr/>
                    <a:lstStyle/>
                    <a:p>
                      <a:pPr marL="0" indent="0">
                        <a:buNone/>
                      </a:pPr>
                      <a:r>
                        <a:rPr lang="en-US" sz="1000" dirty="0">
                          <a:solidFill>
                            <a:srgbClr val="1A2B3C"/>
                          </a:solidFill>
                          <a:latin typeface="Times New Roman" panose="02020603050405020304" charset="0"/>
                          <a:cs typeface="Times New Roman" panose="02020603050405020304" charset="0"/>
                        </a:rPr>
                        <a:t>DateTime</a:t>
                      </a:r>
                      <a:endParaRPr lang="en-US" sz="1000" dirty="0">
                        <a:solidFill>
                          <a:srgbClr val="1A2B3C"/>
                        </a:solidFill>
                        <a:latin typeface="Times New Roman" panose="02020603050405020304" charset="0"/>
                        <a:cs typeface="Times New Roman" panose="02020603050405020304" charset="0"/>
                      </a:endParaRPr>
                    </a:p>
                  </a:txBody>
                  <a:tcPr>
                    <a:lnL w="0" cap="flat" cmpd="sng" algn="ctr">
                      <a:noFill/>
                    </a:lnL>
                    <a:lnR w="0" cap="flat" cmpd="sng" algn="ctr">
                      <a:noFill/>
                    </a:lnR>
                    <a:lnT w="0" cap="flat" cmpd="sng" algn="ctr">
                      <a:noFill/>
                    </a:lnT>
                    <a:lnB w="0" cap="flat" cmpd="sng" algn="ctr">
                      <a:noFill/>
                    </a:lnB>
                    <a:solidFill>
                      <a:srgbClr val="EEF5FB"/>
                    </a:solidFill>
                  </a:tcPr>
                </a:tc>
                <a:tc>
                  <a:txBody>
                    <a:bodyPr/>
                    <a:lstStyle/>
                    <a:p>
                      <a:pPr marL="0" indent="0">
                        <a:buNone/>
                      </a:pPr>
                      <a:r>
                        <a:rPr lang="en-US" sz="1000" dirty="0">
                          <a:solidFill>
                            <a:srgbClr val="1A2B3C"/>
                          </a:solidFill>
                          <a:latin typeface="Times New Roman" panose="02020603050405020304" charset="0"/>
                          <a:cs typeface="Times New Roman" panose="02020603050405020304" charset="0"/>
                        </a:rPr>
                        <a:t>Trading date (index)</a:t>
                      </a:r>
                      <a:endParaRPr lang="en-US" sz="1000" dirty="0">
                        <a:solidFill>
                          <a:srgbClr val="1A2B3C"/>
                        </a:solidFill>
                        <a:latin typeface="Times New Roman" panose="02020603050405020304" charset="0"/>
                        <a:cs typeface="Times New Roman" panose="02020603050405020304" charset="0"/>
                      </a:endParaRPr>
                    </a:p>
                  </a:txBody>
                  <a:tcPr>
                    <a:lnL w="0" cap="flat" cmpd="sng" algn="ctr">
                      <a:noFill/>
                    </a:lnL>
                    <a:lnR w="0" cap="flat" cmpd="sng" algn="ctr">
                      <a:noFill/>
                    </a:lnR>
                    <a:lnT w="0" cap="flat" cmpd="sng" algn="ctr">
                      <a:noFill/>
                    </a:lnT>
                    <a:lnB w="0" cap="flat" cmpd="sng" algn="ctr">
                      <a:noFill/>
                    </a:lnB>
                    <a:solidFill>
                      <a:srgbClr val="EEF5FB"/>
                    </a:solidFill>
                  </a:tcPr>
                </a:tc>
              </a:tr>
              <a:tr h="444137">
                <a:tc>
                  <a:txBody>
                    <a:bodyPr/>
                    <a:lstStyle/>
                    <a:p>
                      <a:pPr marL="0" indent="0">
                        <a:buNone/>
                      </a:pPr>
                      <a:r>
                        <a:rPr lang="en-US" sz="1000" dirty="0">
                          <a:solidFill>
                            <a:srgbClr val="1A2B3C"/>
                          </a:solidFill>
                          <a:latin typeface="Times New Roman" panose="02020603050405020304" charset="0"/>
                          <a:cs typeface="Times New Roman" panose="02020603050405020304" charset="0"/>
                        </a:rPr>
                        <a:t>Open</a:t>
                      </a:r>
                      <a:endParaRPr lang="en-US" sz="1000" dirty="0">
                        <a:solidFill>
                          <a:srgbClr val="1A2B3C"/>
                        </a:solidFill>
                        <a:latin typeface="Times New Roman" panose="02020603050405020304" charset="0"/>
                        <a:cs typeface="Times New Roman" panose="02020603050405020304"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000" dirty="0">
                          <a:solidFill>
                            <a:srgbClr val="1A2B3C"/>
                          </a:solidFill>
                          <a:latin typeface="Times New Roman" panose="02020603050405020304" charset="0"/>
                          <a:cs typeface="Times New Roman" panose="02020603050405020304" charset="0"/>
                        </a:rPr>
                        <a:t>Float64</a:t>
                      </a:r>
                      <a:endParaRPr lang="en-US" sz="1000" dirty="0">
                        <a:solidFill>
                          <a:srgbClr val="1A2B3C"/>
                        </a:solidFill>
                        <a:latin typeface="Times New Roman" panose="02020603050405020304" charset="0"/>
                        <a:cs typeface="Times New Roman" panose="02020603050405020304"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000" dirty="0">
                          <a:solidFill>
                            <a:srgbClr val="1A2B3C"/>
                          </a:solidFill>
                          <a:latin typeface="Times New Roman" panose="02020603050405020304" charset="0"/>
                          <a:cs typeface="Times New Roman" panose="02020603050405020304" charset="0"/>
                        </a:rPr>
                        <a:t>Opening price (INR)</a:t>
                      </a:r>
                      <a:endParaRPr lang="en-US" sz="1000" dirty="0">
                        <a:solidFill>
                          <a:srgbClr val="1A2B3C"/>
                        </a:solidFill>
                        <a:latin typeface="Times New Roman" panose="02020603050405020304" charset="0"/>
                        <a:cs typeface="Times New Roman" panose="02020603050405020304" charset="0"/>
                      </a:endParaRPr>
                    </a:p>
                  </a:txBody>
                  <a:tcPr>
                    <a:lnL w="0" cap="flat" cmpd="sng" algn="ctr">
                      <a:noFill/>
                    </a:lnL>
                    <a:lnR w="0" cap="flat" cmpd="sng" algn="ctr">
                      <a:noFill/>
                    </a:lnR>
                    <a:lnT w="0" cap="flat" cmpd="sng" algn="ctr">
                      <a:noFill/>
                    </a:lnT>
                    <a:lnB w="0" cap="flat" cmpd="sng" algn="ctr">
                      <a:noFill/>
                    </a:lnB>
                    <a:solidFill>
                      <a:srgbClr val="FFFFFF"/>
                    </a:solidFill>
                  </a:tcPr>
                </a:tc>
              </a:tr>
              <a:tr h="444137">
                <a:tc>
                  <a:txBody>
                    <a:bodyPr/>
                    <a:lstStyle/>
                    <a:p>
                      <a:pPr marL="0" indent="0">
                        <a:buNone/>
                      </a:pPr>
                      <a:r>
                        <a:rPr lang="en-US" sz="1000" dirty="0">
                          <a:solidFill>
                            <a:srgbClr val="1A2B3C"/>
                          </a:solidFill>
                          <a:latin typeface="Times New Roman" panose="02020603050405020304" charset="0"/>
                          <a:cs typeface="Times New Roman" panose="02020603050405020304" charset="0"/>
                        </a:rPr>
                        <a:t>High</a:t>
                      </a:r>
                      <a:endParaRPr lang="en-US" sz="1000" dirty="0">
                        <a:solidFill>
                          <a:srgbClr val="1A2B3C"/>
                        </a:solidFill>
                        <a:latin typeface="Times New Roman" panose="02020603050405020304" charset="0"/>
                        <a:cs typeface="Times New Roman" panose="02020603050405020304" charset="0"/>
                      </a:endParaRPr>
                    </a:p>
                  </a:txBody>
                  <a:tcPr>
                    <a:lnL w="0" cap="flat" cmpd="sng" algn="ctr">
                      <a:noFill/>
                    </a:lnL>
                    <a:lnR w="0" cap="flat" cmpd="sng" algn="ctr">
                      <a:noFill/>
                    </a:lnR>
                    <a:lnT w="0" cap="flat" cmpd="sng" algn="ctr">
                      <a:noFill/>
                    </a:lnT>
                    <a:lnB w="0" cap="flat" cmpd="sng" algn="ctr">
                      <a:noFill/>
                    </a:lnB>
                    <a:solidFill>
                      <a:srgbClr val="EEF5FB"/>
                    </a:solidFill>
                  </a:tcPr>
                </a:tc>
                <a:tc>
                  <a:txBody>
                    <a:bodyPr/>
                    <a:lstStyle/>
                    <a:p>
                      <a:pPr marL="0" indent="0">
                        <a:buNone/>
                      </a:pPr>
                      <a:r>
                        <a:rPr lang="en-US" sz="1000" dirty="0">
                          <a:solidFill>
                            <a:srgbClr val="1A2B3C"/>
                          </a:solidFill>
                          <a:latin typeface="Times New Roman" panose="02020603050405020304" charset="0"/>
                          <a:cs typeface="Times New Roman" panose="02020603050405020304" charset="0"/>
                        </a:rPr>
                        <a:t>Float64</a:t>
                      </a:r>
                      <a:endParaRPr lang="en-US" sz="1000" dirty="0">
                        <a:solidFill>
                          <a:srgbClr val="1A2B3C"/>
                        </a:solidFill>
                        <a:latin typeface="Times New Roman" panose="02020603050405020304" charset="0"/>
                        <a:cs typeface="Times New Roman" panose="02020603050405020304" charset="0"/>
                      </a:endParaRPr>
                    </a:p>
                  </a:txBody>
                  <a:tcPr>
                    <a:lnL w="0" cap="flat" cmpd="sng" algn="ctr">
                      <a:noFill/>
                    </a:lnL>
                    <a:lnR w="0" cap="flat" cmpd="sng" algn="ctr">
                      <a:noFill/>
                    </a:lnR>
                    <a:lnT w="0" cap="flat" cmpd="sng" algn="ctr">
                      <a:noFill/>
                    </a:lnT>
                    <a:lnB w="0" cap="flat" cmpd="sng" algn="ctr">
                      <a:noFill/>
                    </a:lnB>
                    <a:solidFill>
                      <a:srgbClr val="EEF5FB"/>
                    </a:solidFill>
                  </a:tcPr>
                </a:tc>
                <a:tc>
                  <a:txBody>
                    <a:bodyPr/>
                    <a:lstStyle/>
                    <a:p>
                      <a:pPr marL="0" indent="0">
                        <a:buNone/>
                      </a:pPr>
                      <a:r>
                        <a:rPr lang="en-US" sz="1000" dirty="0">
                          <a:solidFill>
                            <a:srgbClr val="1A2B3C"/>
                          </a:solidFill>
                          <a:latin typeface="Times New Roman" panose="02020603050405020304" charset="0"/>
                          <a:cs typeface="Times New Roman" panose="02020603050405020304" charset="0"/>
                        </a:rPr>
                        <a:t>Intraday high</a:t>
                      </a:r>
                      <a:endParaRPr lang="en-US" sz="1000" dirty="0">
                        <a:solidFill>
                          <a:srgbClr val="1A2B3C"/>
                        </a:solidFill>
                        <a:latin typeface="Times New Roman" panose="02020603050405020304" charset="0"/>
                        <a:cs typeface="Times New Roman" panose="02020603050405020304" charset="0"/>
                      </a:endParaRPr>
                    </a:p>
                  </a:txBody>
                  <a:tcPr>
                    <a:lnL w="0" cap="flat" cmpd="sng" algn="ctr">
                      <a:noFill/>
                    </a:lnL>
                    <a:lnR w="0" cap="flat" cmpd="sng" algn="ctr">
                      <a:noFill/>
                    </a:lnR>
                    <a:lnT w="0" cap="flat" cmpd="sng" algn="ctr">
                      <a:noFill/>
                    </a:lnT>
                    <a:lnB w="0" cap="flat" cmpd="sng" algn="ctr">
                      <a:noFill/>
                    </a:lnB>
                    <a:solidFill>
                      <a:srgbClr val="EEF5FB"/>
                    </a:solidFill>
                  </a:tcPr>
                </a:tc>
              </a:tr>
              <a:tr h="444137">
                <a:tc>
                  <a:txBody>
                    <a:bodyPr/>
                    <a:lstStyle/>
                    <a:p>
                      <a:pPr marL="0" indent="0">
                        <a:buNone/>
                      </a:pPr>
                      <a:r>
                        <a:rPr lang="en-US" sz="1000" dirty="0">
                          <a:solidFill>
                            <a:srgbClr val="1A2B3C"/>
                          </a:solidFill>
                          <a:latin typeface="Times New Roman" panose="02020603050405020304" charset="0"/>
                          <a:cs typeface="Times New Roman" panose="02020603050405020304" charset="0"/>
                        </a:rPr>
                        <a:t>Low</a:t>
                      </a:r>
                      <a:endParaRPr lang="en-US" sz="1000" dirty="0">
                        <a:solidFill>
                          <a:srgbClr val="1A2B3C"/>
                        </a:solidFill>
                        <a:latin typeface="Times New Roman" panose="02020603050405020304" charset="0"/>
                        <a:cs typeface="Times New Roman" panose="02020603050405020304"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000" dirty="0">
                          <a:solidFill>
                            <a:srgbClr val="1A2B3C"/>
                          </a:solidFill>
                          <a:latin typeface="Times New Roman" panose="02020603050405020304" charset="0"/>
                          <a:cs typeface="Times New Roman" panose="02020603050405020304" charset="0"/>
                        </a:rPr>
                        <a:t>Float64</a:t>
                      </a:r>
                      <a:endParaRPr lang="en-US" sz="1000" dirty="0">
                        <a:solidFill>
                          <a:srgbClr val="1A2B3C"/>
                        </a:solidFill>
                        <a:latin typeface="Times New Roman" panose="02020603050405020304" charset="0"/>
                        <a:cs typeface="Times New Roman" panose="02020603050405020304"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000" dirty="0">
                          <a:solidFill>
                            <a:srgbClr val="1A2B3C"/>
                          </a:solidFill>
                          <a:latin typeface="Times New Roman" panose="02020603050405020304" charset="0"/>
                          <a:cs typeface="Times New Roman" panose="02020603050405020304" charset="0"/>
                        </a:rPr>
                        <a:t>Intraday low</a:t>
                      </a:r>
                      <a:endParaRPr lang="en-US" sz="1000" dirty="0">
                        <a:solidFill>
                          <a:srgbClr val="1A2B3C"/>
                        </a:solidFill>
                        <a:latin typeface="Times New Roman" panose="02020603050405020304" charset="0"/>
                        <a:cs typeface="Times New Roman" panose="02020603050405020304" charset="0"/>
                      </a:endParaRPr>
                    </a:p>
                  </a:txBody>
                  <a:tcPr>
                    <a:lnL w="0" cap="flat" cmpd="sng" algn="ctr">
                      <a:noFill/>
                    </a:lnL>
                    <a:lnR w="0" cap="flat" cmpd="sng" algn="ctr">
                      <a:noFill/>
                    </a:lnR>
                    <a:lnT w="0" cap="flat" cmpd="sng" algn="ctr">
                      <a:noFill/>
                    </a:lnT>
                    <a:lnB w="0" cap="flat" cmpd="sng" algn="ctr">
                      <a:noFill/>
                    </a:lnB>
                    <a:solidFill>
                      <a:srgbClr val="FFFFFF"/>
                    </a:solidFill>
                  </a:tcPr>
                </a:tc>
              </a:tr>
              <a:tr h="444137">
                <a:tc>
                  <a:txBody>
                    <a:bodyPr/>
                    <a:lstStyle/>
                    <a:p>
                      <a:pPr marL="0" indent="0">
                        <a:buNone/>
                      </a:pPr>
                      <a:r>
                        <a:rPr lang="en-US" sz="1000" dirty="0">
                          <a:solidFill>
                            <a:srgbClr val="1A2B3C"/>
                          </a:solidFill>
                          <a:latin typeface="Times New Roman" panose="02020603050405020304" charset="0"/>
                          <a:cs typeface="Times New Roman" panose="02020603050405020304" charset="0"/>
                        </a:rPr>
                        <a:t>Close</a:t>
                      </a:r>
                      <a:endParaRPr lang="en-US" sz="1000" dirty="0">
                        <a:solidFill>
                          <a:srgbClr val="1A2B3C"/>
                        </a:solidFill>
                        <a:latin typeface="Times New Roman" panose="02020603050405020304" charset="0"/>
                        <a:cs typeface="Times New Roman" panose="02020603050405020304" charset="0"/>
                      </a:endParaRPr>
                    </a:p>
                  </a:txBody>
                  <a:tcPr>
                    <a:lnL w="0" cap="flat" cmpd="sng" algn="ctr">
                      <a:noFill/>
                    </a:lnL>
                    <a:lnR w="0" cap="flat" cmpd="sng" algn="ctr">
                      <a:noFill/>
                    </a:lnR>
                    <a:lnT w="0" cap="flat" cmpd="sng" algn="ctr">
                      <a:noFill/>
                    </a:lnT>
                    <a:lnB w="0" cap="flat" cmpd="sng" algn="ctr">
                      <a:noFill/>
                    </a:lnB>
                    <a:solidFill>
                      <a:srgbClr val="EEF5FB"/>
                    </a:solidFill>
                  </a:tcPr>
                </a:tc>
                <a:tc>
                  <a:txBody>
                    <a:bodyPr/>
                    <a:lstStyle/>
                    <a:p>
                      <a:pPr marL="0" indent="0">
                        <a:buNone/>
                      </a:pPr>
                      <a:r>
                        <a:rPr lang="en-US" sz="1000" dirty="0">
                          <a:solidFill>
                            <a:srgbClr val="1A2B3C"/>
                          </a:solidFill>
                          <a:latin typeface="Times New Roman" panose="02020603050405020304" charset="0"/>
                          <a:cs typeface="Times New Roman" panose="02020603050405020304" charset="0"/>
                        </a:rPr>
                        <a:t>Float64</a:t>
                      </a:r>
                      <a:endParaRPr lang="en-US" sz="1000" dirty="0">
                        <a:solidFill>
                          <a:srgbClr val="1A2B3C"/>
                        </a:solidFill>
                        <a:latin typeface="Times New Roman" panose="02020603050405020304" charset="0"/>
                        <a:cs typeface="Times New Roman" panose="02020603050405020304" charset="0"/>
                      </a:endParaRPr>
                    </a:p>
                  </a:txBody>
                  <a:tcPr>
                    <a:lnL w="0" cap="flat" cmpd="sng" algn="ctr">
                      <a:noFill/>
                    </a:lnL>
                    <a:lnR w="0" cap="flat" cmpd="sng" algn="ctr">
                      <a:noFill/>
                    </a:lnR>
                    <a:lnT w="0" cap="flat" cmpd="sng" algn="ctr">
                      <a:noFill/>
                    </a:lnT>
                    <a:lnB w="0" cap="flat" cmpd="sng" algn="ctr">
                      <a:noFill/>
                    </a:lnB>
                    <a:solidFill>
                      <a:srgbClr val="EEF5FB"/>
                    </a:solidFill>
                  </a:tcPr>
                </a:tc>
                <a:tc>
                  <a:txBody>
                    <a:bodyPr/>
                    <a:lstStyle/>
                    <a:p>
                      <a:pPr marL="0" indent="0">
                        <a:buNone/>
                      </a:pPr>
                      <a:r>
                        <a:rPr lang="en-US" sz="1000" dirty="0">
                          <a:solidFill>
                            <a:srgbClr val="1A2B3C"/>
                          </a:solidFill>
                          <a:latin typeface="Times New Roman" panose="02020603050405020304" charset="0"/>
                          <a:cs typeface="Times New Roman" panose="02020603050405020304" charset="0"/>
                        </a:rPr>
                        <a:t>Target variable</a:t>
                      </a:r>
                      <a:endParaRPr lang="en-US" sz="1000" dirty="0">
                        <a:solidFill>
                          <a:srgbClr val="1A2B3C"/>
                        </a:solidFill>
                        <a:latin typeface="Times New Roman" panose="02020603050405020304" charset="0"/>
                        <a:cs typeface="Times New Roman" panose="02020603050405020304" charset="0"/>
                      </a:endParaRPr>
                    </a:p>
                  </a:txBody>
                  <a:tcPr>
                    <a:lnL w="0" cap="flat" cmpd="sng" algn="ctr">
                      <a:noFill/>
                    </a:lnL>
                    <a:lnR w="0" cap="flat" cmpd="sng" algn="ctr">
                      <a:noFill/>
                    </a:lnR>
                    <a:lnT w="0" cap="flat" cmpd="sng" algn="ctr">
                      <a:noFill/>
                    </a:lnT>
                    <a:lnB w="0" cap="flat" cmpd="sng" algn="ctr">
                      <a:noFill/>
                    </a:lnB>
                    <a:solidFill>
                      <a:srgbClr val="EEF5FB"/>
                    </a:solidFill>
                  </a:tcPr>
                </a:tc>
              </a:tr>
              <a:tr h="444137">
                <a:tc>
                  <a:txBody>
                    <a:bodyPr/>
                    <a:lstStyle/>
                    <a:p>
                      <a:pPr marL="0" indent="0">
                        <a:buNone/>
                      </a:pPr>
                      <a:r>
                        <a:rPr lang="en-US" sz="1000" dirty="0">
                          <a:solidFill>
                            <a:srgbClr val="1A2B3C"/>
                          </a:solidFill>
                          <a:latin typeface="Times New Roman" panose="02020603050405020304" charset="0"/>
                          <a:cs typeface="Times New Roman" panose="02020603050405020304" charset="0"/>
                        </a:rPr>
                        <a:t>Volume</a:t>
                      </a:r>
                      <a:endParaRPr lang="en-US" sz="1000" dirty="0">
                        <a:solidFill>
                          <a:srgbClr val="1A2B3C"/>
                        </a:solidFill>
                        <a:latin typeface="Times New Roman" panose="02020603050405020304" charset="0"/>
                        <a:cs typeface="Times New Roman" panose="02020603050405020304"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000" dirty="0">
                          <a:solidFill>
                            <a:srgbClr val="1A2B3C"/>
                          </a:solidFill>
                          <a:latin typeface="Times New Roman" panose="02020603050405020304" charset="0"/>
                          <a:cs typeface="Times New Roman" panose="02020603050405020304" charset="0"/>
                        </a:rPr>
                        <a:t>Int64</a:t>
                      </a:r>
                      <a:endParaRPr lang="en-US" sz="1000" dirty="0">
                        <a:solidFill>
                          <a:srgbClr val="1A2B3C"/>
                        </a:solidFill>
                        <a:latin typeface="Times New Roman" panose="02020603050405020304" charset="0"/>
                        <a:cs typeface="Times New Roman" panose="02020603050405020304"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000" dirty="0">
                          <a:solidFill>
                            <a:srgbClr val="1A2B3C"/>
                          </a:solidFill>
                          <a:latin typeface="Times New Roman" panose="02020603050405020304" charset="0"/>
                          <a:cs typeface="Times New Roman" panose="02020603050405020304" charset="0"/>
                        </a:rPr>
                        <a:t>Shares traded</a:t>
                      </a:r>
                      <a:endParaRPr lang="en-US" sz="1000" dirty="0">
                        <a:solidFill>
                          <a:srgbClr val="1A2B3C"/>
                        </a:solidFill>
                        <a:latin typeface="Times New Roman" panose="02020603050405020304" charset="0"/>
                        <a:cs typeface="Times New Roman" panose="02020603050405020304" charset="0"/>
                      </a:endParaRPr>
                    </a:p>
                  </a:txBody>
                  <a:tcP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12" name="Text 9"/>
          <p:cNvSpPr/>
          <p:nvPr/>
        </p:nvSpPr>
        <p:spPr>
          <a:xfrm>
            <a:off x="8046720" y="4800600"/>
            <a:ext cx="914400" cy="228600"/>
          </a:xfrm>
          <a:prstGeom prst="rect">
            <a:avLst/>
          </a:prstGeom>
          <a:noFill/>
        </p:spPr>
        <p:txBody>
          <a:bodyPr wrap="square" rtlCol="0" anchor="ctr"/>
          <a:lstStyle/>
          <a:p>
            <a:pPr marL="0" indent="0" algn="r">
              <a:buNone/>
            </a:pPr>
            <a:r>
              <a:rPr lang="en-US" sz="900" dirty="0">
                <a:solidFill>
                  <a:srgbClr val="5A7490"/>
                </a:solidFill>
                <a:latin typeface="Times New Roman" panose="02020603050405020304" charset="0"/>
                <a:cs typeface="Times New Roman" panose="02020603050405020304" charset="0"/>
              </a:rPr>
              <a:t>6 / 19</a:t>
            </a:r>
            <a:endParaRPr lang="en-US" sz="900" dirty="0">
              <a:solidFill>
                <a:srgbClr val="5A7490"/>
              </a:solidFill>
              <a:latin typeface="Times New Roman" panose="02020603050405020304" charset="0"/>
              <a:cs typeface="Times New Roman"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73152" cy="384048"/>
          </a:xfrm>
          <a:prstGeom prst="rect">
            <a:avLst/>
          </a:prstGeom>
          <a:solidFill>
            <a:srgbClr val="0A7EA4"/>
          </a:solidFill>
          <a:ln w="12700">
            <a:solidFill>
              <a:srgbClr val="0A7EA4"/>
            </a:solidFill>
            <a:prstDash val="solid"/>
          </a:ln>
        </p:spPr>
      </p:sp>
      <p:sp>
        <p:nvSpPr>
          <p:cNvPr id="3" name="Text 1"/>
          <p:cNvSpPr/>
          <p:nvPr/>
        </p:nvSpPr>
        <p:spPr>
          <a:xfrm>
            <a:off x="621792" y="182880"/>
            <a:ext cx="7772400" cy="502920"/>
          </a:xfrm>
          <a:prstGeom prst="rect">
            <a:avLst/>
          </a:prstGeom>
          <a:noFill/>
        </p:spPr>
        <p:txBody>
          <a:bodyPr wrap="square" lIns="0" tIns="0" rIns="0" bIns="0" rtlCol="0" anchor="ctr"/>
          <a:lstStyle/>
          <a:p>
            <a:pPr marL="0" indent="0">
              <a:buNone/>
            </a:pPr>
            <a:r>
              <a:rPr lang="en-US" sz="2200" b="1" dirty="0">
                <a:solidFill>
                  <a:srgbClr val="1A2B3C"/>
                </a:solidFill>
                <a:latin typeface="Times New Roman" panose="02020603050405020304" charset="0"/>
                <a:ea typeface="Calibri" panose="020F0502020204030204" pitchFamily="34" charset="-122"/>
                <a:cs typeface="Times New Roman" panose="02020603050405020304" charset="0"/>
              </a:rPr>
              <a:t>Data Preprocessing</a:t>
            </a:r>
            <a:endParaRPr lang="en-US" sz="2200" b="1" dirty="0">
              <a:solidFill>
                <a:srgbClr val="1A2B3C"/>
              </a:solidFill>
              <a:latin typeface="Times New Roman" panose="02020603050405020304" charset="0"/>
              <a:ea typeface="Calibri" panose="020F0502020204030204" pitchFamily="34" charset="-122"/>
              <a:cs typeface="Times New Roman" panose="02020603050405020304" charset="0"/>
            </a:endParaRPr>
          </a:p>
        </p:txBody>
      </p:sp>
      <p:sp>
        <p:nvSpPr>
          <p:cNvPr id="4" name="Shape 2"/>
          <p:cNvSpPr/>
          <p:nvPr/>
        </p:nvSpPr>
        <p:spPr>
          <a:xfrm>
            <a:off x="457200" y="914400"/>
            <a:ext cx="8229600" cy="1188720"/>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5" name="Shape 3"/>
          <p:cNvSpPr/>
          <p:nvPr/>
        </p:nvSpPr>
        <p:spPr>
          <a:xfrm>
            <a:off x="457200" y="914400"/>
            <a:ext cx="109728" cy="1188720"/>
          </a:xfrm>
          <a:prstGeom prst="rect">
            <a:avLst/>
          </a:prstGeom>
          <a:solidFill>
            <a:srgbClr val="0A7EA4"/>
          </a:solidFill>
          <a:ln w="12700">
            <a:solidFill>
              <a:srgbClr val="0A7EA4"/>
            </a:solidFill>
            <a:prstDash val="solid"/>
          </a:ln>
        </p:spPr>
      </p:sp>
      <p:sp>
        <p:nvSpPr>
          <p:cNvPr id="6" name="Text 4"/>
          <p:cNvSpPr/>
          <p:nvPr/>
        </p:nvSpPr>
        <p:spPr>
          <a:xfrm>
            <a:off x="676656" y="969264"/>
            <a:ext cx="7772400" cy="347472"/>
          </a:xfrm>
          <a:prstGeom prst="rect">
            <a:avLst/>
          </a:prstGeom>
          <a:noFill/>
        </p:spPr>
        <p:txBody>
          <a:bodyPr wrap="square" rtlCol="0" anchor="ctr"/>
          <a:lstStyle/>
          <a:p>
            <a:pPr marL="0" indent="0">
              <a:buNone/>
            </a:pPr>
            <a:r>
              <a:rPr lang="en-US" sz="1300" b="1" dirty="0">
                <a:solidFill>
                  <a:srgbClr val="1A2B3C"/>
                </a:solidFill>
                <a:latin typeface="Times New Roman" panose="02020603050405020304" charset="0"/>
                <a:cs typeface="Times New Roman" panose="02020603050405020304" charset="0"/>
              </a:rPr>
              <a:t>1. Handling Missing Values</a:t>
            </a:r>
            <a:endParaRPr lang="en-US" sz="1300" b="1" dirty="0">
              <a:solidFill>
                <a:srgbClr val="1A2B3C"/>
              </a:solidFill>
              <a:latin typeface="Times New Roman" panose="02020603050405020304" charset="0"/>
              <a:cs typeface="Times New Roman" panose="02020603050405020304" charset="0"/>
            </a:endParaRPr>
          </a:p>
        </p:txBody>
      </p:sp>
      <p:sp>
        <p:nvSpPr>
          <p:cNvPr id="7" name="Text 5"/>
          <p:cNvSpPr/>
          <p:nvPr/>
        </p:nvSpPr>
        <p:spPr>
          <a:xfrm>
            <a:off x="676656" y="1316736"/>
            <a:ext cx="7772400" cy="713232"/>
          </a:xfrm>
          <a:prstGeom prst="rect">
            <a:avLst/>
          </a:prstGeom>
          <a:noFill/>
        </p:spPr>
        <p:txBody>
          <a:bodyPr wrap="square" rtlCol="0" anchor="ctr"/>
          <a:lstStyle/>
          <a:p>
            <a:pPr marL="0" indent="0">
              <a:buNone/>
            </a:pPr>
            <a:r>
              <a:rPr lang="en-US" sz="1200" dirty="0">
                <a:solidFill>
                  <a:srgbClr val="5A7490"/>
                </a:solidFill>
                <a:latin typeface="Times New Roman" panose="02020603050405020304" charset="0"/>
                <a:cs typeface="Times New Roman" panose="02020603050405020304" charset="0"/>
              </a:rPr>
              <a:t>NaN values at the head (MA50 first 49 rows) treated with forward-fill (ffill). Non-trading day rows dropped entirely. Remaining NaN rows removed post-fill.</a:t>
            </a:r>
            <a:endParaRPr lang="en-US" sz="1200" dirty="0">
              <a:solidFill>
                <a:srgbClr val="5A7490"/>
              </a:solidFill>
              <a:latin typeface="Times New Roman" panose="02020603050405020304" charset="0"/>
              <a:cs typeface="Times New Roman" panose="02020603050405020304" charset="0"/>
            </a:endParaRPr>
          </a:p>
        </p:txBody>
      </p:sp>
      <p:sp>
        <p:nvSpPr>
          <p:cNvPr id="8" name="Shape 6"/>
          <p:cNvSpPr/>
          <p:nvPr/>
        </p:nvSpPr>
        <p:spPr>
          <a:xfrm>
            <a:off x="457200" y="2258568"/>
            <a:ext cx="8229600" cy="1188720"/>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9" name="Shape 7"/>
          <p:cNvSpPr/>
          <p:nvPr/>
        </p:nvSpPr>
        <p:spPr>
          <a:xfrm>
            <a:off x="457200" y="2258568"/>
            <a:ext cx="109728" cy="1188720"/>
          </a:xfrm>
          <a:prstGeom prst="rect">
            <a:avLst/>
          </a:prstGeom>
          <a:solidFill>
            <a:srgbClr val="1A7FA6"/>
          </a:solidFill>
          <a:ln w="12700">
            <a:solidFill>
              <a:srgbClr val="1A7FA6"/>
            </a:solidFill>
            <a:prstDash val="solid"/>
          </a:ln>
        </p:spPr>
      </p:sp>
      <p:sp>
        <p:nvSpPr>
          <p:cNvPr id="10" name="Text 8"/>
          <p:cNvSpPr/>
          <p:nvPr/>
        </p:nvSpPr>
        <p:spPr>
          <a:xfrm>
            <a:off x="676656" y="2313432"/>
            <a:ext cx="7772400" cy="347472"/>
          </a:xfrm>
          <a:prstGeom prst="rect">
            <a:avLst/>
          </a:prstGeom>
          <a:noFill/>
        </p:spPr>
        <p:txBody>
          <a:bodyPr wrap="square" rtlCol="0" anchor="ctr"/>
          <a:lstStyle/>
          <a:p>
            <a:pPr marL="0" indent="0">
              <a:buNone/>
            </a:pPr>
            <a:r>
              <a:rPr lang="en-US" sz="1300" b="1" dirty="0">
                <a:solidFill>
                  <a:srgbClr val="1A2B3C"/>
                </a:solidFill>
                <a:latin typeface="Times New Roman" panose="02020603050405020304" charset="0"/>
                <a:cs typeface="Times New Roman" panose="02020603050405020304" charset="0"/>
              </a:rPr>
              <a:t>2. Removing Duplicates &amp; Anomalies</a:t>
            </a:r>
            <a:endParaRPr lang="en-US" sz="1300" b="1" dirty="0">
              <a:solidFill>
                <a:srgbClr val="1A2B3C"/>
              </a:solidFill>
              <a:latin typeface="Times New Roman" panose="02020603050405020304" charset="0"/>
              <a:cs typeface="Times New Roman" panose="02020603050405020304" charset="0"/>
            </a:endParaRPr>
          </a:p>
        </p:txBody>
      </p:sp>
      <p:sp>
        <p:nvSpPr>
          <p:cNvPr id="11" name="Text 9"/>
          <p:cNvSpPr/>
          <p:nvPr/>
        </p:nvSpPr>
        <p:spPr>
          <a:xfrm>
            <a:off x="676656" y="2660904"/>
            <a:ext cx="7772400" cy="713232"/>
          </a:xfrm>
          <a:prstGeom prst="rect">
            <a:avLst/>
          </a:prstGeom>
          <a:noFill/>
        </p:spPr>
        <p:txBody>
          <a:bodyPr wrap="square" rtlCol="0" anchor="ctr"/>
          <a:lstStyle/>
          <a:p>
            <a:pPr marL="0" indent="0">
              <a:buNone/>
            </a:pPr>
            <a:r>
              <a:rPr lang="en-US" sz="1200" dirty="0">
                <a:solidFill>
                  <a:srgbClr val="5A7490"/>
                </a:solidFill>
                <a:latin typeface="Times New Roman" panose="02020603050405020304" charset="0"/>
                <a:cs typeface="Times New Roman" panose="02020603050405020304" charset="0"/>
              </a:rPr>
              <a:t>0 duplicate rows found. Outliers detected via 5-std-dev rule on daily returns. COVID crash (Mar 23, 2020) &amp; election spike (Mar 4, 2024) retained as genuine events.</a:t>
            </a:r>
            <a:endParaRPr lang="en-US" sz="1200" dirty="0">
              <a:solidFill>
                <a:srgbClr val="5A7490"/>
              </a:solidFill>
              <a:latin typeface="Times New Roman" panose="02020603050405020304" charset="0"/>
              <a:cs typeface="Times New Roman" panose="02020603050405020304" charset="0"/>
            </a:endParaRPr>
          </a:p>
        </p:txBody>
      </p:sp>
      <p:sp>
        <p:nvSpPr>
          <p:cNvPr id="12" name="Shape 10"/>
          <p:cNvSpPr/>
          <p:nvPr/>
        </p:nvSpPr>
        <p:spPr>
          <a:xfrm>
            <a:off x="457200" y="3602736"/>
            <a:ext cx="8229600" cy="1188720"/>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13" name="Shape 11"/>
          <p:cNvSpPr/>
          <p:nvPr/>
        </p:nvSpPr>
        <p:spPr>
          <a:xfrm>
            <a:off x="457200" y="3602736"/>
            <a:ext cx="109728" cy="1188720"/>
          </a:xfrm>
          <a:prstGeom prst="rect">
            <a:avLst/>
          </a:prstGeom>
          <a:solidFill>
            <a:srgbClr val="0D6B8A"/>
          </a:solidFill>
          <a:ln w="12700">
            <a:solidFill>
              <a:srgbClr val="0D6B8A"/>
            </a:solidFill>
            <a:prstDash val="solid"/>
          </a:ln>
        </p:spPr>
      </p:sp>
      <p:sp>
        <p:nvSpPr>
          <p:cNvPr id="14" name="Text 12"/>
          <p:cNvSpPr/>
          <p:nvPr/>
        </p:nvSpPr>
        <p:spPr>
          <a:xfrm>
            <a:off x="676656" y="3657600"/>
            <a:ext cx="7772400" cy="347472"/>
          </a:xfrm>
          <a:prstGeom prst="rect">
            <a:avLst/>
          </a:prstGeom>
          <a:noFill/>
        </p:spPr>
        <p:txBody>
          <a:bodyPr wrap="square" rtlCol="0" anchor="ctr"/>
          <a:lstStyle/>
          <a:p>
            <a:pPr marL="0" indent="0">
              <a:buNone/>
            </a:pPr>
            <a:r>
              <a:rPr lang="en-US" sz="1300" b="1" dirty="0">
                <a:solidFill>
                  <a:srgbClr val="1A2B3C"/>
                </a:solidFill>
                <a:latin typeface="Times New Roman" panose="02020603050405020304" charset="0"/>
                <a:cs typeface="Times New Roman" panose="02020603050405020304" charset="0"/>
              </a:rPr>
              <a:t>3. Data Transformation &amp; Stationarity</a:t>
            </a:r>
            <a:endParaRPr lang="en-US" sz="1300" b="1" dirty="0">
              <a:solidFill>
                <a:srgbClr val="1A2B3C"/>
              </a:solidFill>
              <a:latin typeface="Times New Roman" panose="02020603050405020304" charset="0"/>
              <a:cs typeface="Times New Roman" panose="02020603050405020304" charset="0"/>
            </a:endParaRPr>
          </a:p>
        </p:txBody>
      </p:sp>
      <p:sp>
        <p:nvSpPr>
          <p:cNvPr id="15" name="Text 13"/>
          <p:cNvSpPr/>
          <p:nvPr/>
        </p:nvSpPr>
        <p:spPr>
          <a:xfrm>
            <a:off x="676656" y="4005072"/>
            <a:ext cx="7772400" cy="713232"/>
          </a:xfrm>
          <a:prstGeom prst="rect">
            <a:avLst/>
          </a:prstGeom>
          <a:noFill/>
        </p:spPr>
        <p:txBody>
          <a:bodyPr wrap="square" rtlCol="0" anchor="ctr"/>
          <a:lstStyle/>
          <a:p>
            <a:pPr marL="0" indent="0">
              <a:buNone/>
            </a:pPr>
            <a:r>
              <a:rPr lang="en-US" sz="1200" dirty="0">
                <a:solidFill>
                  <a:srgbClr val="5A7490"/>
                </a:solidFill>
                <a:latin typeface="Times New Roman" panose="02020603050405020304" charset="0"/>
                <a:cs typeface="Times New Roman" panose="02020603050405020304" charset="0"/>
              </a:rPr>
              <a:t>ADF test confirmed raw Close series was non-stationary (p &gt; 0.05). MinMaxScaler applied to normalize Close to [0,1] — prevents gradient explosion in LSTM.</a:t>
            </a:r>
            <a:endParaRPr lang="en-US" sz="1200" dirty="0">
              <a:solidFill>
                <a:srgbClr val="5A7490"/>
              </a:solidFill>
              <a:latin typeface="Times New Roman" panose="02020603050405020304" charset="0"/>
              <a:cs typeface="Times New Roman" panose="02020603050405020304" charset="0"/>
            </a:endParaRPr>
          </a:p>
        </p:txBody>
      </p:sp>
      <p:sp>
        <p:nvSpPr>
          <p:cNvPr id="16" name="Text 14"/>
          <p:cNvSpPr/>
          <p:nvPr/>
        </p:nvSpPr>
        <p:spPr>
          <a:xfrm>
            <a:off x="8046720" y="4800600"/>
            <a:ext cx="914400" cy="228600"/>
          </a:xfrm>
          <a:prstGeom prst="rect">
            <a:avLst/>
          </a:prstGeom>
          <a:noFill/>
        </p:spPr>
        <p:txBody>
          <a:bodyPr wrap="square" rtlCol="0" anchor="ctr"/>
          <a:lstStyle/>
          <a:p>
            <a:pPr marL="0" indent="0" algn="r">
              <a:buNone/>
            </a:pPr>
            <a:r>
              <a:rPr lang="en-US" sz="900" dirty="0">
                <a:solidFill>
                  <a:srgbClr val="5A7490"/>
                </a:solidFill>
                <a:latin typeface="Times New Roman" panose="02020603050405020304" charset="0"/>
                <a:cs typeface="Times New Roman" panose="02020603050405020304" charset="0"/>
              </a:rPr>
              <a:t>7 / 19</a:t>
            </a:r>
            <a:endParaRPr lang="en-US" sz="900" dirty="0">
              <a:solidFill>
                <a:srgbClr val="5A7490"/>
              </a:solidFill>
              <a:latin typeface="Times New Roman" panose="02020603050405020304" charset="0"/>
              <a:cs typeface="Times New Roman" panose="020206030504050203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73152" cy="384048"/>
          </a:xfrm>
          <a:prstGeom prst="rect">
            <a:avLst/>
          </a:prstGeom>
          <a:solidFill>
            <a:srgbClr val="0A7EA4"/>
          </a:solidFill>
          <a:ln w="12700">
            <a:solidFill>
              <a:srgbClr val="0A7EA4"/>
            </a:solidFill>
            <a:prstDash val="solid"/>
          </a:ln>
        </p:spPr>
      </p:sp>
      <p:sp>
        <p:nvSpPr>
          <p:cNvPr id="3" name="Text 1"/>
          <p:cNvSpPr/>
          <p:nvPr/>
        </p:nvSpPr>
        <p:spPr>
          <a:xfrm>
            <a:off x="621792" y="182880"/>
            <a:ext cx="7772400" cy="502920"/>
          </a:xfrm>
          <a:prstGeom prst="rect">
            <a:avLst/>
          </a:prstGeom>
          <a:noFill/>
        </p:spPr>
        <p:txBody>
          <a:bodyPr wrap="square" lIns="0" tIns="0" rIns="0" bIns="0" rtlCol="0" anchor="ctr"/>
          <a:lstStyle/>
          <a:p>
            <a:pPr marL="0" indent="0">
              <a:buNone/>
            </a:pPr>
            <a:r>
              <a:rPr lang="en-US" sz="2200" b="1" dirty="0">
                <a:solidFill>
                  <a:srgbClr val="1A2B3C"/>
                </a:solidFill>
                <a:latin typeface="Times New Roman" panose="02020603050405020304" charset="0"/>
                <a:ea typeface="Calibri" panose="020F0502020204030204" pitchFamily="34" charset="-122"/>
                <a:cs typeface="Times New Roman" panose="02020603050405020304" charset="0"/>
              </a:rPr>
              <a:t>Feature Engineering — Technical Indicators</a:t>
            </a:r>
            <a:endParaRPr lang="en-US" sz="2200" b="1" dirty="0">
              <a:solidFill>
                <a:srgbClr val="1A2B3C"/>
              </a:solidFill>
              <a:latin typeface="Times New Roman" panose="02020603050405020304" charset="0"/>
              <a:ea typeface="Calibri" panose="020F0502020204030204" pitchFamily="34" charset="-122"/>
              <a:cs typeface="Times New Roman" panose="02020603050405020304" charset="0"/>
            </a:endParaRPr>
          </a:p>
        </p:txBody>
      </p:sp>
      <p:sp>
        <p:nvSpPr>
          <p:cNvPr id="4" name="Shape 2"/>
          <p:cNvSpPr/>
          <p:nvPr/>
        </p:nvSpPr>
        <p:spPr>
          <a:xfrm>
            <a:off x="457200" y="914400"/>
            <a:ext cx="4160520" cy="1737360"/>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5" name="Shape 3"/>
          <p:cNvSpPr/>
          <p:nvPr/>
        </p:nvSpPr>
        <p:spPr>
          <a:xfrm>
            <a:off x="457200" y="914400"/>
            <a:ext cx="4160520" cy="274320"/>
          </a:xfrm>
          <a:prstGeom prst="rect">
            <a:avLst/>
          </a:prstGeom>
          <a:solidFill>
            <a:srgbClr val="0A7EA4"/>
          </a:solidFill>
          <a:ln w="12700">
            <a:solidFill>
              <a:srgbClr val="0A7EA4"/>
            </a:solidFill>
            <a:prstDash val="solid"/>
          </a:ln>
        </p:spPr>
      </p:sp>
      <p:sp>
        <p:nvSpPr>
          <p:cNvPr id="6" name="Text 4"/>
          <p:cNvSpPr/>
          <p:nvPr/>
        </p:nvSpPr>
        <p:spPr>
          <a:xfrm>
            <a:off x="548640" y="914400"/>
            <a:ext cx="3977640" cy="274320"/>
          </a:xfrm>
          <a:prstGeom prst="rect">
            <a:avLst/>
          </a:prstGeom>
          <a:noFill/>
        </p:spPr>
        <p:txBody>
          <a:bodyPr wrap="square" rtlCol="0" anchor="ctr"/>
          <a:lstStyle/>
          <a:p>
            <a:pPr marL="0" indent="0">
              <a:buNone/>
            </a:pPr>
            <a:r>
              <a:rPr lang="en-US" sz="1100" b="1" dirty="0">
                <a:solidFill>
                  <a:srgbClr val="FFFFFF"/>
                </a:solidFill>
                <a:latin typeface="Times New Roman" panose="02020603050405020304" charset="0"/>
                <a:cs typeface="Times New Roman" panose="02020603050405020304" charset="0"/>
              </a:rPr>
              <a:t>MA20 &amp; MA50  |  Trend</a:t>
            </a:r>
            <a:endParaRPr lang="en-US" sz="1100" b="1" dirty="0">
              <a:solidFill>
                <a:srgbClr val="FFFFFF"/>
              </a:solidFill>
              <a:latin typeface="Times New Roman" panose="02020603050405020304" charset="0"/>
              <a:cs typeface="Times New Roman" panose="02020603050405020304" charset="0"/>
            </a:endParaRPr>
          </a:p>
        </p:txBody>
      </p:sp>
      <p:sp>
        <p:nvSpPr>
          <p:cNvPr id="7" name="Text 5"/>
          <p:cNvSpPr/>
          <p:nvPr/>
        </p:nvSpPr>
        <p:spPr>
          <a:xfrm>
            <a:off x="566928" y="1243584"/>
            <a:ext cx="3950208" cy="1353312"/>
          </a:xfrm>
          <a:prstGeom prst="rect">
            <a:avLst/>
          </a:prstGeom>
          <a:noFill/>
        </p:spPr>
        <p:txBody>
          <a:bodyPr wrap="square" rtlCol="0" anchor="ctr"/>
          <a:lstStyle/>
          <a:p>
            <a:pPr marL="0" indent="0">
              <a:buNone/>
            </a:pPr>
            <a:r>
              <a:rPr lang="en-US" sz="1100" dirty="0">
                <a:solidFill>
                  <a:srgbClr val="1A2B3C"/>
                </a:solidFill>
                <a:latin typeface="Times New Roman" panose="02020603050405020304" charset="0"/>
                <a:cs typeface="Times New Roman" panose="02020603050405020304" charset="0"/>
              </a:rPr>
              <a:t>20-day and 50-day Simple Moving Averages smooth price noise. Golden Cross (MA20 &gt; MA50) = bullish signal; Death Cross = bearish.</a:t>
            </a:r>
            <a:endParaRPr lang="en-US" sz="1100" dirty="0">
              <a:solidFill>
                <a:srgbClr val="1A2B3C"/>
              </a:solidFill>
              <a:latin typeface="Times New Roman" panose="02020603050405020304" charset="0"/>
              <a:cs typeface="Times New Roman" panose="02020603050405020304" charset="0"/>
            </a:endParaRPr>
          </a:p>
        </p:txBody>
      </p:sp>
      <p:sp>
        <p:nvSpPr>
          <p:cNvPr id="8" name="Shape 6"/>
          <p:cNvSpPr/>
          <p:nvPr/>
        </p:nvSpPr>
        <p:spPr>
          <a:xfrm>
            <a:off x="4846320" y="914400"/>
            <a:ext cx="4160520" cy="1737360"/>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9" name="Shape 7"/>
          <p:cNvSpPr/>
          <p:nvPr/>
        </p:nvSpPr>
        <p:spPr>
          <a:xfrm>
            <a:off x="4846320" y="914400"/>
            <a:ext cx="4160520" cy="274320"/>
          </a:xfrm>
          <a:prstGeom prst="rect">
            <a:avLst/>
          </a:prstGeom>
          <a:solidFill>
            <a:srgbClr val="0F8A72"/>
          </a:solidFill>
          <a:ln w="12700">
            <a:solidFill>
              <a:srgbClr val="0F8A72"/>
            </a:solidFill>
            <a:prstDash val="solid"/>
          </a:ln>
        </p:spPr>
      </p:sp>
      <p:sp>
        <p:nvSpPr>
          <p:cNvPr id="10" name="Text 8"/>
          <p:cNvSpPr/>
          <p:nvPr/>
        </p:nvSpPr>
        <p:spPr>
          <a:xfrm>
            <a:off x="4937760" y="914400"/>
            <a:ext cx="3977640" cy="274320"/>
          </a:xfrm>
          <a:prstGeom prst="rect">
            <a:avLst/>
          </a:prstGeom>
          <a:noFill/>
        </p:spPr>
        <p:txBody>
          <a:bodyPr wrap="square" rtlCol="0" anchor="ctr"/>
          <a:lstStyle/>
          <a:p>
            <a:pPr marL="0" indent="0">
              <a:buNone/>
            </a:pPr>
            <a:r>
              <a:rPr lang="en-US" sz="1100" b="1" dirty="0">
                <a:solidFill>
                  <a:srgbClr val="FFFFFF"/>
                </a:solidFill>
                <a:latin typeface="Times New Roman" panose="02020603050405020304" charset="0"/>
                <a:cs typeface="Times New Roman" panose="02020603050405020304" charset="0"/>
              </a:rPr>
              <a:t>RSI  |  Momentum</a:t>
            </a:r>
            <a:endParaRPr lang="en-US" sz="1100" b="1" dirty="0">
              <a:solidFill>
                <a:srgbClr val="FFFFFF"/>
              </a:solidFill>
              <a:latin typeface="Times New Roman" panose="02020603050405020304" charset="0"/>
              <a:cs typeface="Times New Roman" panose="02020603050405020304" charset="0"/>
            </a:endParaRPr>
          </a:p>
        </p:txBody>
      </p:sp>
      <p:sp>
        <p:nvSpPr>
          <p:cNvPr id="11" name="Text 9"/>
          <p:cNvSpPr/>
          <p:nvPr/>
        </p:nvSpPr>
        <p:spPr>
          <a:xfrm>
            <a:off x="4956048" y="1243584"/>
            <a:ext cx="3950208" cy="1353312"/>
          </a:xfrm>
          <a:prstGeom prst="rect">
            <a:avLst/>
          </a:prstGeom>
          <a:noFill/>
        </p:spPr>
        <p:txBody>
          <a:bodyPr wrap="square" rtlCol="0" anchor="ctr"/>
          <a:lstStyle/>
          <a:p>
            <a:pPr marL="0" indent="0">
              <a:buNone/>
            </a:pPr>
            <a:r>
              <a:rPr lang="en-US" sz="1100" dirty="0">
                <a:solidFill>
                  <a:srgbClr val="1A2B3C"/>
                </a:solidFill>
                <a:latin typeface="Times New Roman" panose="02020603050405020304" charset="0"/>
                <a:cs typeface="Times New Roman" panose="02020603050405020304" charset="0"/>
              </a:rPr>
              <a:t>14-day oscillator (0–100). RSI &gt; 70 → overbought (potential sell). RSI &lt; 30 → oversold (potential buy). Measures speed of price change.</a:t>
            </a:r>
            <a:endParaRPr lang="en-US" sz="1100" dirty="0">
              <a:solidFill>
                <a:srgbClr val="1A2B3C"/>
              </a:solidFill>
              <a:latin typeface="Times New Roman" panose="02020603050405020304" charset="0"/>
              <a:cs typeface="Times New Roman" panose="02020603050405020304" charset="0"/>
            </a:endParaRPr>
          </a:p>
        </p:txBody>
      </p:sp>
      <p:sp>
        <p:nvSpPr>
          <p:cNvPr id="12" name="Shape 10"/>
          <p:cNvSpPr/>
          <p:nvPr/>
        </p:nvSpPr>
        <p:spPr>
          <a:xfrm>
            <a:off x="457200" y="2880360"/>
            <a:ext cx="4160520" cy="1737360"/>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13" name="Shape 11"/>
          <p:cNvSpPr/>
          <p:nvPr/>
        </p:nvSpPr>
        <p:spPr>
          <a:xfrm>
            <a:off x="457200" y="2880360"/>
            <a:ext cx="4160520" cy="274320"/>
          </a:xfrm>
          <a:prstGeom prst="rect">
            <a:avLst/>
          </a:prstGeom>
          <a:solidFill>
            <a:srgbClr val="7952B3"/>
          </a:solidFill>
          <a:ln w="12700">
            <a:solidFill>
              <a:srgbClr val="7952B3"/>
            </a:solidFill>
            <a:prstDash val="solid"/>
          </a:ln>
        </p:spPr>
      </p:sp>
      <p:sp>
        <p:nvSpPr>
          <p:cNvPr id="14" name="Text 12"/>
          <p:cNvSpPr/>
          <p:nvPr/>
        </p:nvSpPr>
        <p:spPr>
          <a:xfrm>
            <a:off x="548640" y="2880360"/>
            <a:ext cx="3977640" cy="274320"/>
          </a:xfrm>
          <a:prstGeom prst="rect">
            <a:avLst/>
          </a:prstGeom>
          <a:noFill/>
        </p:spPr>
        <p:txBody>
          <a:bodyPr wrap="square" rtlCol="0" anchor="ctr"/>
          <a:lstStyle/>
          <a:p>
            <a:pPr marL="0" indent="0">
              <a:buNone/>
            </a:pPr>
            <a:r>
              <a:rPr lang="en-US" sz="1100" b="1" dirty="0">
                <a:solidFill>
                  <a:srgbClr val="FFFFFF"/>
                </a:solidFill>
                <a:latin typeface="Times New Roman" panose="02020603050405020304" charset="0"/>
                <a:cs typeface="Times New Roman" panose="02020603050405020304" charset="0"/>
              </a:rPr>
              <a:t>MACD  |  Trend + Momentum</a:t>
            </a:r>
            <a:endParaRPr lang="en-US" sz="1100" b="1" dirty="0">
              <a:solidFill>
                <a:srgbClr val="FFFFFF"/>
              </a:solidFill>
              <a:latin typeface="Times New Roman" panose="02020603050405020304" charset="0"/>
              <a:cs typeface="Times New Roman" panose="02020603050405020304" charset="0"/>
            </a:endParaRPr>
          </a:p>
        </p:txBody>
      </p:sp>
      <p:sp>
        <p:nvSpPr>
          <p:cNvPr id="15" name="Text 13"/>
          <p:cNvSpPr/>
          <p:nvPr/>
        </p:nvSpPr>
        <p:spPr>
          <a:xfrm>
            <a:off x="566928" y="3209544"/>
            <a:ext cx="3950208" cy="1353312"/>
          </a:xfrm>
          <a:prstGeom prst="rect">
            <a:avLst/>
          </a:prstGeom>
          <a:noFill/>
        </p:spPr>
        <p:txBody>
          <a:bodyPr wrap="square" rtlCol="0" anchor="ctr"/>
          <a:lstStyle/>
          <a:p>
            <a:pPr marL="0" indent="0">
              <a:buNone/>
            </a:pPr>
            <a:r>
              <a:rPr lang="en-US" sz="1100" dirty="0">
                <a:solidFill>
                  <a:srgbClr val="1A2B3C"/>
                </a:solidFill>
                <a:latin typeface="Times New Roman" panose="02020603050405020304" charset="0"/>
                <a:cs typeface="Times New Roman" panose="02020603050405020304" charset="0"/>
              </a:rPr>
              <a:t>EMA(12) − EMA(26). 9-day signal line overlay. Bullish crossover when MACD crosses above signal line; bearish when it crosses below.</a:t>
            </a:r>
            <a:endParaRPr lang="en-US" sz="1100" dirty="0">
              <a:solidFill>
                <a:srgbClr val="1A2B3C"/>
              </a:solidFill>
              <a:latin typeface="Times New Roman" panose="02020603050405020304" charset="0"/>
              <a:cs typeface="Times New Roman" panose="02020603050405020304" charset="0"/>
            </a:endParaRPr>
          </a:p>
        </p:txBody>
      </p:sp>
      <p:sp>
        <p:nvSpPr>
          <p:cNvPr id="16" name="Shape 14"/>
          <p:cNvSpPr/>
          <p:nvPr/>
        </p:nvSpPr>
        <p:spPr>
          <a:xfrm>
            <a:off x="4846320" y="2880360"/>
            <a:ext cx="4160520" cy="1737360"/>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17" name="Shape 15"/>
          <p:cNvSpPr/>
          <p:nvPr/>
        </p:nvSpPr>
        <p:spPr>
          <a:xfrm>
            <a:off x="4846320" y="2880360"/>
            <a:ext cx="4160520" cy="274320"/>
          </a:xfrm>
          <a:prstGeom prst="rect">
            <a:avLst/>
          </a:prstGeom>
          <a:solidFill>
            <a:srgbClr val="C0392B"/>
          </a:solidFill>
          <a:ln w="12700">
            <a:solidFill>
              <a:srgbClr val="C0392B"/>
            </a:solidFill>
            <a:prstDash val="solid"/>
          </a:ln>
        </p:spPr>
      </p:sp>
      <p:sp>
        <p:nvSpPr>
          <p:cNvPr id="18" name="Text 16"/>
          <p:cNvSpPr/>
          <p:nvPr/>
        </p:nvSpPr>
        <p:spPr>
          <a:xfrm>
            <a:off x="4937760" y="2880360"/>
            <a:ext cx="3977640" cy="274320"/>
          </a:xfrm>
          <a:prstGeom prst="rect">
            <a:avLst/>
          </a:prstGeom>
          <a:noFill/>
        </p:spPr>
        <p:txBody>
          <a:bodyPr wrap="square" rtlCol="0" anchor="ctr"/>
          <a:lstStyle/>
          <a:p>
            <a:pPr marL="0" indent="0">
              <a:buNone/>
            </a:pPr>
            <a:r>
              <a:rPr lang="en-US" sz="1100" b="1" dirty="0">
                <a:solidFill>
                  <a:srgbClr val="FFFFFF"/>
                </a:solidFill>
                <a:latin typeface="Times New Roman" panose="02020603050405020304" charset="0"/>
                <a:cs typeface="Times New Roman" panose="02020603050405020304" charset="0"/>
              </a:rPr>
              <a:t>Bollinger Bands  |  Volatility</a:t>
            </a:r>
            <a:endParaRPr lang="en-US" sz="1100" b="1" dirty="0">
              <a:solidFill>
                <a:srgbClr val="FFFFFF"/>
              </a:solidFill>
              <a:latin typeface="Times New Roman" panose="02020603050405020304" charset="0"/>
              <a:cs typeface="Times New Roman" panose="02020603050405020304" charset="0"/>
            </a:endParaRPr>
          </a:p>
        </p:txBody>
      </p:sp>
      <p:sp>
        <p:nvSpPr>
          <p:cNvPr id="19" name="Text 17"/>
          <p:cNvSpPr/>
          <p:nvPr/>
        </p:nvSpPr>
        <p:spPr>
          <a:xfrm>
            <a:off x="4956048" y="3209544"/>
            <a:ext cx="3950208" cy="1353312"/>
          </a:xfrm>
          <a:prstGeom prst="rect">
            <a:avLst/>
          </a:prstGeom>
          <a:noFill/>
        </p:spPr>
        <p:txBody>
          <a:bodyPr wrap="square" rtlCol="0" anchor="ctr"/>
          <a:lstStyle/>
          <a:p>
            <a:pPr marL="0" indent="0">
              <a:buNone/>
            </a:pPr>
            <a:r>
              <a:rPr lang="en-US" sz="1100" dirty="0">
                <a:solidFill>
                  <a:srgbClr val="1A2B3C"/>
                </a:solidFill>
                <a:latin typeface="Times New Roman" panose="02020603050405020304" charset="0"/>
                <a:cs typeface="Times New Roman" panose="02020603050405020304" charset="0"/>
              </a:rPr>
              <a:t>20-day SMA ± 2 standard deviations. ~95% of price action falls within bands. Band width captures volatility expansion and contraction cycles.</a:t>
            </a:r>
            <a:endParaRPr lang="en-US" sz="1100" dirty="0">
              <a:solidFill>
                <a:srgbClr val="1A2B3C"/>
              </a:solidFill>
              <a:latin typeface="Times New Roman" panose="02020603050405020304" charset="0"/>
              <a:cs typeface="Times New Roman" panose="02020603050405020304" charset="0"/>
            </a:endParaRPr>
          </a:p>
        </p:txBody>
      </p:sp>
      <p:sp>
        <p:nvSpPr>
          <p:cNvPr id="20" name="Text 18"/>
          <p:cNvSpPr/>
          <p:nvPr/>
        </p:nvSpPr>
        <p:spPr>
          <a:xfrm>
            <a:off x="8046720" y="4800600"/>
            <a:ext cx="914400" cy="228600"/>
          </a:xfrm>
          <a:prstGeom prst="rect">
            <a:avLst/>
          </a:prstGeom>
          <a:noFill/>
        </p:spPr>
        <p:txBody>
          <a:bodyPr wrap="square" rtlCol="0" anchor="ctr"/>
          <a:lstStyle/>
          <a:p>
            <a:pPr marL="0" indent="0" algn="r">
              <a:buNone/>
            </a:pPr>
            <a:r>
              <a:rPr lang="en-US" sz="900" dirty="0">
                <a:solidFill>
                  <a:srgbClr val="5A7490"/>
                </a:solidFill>
                <a:latin typeface="Times New Roman" panose="02020603050405020304" charset="0"/>
                <a:cs typeface="Times New Roman" panose="02020603050405020304" charset="0"/>
              </a:rPr>
              <a:t>8 / 19</a:t>
            </a:r>
            <a:endParaRPr lang="en-US" sz="900" dirty="0">
              <a:solidFill>
                <a:srgbClr val="5A7490"/>
              </a:solidFill>
              <a:latin typeface="Times New Roman" panose="02020603050405020304" charset="0"/>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73152" cy="384048"/>
          </a:xfrm>
          <a:prstGeom prst="rect">
            <a:avLst/>
          </a:prstGeom>
          <a:solidFill>
            <a:srgbClr val="0A7EA4"/>
          </a:solidFill>
          <a:ln w="12700">
            <a:solidFill>
              <a:srgbClr val="0A7EA4"/>
            </a:solidFill>
            <a:prstDash val="solid"/>
          </a:ln>
        </p:spPr>
      </p:sp>
      <p:sp>
        <p:nvSpPr>
          <p:cNvPr id="3" name="Text 1"/>
          <p:cNvSpPr/>
          <p:nvPr/>
        </p:nvSpPr>
        <p:spPr>
          <a:xfrm>
            <a:off x="621792" y="182880"/>
            <a:ext cx="7772400" cy="502920"/>
          </a:xfrm>
          <a:prstGeom prst="rect">
            <a:avLst/>
          </a:prstGeom>
          <a:noFill/>
        </p:spPr>
        <p:txBody>
          <a:bodyPr wrap="square" lIns="0" tIns="0" rIns="0" bIns="0" rtlCol="0" anchor="ctr"/>
          <a:lstStyle/>
          <a:p>
            <a:pPr marL="0" indent="0">
              <a:buNone/>
            </a:pPr>
            <a:r>
              <a:rPr lang="en-US" sz="2200" b="1" dirty="0">
                <a:solidFill>
                  <a:srgbClr val="1A2B3C"/>
                </a:solidFill>
                <a:latin typeface="Times New Roman" panose="02020603050405020304" charset="0"/>
                <a:ea typeface="Calibri" panose="020F0502020204030204" pitchFamily="34" charset="-122"/>
                <a:cs typeface="Times New Roman" panose="02020603050405020304" charset="0"/>
              </a:rPr>
              <a:t>Exploratory Data Analysis — Summary Statistics</a:t>
            </a:r>
            <a:endParaRPr lang="en-US" sz="2200" b="1" dirty="0">
              <a:solidFill>
                <a:srgbClr val="1A2B3C"/>
              </a:solidFill>
              <a:latin typeface="Times New Roman" panose="02020603050405020304" charset="0"/>
              <a:ea typeface="Calibri" panose="020F0502020204030204" pitchFamily="34" charset="-122"/>
              <a:cs typeface="Times New Roman" panose="02020603050405020304" charset="0"/>
            </a:endParaRPr>
          </a:p>
        </p:txBody>
      </p:sp>
      <p:sp>
        <p:nvSpPr>
          <p:cNvPr id="4" name="Shape 2"/>
          <p:cNvSpPr/>
          <p:nvPr/>
        </p:nvSpPr>
        <p:spPr>
          <a:xfrm>
            <a:off x="457200" y="868680"/>
            <a:ext cx="1508760" cy="1005840"/>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5" name="Text 3"/>
          <p:cNvSpPr/>
          <p:nvPr/>
        </p:nvSpPr>
        <p:spPr>
          <a:xfrm>
            <a:off x="457200" y="914400"/>
            <a:ext cx="1508760" cy="594360"/>
          </a:xfrm>
          <a:prstGeom prst="rect">
            <a:avLst/>
          </a:prstGeom>
          <a:noFill/>
        </p:spPr>
        <p:txBody>
          <a:bodyPr wrap="square" rtlCol="0" anchor="ctr"/>
          <a:lstStyle/>
          <a:p>
            <a:pPr marL="0" indent="0" algn="ctr">
              <a:buNone/>
            </a:pPr>
            <a:r>
              <a:rPr lang="en-US" sz="1600" b="1" dirty="0">
                <a:solidFill>
                  <a:srgbClr val="E03C31"/>
                </a:solidFill>
                <a:latin typeface="Times New Roman" panose="02020603050405020304" charset="0"/>
                <a:cs typeface="Times New Roman" panose="02020603050405020304" charset="0"/>
              </a:rPr>
              <a:t>INR 7,511</a:t>
            </a:r>
            <a:endParaRPr lang="en-US" sz="1600" b="1" dirty="0">
              <a:solidFill>
                <a:srgbClr val="E03C31"/>
              </a:solidFill>
              <a:latin typeface="Times New Roman" panose="02020603050405020304" charset="0"/>
              <a:cs typeface="Times New Roman" panose="02020603050405020304" charset="0"/>
            </a:endParaRPr>
          </a:p>
        </p:txBody>
      </p:sp>
      <p:sp>
        <p:nvSpPr>
          <p:cNvPr id="6" name="Text 4"/>
          <p:cNvSpPr/>
          <p:nvPr/>
        </p:nvSpPr>
        <p:spPr>
          <a:xfrm>
            <a:off x="457200" y="1508760"/>
            <a:ext cx="1508760" cy="320040"/>
          </a:xfrm>
          <a:prstGeom prst="rect">
            <a:avLst/>
          </a:prstGeom>
          <a:noFill/>
        </p:spPr>
        <p:txBody>
          <a:bodyPr wrap="square" rtlCol="0" anchor="ctr"/>
          <a:lstStyle/>
          <a:p>
            <a:pPr marL="0" indent="0" algn="ctr">
              <a:buNone/>
            </a:pPr>
            <a:r>
              <a:rPr lang="en-US" sz="900" dirty="0">
                <a:solidFill>
                  <a:srgbClr val="5A7490"/>
                </a:solidFill>
                <a:latin typeface="Times New Roman" panose="02020603050405020304" charset="0"/>
                <a:cs typeface="Times New Roman" panose="02020603050405020304" charset="0"/>
              </a:rPr>
              <a:t>COVID Low (Mar 2020)</a:t>
            </a:r>
            <a:endParaRPr lang="en-US" sz="900" dirty="0">
              <a:solidFill>
                <a:srgbClr val="5A7490"/>
              </a:solidFill>
              <a:latin typeface="Times New Roman" panose="02020603050405020304" charset="0"/>
              <a:cs typeface="Times New Roman" panose="02020603050405020304" charset="0"/>
            </a:endParaRPr>
          </a:p>
        </p:txBody>
      </p:sp>
      <p:sp>
        <p:nvSpPr>
          <p:cNvPr id="7" name="Shape 5"/>
          <p:cNvSpPr/>
          <p:nvPr/>
        </p:nvSpPr>
        <p:spPr>
          <a:xfrm>
            <a:off x="2139696" y="868680"/>
            <a:ext cx="1508760" cy="1005840"/>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8" name="Text 6"/>
          <p:cNvSpPr/>
          <p:nvPr/>
        </p:nvSpPr>
        <p:spPr>
          <a:xfrm>
            <a:off x="2139696" y="914400"/>
            <a:ext cx="1508760" cy="594360"/>
          </a:xfrm>
          <a:prstGeom prst="rect">
            <a:avLst/>
          </a:prstGeom>
          <a:noFill/>
        </p:spPr>
        <p:txBody>
          <a:bodyPr wrap="square" rtlCol="0" anchor="ctr"/>
          <a:lstStyle/>
          <a:p>
            <a:pPr marL="0" indent="0" algn="ctr">
              <a:buNone/>
            </a:pPr>
            <a:r>
              <a:rPr lang="en-US" sz="1600" b="1" dirty="0">
                <a:solidFill>
                  <a:srgbClr val="1DB954"/>
                </a:solidFill>
                <a:latin typeface="Times New Roman" panose="02020603050405020304" charset="0"/>
                <a:cs typeface="Times New Roman" panose="02020603050405020304" charset="0"/>
              </a:rPr>
              <a:t>INR 22,775</a:t>
            </a:r>
            <a:endParaRPr lang="en-US" sz="1600" b="1" dirty="0">
              <a:solidFill>
                <a:srgbClr val="1DB954"/>
              </a:solidFill>
              <a:latin typeface="Times New Roman" panose="02020603050405020304" charset="0"/>
              <a:cs typeface="Times New Roman" panose="02020603050405020304" charset="0"/>
            </a:endParaRPr>
          </a:p>
        </p:txBody>
      </p:sp>
      <p:sp>
        <p:nvSpPr>
          <p:cNvPr id="9" name="Text 7"/>
          <p:cNvSpPr/>
          <p:nvPr/>
        </p:nvSpPr>
        <p:spPr>
          <a:xfrm>
            <a:off x="2139696" y="1508760"/>
            <a:ext cx="1508760" cy="320040"/>
          </a:xfrm>
          <a:prstGeom prst="rect">
            <a:avLst/>
          </a:prstGeom>
          <a:noFill/>
        </p:spPr>
        <p:txBody>
          <a:bodyPr wrap="square" rtlCol="0" anchor="ctr"/>
          <a:lstStyle/>
          <a:p>
            <a:pPr marL="0" indent="0" algn="ctr">
              <a:buNone/>
            </a:pPr>
            <a:r>
              <a:rPr lang="en-US" sz="900" dirty="0">
                <a:solidFill>
                  <a:srgbClr val="5A7490"/>
                </a:solidFill>
                <a:latin typeface="Times New Roman" panose="02020603050405020304" charset="0"/>
                <a:cs typeface="Times New Roman" panose="02020603050405020304" charset="0"/>
              </a:rPr>
              <a:t>All-Time High (Dec 2023)</a:t>
            </a:r>
            <a:endParaRPr lang="en-US" sz="900" dirty="0">
              <a:solidFill>
                <a:srgbClr val="5A7490"/>
              </a:solidFill>
              <a:latin typeface="Times New Roman" panose="02020603050405020304" charset="0"/>
              <a:cs typeface="Times New Roman" panose="02020603050405020304" charset="0"/>
            </a:endParaRPr>
          </a:p>
        </p:txBody>
      </p:sp>
      <p:sp>
        <p:nvSpPr>
          <p:cNvPr id="10" name="Shape 8"/>
          <p:cNvSpPr/>
          <p:nvPr/>
        </p:nvSpPr>
        <p:spPr>
          <a:xfrm>
            <a:off x="3822192" y="868680"/>
            <a:ext cx="1508760" cy="1005840"/>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11" name="Text 9"/>
          <p:cNvSpPr/>
          <p:nvPr/>
        </p:nvSpPr>
        <p:spPr>
          <a:xfrm>
            <a:off x="3822192" y="914400"/>
            <a:ext cx="1508760" cy="594360"/>
          </a:xfrm>
          <a:prstGeom prst="rect">
            <a:avLst/>
          </a:prstGeom>
          <a:noFill/>
        </p:spPr>
        <p:txBody>
          <a:bodyPr wrap="square" rtlCol="0" anchor="ctr"/>
          <a:lstStyle/>
          <a:p>
            <a:pPr marL="0" indent="0" algn="ctr">
              <a:buNone/>
            </a:pPr>
            <a:r>
              <a:rPr lang="en-US" sz="1600" b="1" dirty="0">
                <a:solidFill>
                  <a:srgbClr val="0A7EA4"/>
                </a:solidFill>
                <a:latin typeface="Times New Roman" panose="02020603050405020304" charset="0"/>
                <a:cs typeface="Times New Roman" panose="02020603050405020304" charset="0"/>
              </a:rPr>
              <a:t>203%</a:t>
            </a:r>
            <a:endParaRPr lang="en-US" sz="1600" b="1" dirty="0">
              <a:solidFill>
                <a:srgbClr val="0A7EA4"/>
              </a:solidFill>
              <a:latin typeface="Times New Roman" panose="02020603050405020304" charset="0"/>
              <a:cs typeface="Times New Roman" panose="02020603050405020304" charset="0"/>
            </a:endParaRPr>
          </a:p>
        </p:txBody>
      </p:sp>
      <p:sp>
        <p:nvSpPr>
          <p:cNvPr id="12" name="Text 10"/>
          <p:cNvSpPr/>
          <p:nvPr/>
        </p:nvSpPr>
        <p:spPr>
          <a:xfrm>
            <a:off x="3822192" y="1508760"/>
            <a:ext cx="1508760" cy="320040"/>
          </a:xfrm>
          <a:prstGeom prst="rect">
            <a:avLst/>
          </a:prstGeom>
          <a:noFill/>
        </p:spPr>
        <p:txBody>
          <a:bodyPr wrap="square" rtlCol="0" anchor="ctr"/>
          <a:lstStyle/>
          <a:p>
            <a:pPr marL="0" indent="0" algn="ctr">
              <a:buNone/>
            </a:pPr>
            <a:r>
              <a:rPr lang="en-US" sz="900" dirty="0">
                <a:solidFill>
                  <a:srgbClr val="5A7490"/>
                </a:solidFill>
                <a:latin typeface="Times New Roman" panose="02020603050405020304" charset="0"/>
                <a:cs typeface="Times New Roman" panose="02020603050405020304" charset="0"/>
              </a:rPr>
              <a:t>Full Cycle Range</a:t>
            </a:r>
            <a:endParaRPr lang="en-US" sz="900" dirty="0">
              <a:solidFill>
                <a:srgbClr val="5A7490"/>
              </a:solidFill>
              <a:latin typeface="Times New Roman" panose="02020603050405020304" charset="0"/>
              <a:cs typeface="Times New Roman" panose="02020603050405020304" charset="0"/>
            </a:endParaRPr>
          </a:p>
        </p:txBody>
      </p:sp>
      <p:sp>
        <p:nvSpPr>
          <p:cNvPr id="13" name="Shape 11"/>
          <p:cNvSpPr/>
          <p:nvPr/>
        </p:nvSpPr>
        <p:spPr>
          <a:xfrm>
            <a:off x="5504688" y="868680"/>
            <a:ext cx="1508760" cy="1005840"/>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14" name="Text 12"/>
          <p:cNvSpPr/>
          <p:nvPr/>
        </p:nvSpPr>
        <p:spPr>
          <a:xfrm>
            <a:off x="5504688" y="914400"/>
            <a:ext cx="1508760" cy="594360"/>
          </a:xfrm>
          <a:prstGeom prst="rect">
            <a:avLst/>
          </a:prstGeom>
          <a:noFill/>
        </p:spPr>
        <p:txBody>
          <a:bodyPr wrap="square" rtlCol="0" anchor="ctr"/>
          <a:lstStyle/>
          <a:p>
            <a:pPr marL="0" indent="0" algn="ctr">
              <a:buNone/>
            </a:pPr>
            <a:r>
              <a:rPr lang="en-US" sz="1600" b="1" dirty="0">
                <a:solidFill>
                  <a:srgbClr val="7952B3"/>
                </a:solidFill>
                <a:latin typeface="Times New Roman" panose="02020603050405020304" charset="0"/>
                <a:cs typeface="Times New Roman" panose="02020603050405020304" charset="0"/>
              </a:rPr>
              <a:t>18.7%</a:t>
            </a:r>
            <a:endParaRPr lang="en-US" sz="1600" b="1" dirty="0">
              <a:solidFill>
                <a:srgbClr val="7952B3"/>
              </a:solidFill>
              <a:latin typeface="Times New Roman" panose="02020603050405020304" charset="0"/>
              <a:cs typeface="Times New Roman" panose="02020603050405020304" charset="0"/>
            </a:endParaRPr>
          </a:p>
        </p:txBody>
      </p:sp>
      <p:sp>
        <p:nvSpPr>
          <p:cNvPr id="15" name="Text 13"/>
          <p:cNvSpPr/>
          <p:nvPr/>
        </p:nvSpPr>
        <p:spPr>
          <a:xfrm>
            <a:off x="5504688" y="1508760"/>
            <a:ext cx="1508760" cy="320040"/>
          </a:xfrm>
          <a:prstGeom prst="rect">
            <a:avLst/>
          </a:prstGeom>
          <a:noFill/>
        </p:spPr>
        <p:txBody>
          <a:bodyPr wrap="square" rtlCol="0" anchor="ctr"/>
          <a:lstStyle/>
          <a:p>
            <a:pPr marL="0" indent="0" algn="ctr">
              <a:buNone/>
            </a:pPr>
            <a:r>
              <a:rPr lang="en-US" sz="900" dirty="0">
                <a:solidFill>
                  <a:srgbClr val="5A7490"/>
                </a:solidFill>
                <a:latin typeface="Times New Roman" panose="02020603050405020304" charset="0"/>
                <a:cs typeface="Times New Roman" panose="02020603050405020304" charset="0"/>
              </a:rPr>
              <a:t>CAGR 2020–2023</a:t>
            </a:r>
            <a:endParaRPr lang="en-US" sz="900" dirty="0">
              <a:solidFill>
                <a:srgbClr val="5A7490"/>
              </a:solidFill>
              <a:latin typeface="Times New Roman" panose="02020603050405020304" charset="0"/>
              <a:cs typeface="Times New Roman" panose="02020603050405020304" charset="0"/>
            </a:endParaRPr>
          </a:p>
        </p:txBody>
      </p:sp>
      <p:sp>
        <p:nvSpPr>
          <p:cNvPr id="16" name="Shape 14"/>
          <p:cNvSpPr/>
          <p:nvPr/>
        </p:nvSpPr>
        <p:spPr>
          <a:xfrm>
            <a:off x="7187184" y="868680"/>
            <a:ext cx="1508760" cy="1005840"/>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17" name="Text 15"/>
          <p:cNvSpPr/>
          <p:nvPr/>
        </p:nvSpPr>
        <p:spPr>
          <a:xfrm>
            <a:off x="7187184" y="914400"/>
            <a:ext cx="1508760" cy="594360"/>
          </a:xfrm>
          <a:prstGeom prst="rect">
            <a:avLst/>
          </a:prstGeom>
          <a:noFill/>
        </p:spPr>
        <p:txBody>
          <a:bodyPr wrap="square" rtlCol="0" anchor="ctr"/>
          <a:lstStyle/>
          <a:p>
            <a:pPr marL="0" indent="0" algn="ctr">
              <a:buNone/>
            </a:pPr>
            <a:r>
              <a:rPr lang="en-US" sz="1600" b="1" dirty="0">
                <a:solidFill>
                  <a:srgbClr val="F5A623"/>
                </a:solidFill>
                <a:latin typeface="Times New Roman" panose="02020603050405020304" charset="0"/>
                <a:cs typeface="Times New Roman" panose="02020603050405020304" charset="0"/>
              </a:rPr>
              <a:t>1.14%</a:t>
            </a:r>
            <a:endParaRPr lang="en-US" sz="1600" b="1" dirty="0">
              <a:solidFill>
                <a:srgbClr val="F5A623"/>
              </a:solidFill>
              <a:latin typeface="Times New Roman" panose="02020603050405020304" charset="0"/>
              <a:cs typeface="Times New Roman" panose="02020603050405020304" charset="0"/>
            </a:endParaRPr>
          </a:p>
        </p:txBody>
      </p:sp>
      <p:sp>
        <p:nvSpPr>
          <p:cNvPr id="18" name="Text 16"/>
          <p:cNvSpPr/>
          <p:nvPr/>
        </p:nvSpPr>
        <p:spPr>
          <a:xfrm>
            <a:off x="7187184" y="1508760"/>
            <a:ext cx="1508760" cy="320040"/>
          </a:xfrm>
          <a:prstGeom prst="rect">
            <a:avLst/>
          </a:prstGeom>
          <a:noFill/>
        </p:spPr>
        <p:txBody>
          <a:bodyPr wrap="square" rtlCol="0" anchor="ctr"/>
          <a:lstStyle/>
          <a:p>
            <a:pPr marL="0" indent="0" algn="ctr">
              <a:buNone/>
            </a:pPr>
            <a:r>
              <a:rPr lang="en-US" sz="900" dirty="0">
                <a:solidFill>
                  <a:srgbClr val="5A7490"/>
                </a:solidFill>
                <a:latin typeface="Times New Roman" panose="02020603050405020304" charset="0"/>
                <a:cs typeface="Times New Roman" panose="02020603050405020304" charset="0"/>
              </a:rPr>
              <a:t>Daily Return Std Dev</a:t>
            </a:r>
            <a:endParaRPr lang="en-US" sz="900" dirty="0">
              <a:solidFill>
                <a:srgbClr val="5A7490"/>
              </a:solidFill>
              <a:latin typeface="Times New Roman" panose="02020603050405020304" charset="0"/>
              <a:cs typeface="Times New Roman" panose="02020603050405020304" charset="0"/>
            </a:endParaRPr>
          </a:p>
        </p:txBody>
      </p:sp>
      <p:sp>
        <p:nvSpPr>
          <p:cNvPr id="19" name="Shape 17"/>
          <p:cNvSpPr/>
          <p:nvPr/>
        </p:nvSpPr>
        <p:spPr>
          <a:xfrm>
            <a:off x="457200" y="2011680"/>
            <a:ext cx="4114800" cy="2606040"/>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20" name="Text 18"/>
          <p:cNvSpPr/>
          <p:nvPr/>
        </p:nvSpPr>
        <p:spPr>
          <a:xfrm>
            <a:off x="594360" y="2084832"/>
            <a:ext cx="3840480" cy="347472"/>
          </a:xfrm>
          <a:prstGeom prst="rect">
            <a:avLst/>
          </a:prstGeom>
          <a:noFill/>
        </p:spPr>
        <p:txBody>
          <a:bodyPr wrap="square" rtlCol="0" anchor="ctr"/>
          <a:lstStyle/>
          <a:p>
            <a:pPr marL="0" indent="0">
              <a:buNone/>
            </a:pPr>
            <a:r>
              <a:rPr lang="en-US" sz="1300" b="1" dirty="0">
                <a:solidFill>
                  <a:srgbClr val="0A7EA4"/>
                </a:solidFill>
                <a:latin typeface="Times New Roman" panose="02020603050405020304" charset="0"/>
                <a:cs typeface="Times New Roman" panose="02020603050405020304" charset="0"/>
              </a:rPr>
              <a:t>Pearson Correlation Highlights</a:t>
            </a:r>
            <a:endParaRPr lang="en-US" sz="1300" b="1" dirty="0">
              <a:solidFill>
                <a:srgbClr val="0A7EA4"/>
              </a:solidFill>
              <a:latin typeface="Times New Roman" panose="02020603050405020304" charset="0"/>
              <a:cs typeface="Times New Roman" panose="02020603050405020304" charset="0"/>
            </a:endParaRPr>
          </a:p>
        </p:txBody>
      </p:sp>
      <p:sp>
        <p:nvSpPr>
          <p:cNvPr id="21" name="Text 19"/>
          <p:cNvSpPr/>
          <p:nvPr/>
        </p:nvSpPr>
        <p:spPr>
          <a:xfrm>
            <a:off x="594360" y="2542032"/>
            <a:ext cx="1737360" cy="320040"/>
          </a:xfrm>
          <a:prstGeom prst="rect">
            <a:avLst/>
          </a:prstGeom>
          <a:noFill/>
        </p:spPr>
        <p:txBody>
          <a:bodyPr wrap="square" rtlCol="0" anchor="ctr"/>
          <a:lstStyle/>
          <a:p>
            <a:pPr marL="0" indent="0">
              <a:buNone/>
            </a:pPr>
            <a:r>
              <a:rPr lang="en-US" sz="1100" dirty="0">
                <a:solidFill>
                  <a:srgbClr val="1A2B3C"/>
                </a:solidFill>
                <a:latin typeface="Times New Roman" panose="02020603050405020304" charset="0"/>
                <a:cs typeface="Times New Roman" panose="02020603050405020304" charset="0"/>
              </a:rPr>
              <a:t>Close ↔ Open</a:t>
            </a:r>
            <a:endParaRPr lang="en-US" sz="1100" dirty="0">
              <a:solidFill>
                <a:srgbClr val="1A2B3C"/>
              </a:solidFill>
              <a:latin typeface="Times New Roman" panose="02020603050405020304" charset="0"/>
              <a:cs typeface="Times New Roman" panose="02020603050405020304" charset="0"/>
            </a:endParaRPr>
          </a:p>
        </p:txBody>
      </p:sp>
      <p:sp>
        <p:nvSpPr>
          <p:cNvPr id="22" name="Shape 20"/>
          <p:cNvSpPr/>
          <p:nvPr/>
        </p:nvSpPr>
        <p:spPr>
          <a:xfrm>
            <a:off x="2395728" y="2615184"/>
            <a:ext cx="1645920" cy="182880"/>
          </a:xfrm>
          <a:prstGeom prst="rect">
            <a:avLst/>
          </a:prstGeom>
          <a:solidFill>
            <a:srgbClr val="E0EAF2"/>
          </a:solidFill>
          <a:ln w="12700">
            <a:solidFill>
              <a:srgbClr val="E0EAF2"/>
            </a:solidFill>
            <a:prstDash val="solid"/>
          </a:ln>
        </p:spPr>
      </p:sp>
      <p:sp>
        <p:nvSpPr>
          <p:cNvPr id="23" name="Shape 21"/>
          <p:cNvSpPr/>
          <p:nvPr/>
        </p:nvSpPr>
        <p:spPr>
          <a:xfrm>
            <a:off x="2395728" y="2615184"/>
            <a:ext cx="1613002" cy="182880"/>
          </a:xfrm>
          <a:prstGeom prst="rect">
            <a:avLst/>
          </a:prstGeom>
          <a:solidFill>
            <a:srgbClr val="0A7EA4"/>
          </a:solidFill>
          <a:ln w="12700">
            <a:solidFill>
              <a:srgbClr val="0A7EA4"/>
            </a:solidFill>
            <a:prstDash val="solid"/>
          </a:ln>
        </p:spPr>
      </p:sp>
      <p:sp>
        <p:nvSpPr>
          <p:cNvPr id="24" name="Text 22"/>
          <p:cNvSpPr/>
          <p:nvPr/>
        </p:nvSpPr>
        <p:spPr>
          <a:xfrm>
            <a:off x="4114800" y="2542032"/>
            <a:ext cx="411480" cy="320040"/>
          </a:xfrm>
          <a:prstGeom prst="rect">
            <a:avLst/>
          </a:prstGeom>
          <a:noFill/>
        </p:spPr>
        <p:txBody>
          <a:bodyPr wrap="square" rtlCol="0" anchor="ctr"/>
          <a:lstStyle/>
          <a:p>
            <a:pPr marL="0" indent="0" algn="r">
              <a:buNone/>
            </a:pPr>
            <a:r>
              <a:rPr lang="en-US" sz="1000" dirty="0">
                <a:solidFill>
                  <a:srgbClr val="5A7490"/>
                </a:solidFill>
                <a:latin typeface="Times New Roman" panose="02020603050405020304" charset="0"/>
                <a:cs typeface="Times New Roman" panose="02020603050405020304" charset="0"/>
              </a:rPr>
              <a:t>r = 0.98</a:t>
            </a:r>
            <a:endParaRPr lang="en-US" sz="1000" dirty="0">
              <a:solidFill>
                <a:srgbClr val="5A7490"/>
              </a:solidFill>
              <a:latin typeface="Times New Roman" panose="02020603050405020304" charset="0"/>
              <a:cs typeface="Times New Roman" panose="02020603050405020304" charset="0"/>
            </a:endParaRPr>
          </a:p>
        </p:txBody>
      </p:sp>
      <p:sp>
        <p:nvSpPr>
          <p:cNvPr id="25" name="Text 23"/>
          <p:cNvSpPr/>
          <p:nvPr/>
        </p:nvSpPr>
        <p:spPr>
          <a:xfrm>
            <a:off x="594360" y="2935224"/>
            <a:ext cx="1737360" cy="320040"/>
          </a:xfrm>
          <a:prstGeom prst="rect">
            <a:avLst/>
          </a:prstGeom>
          <a:noFill/>
        </p:spPr>
        <p:txBody>
          <a:bodyPr wrap="square" rtlCol="0" anchor="ctr"/>
          <a:lstStyle/>
          <a:p>
            <a:pPr marL="0" indent="0">
              <a:buNone/>
            </a:pPr>
            <a:r>
              <a:rPr lang="en-US" sz="1100" dirty="0">
                <a:solidFill>
                  <a:srgbClr val="1A2B3C"/>
                </a:solidFill>
                <a:latin typeface="Times New Roman" panose="02020603050405020304" charset="0"/>
                <a:cs typeface="Times New Roman" panose="02020603050405020304" charset="0"/>
              </a:rPr>
              <a:t>Close ↔ MA20</a:t>
            </a:r>
            <a:endParaRPr lang="en-US" sz="1100" dirty="0">
              <a:solidFill>
                <a:srgbClr val="1A2B3C"/>
              </a:solidFill>
              <a:latin typeface="Times New Roman" panose="02020603050405020304" charset="0"/>
              <a:cs typeface="Times New Roman" panose="02020603050405020304" charset="0"/>
            </a:endParaRPr>
          </a:p>
        </p:txBody>
      </p:sp>
      <p:sp>
        <p:nvSpPr>
          <p:cNvPr id="26" name="Shape 24"/>
          <p:cNvSpPr/>
          <p:nvPr/>
        </p:nvSpPr>
        <p:spPr>
          <a:xfrm>
            <a:off x="2395728" y="3008376"/>
            <a:ext cx="1645920" cy="182880"/>
          </a:xfrm>
          <a:prstGeom prst="rect">
            <a:avLst/>
          </a:prstGeom>
          <a:solidFill>
            <a:srgbClr val="E0EAF2"/>
          </a:solidFill>
          <a:ln w="12700">
            <a:solidFill>
              <a:srgbClr val="E0EAF2"/>
            </a:solidFill>
            <a:prstDash val="solid"/>
          </a:ln>
        </p:spPr>
      </p:sp>
      <p:sp>
        <p:nvSpPr>
          <p:cNvPr id="27" name="Shape 25"/>
          <p:cNvSpPr/>
          <p:nvPr/>
        </p:nvSpPr>
        <p:spPr>
          <a:xfrm>
            <a:off x="2395728" y="3008376"/>
            <a:ext cx="1448410" cy="182880"/>
          </a:xfrm>
          <a:prstGeom prst="rect">
            <a:avLst/>
          </a:prstGeom>
          <a:solidFill>
            <a:srgbClr val="0A7EA4"/>
          </a:solidFill>
          <a:ln w="12700">
            <a:solidFill>
              <a:srgbClr val="0A7EA4"/>
            </a:solidFill>
            <a:prstDash val="solid"/>
          </a:ln>
        </p:spPr>
      </p:sp>
      <p:sp>
        <p:nvSpPr>
          <p:cNvPr id="28" name="Text 26"/>
          <p:cNvSpPr/>
          <p:nvPr/>
        </p:nvSpPr>
        <p:spPr>
          <a:xfrm>
            <a:off x="4114800" y="2935224"/>
            <a:ext cx="411480" cy="320040"/>
          </a:xfrm>
          <a:prstGeom prst="rect">
            <a:avLst/>
          </a:prstGeom>
          <a:noFill/>
        </p:spPr>
        <p:txBody>
          <a:bodyPr wrap="square" rtlCol="0" anchor="ctr"/>
          <a:lstStyle/>
          <a:p>
            <a:pPr marL="0" indent="0" algn="r">
              <a:buNone/>
            </a:pPr>
            <a:r>
              <a:rPr lang="en-US" sz="1000" dirty="0">
                <a:solidFill>
                  <a:srgbClr val="5A7490"/>
                </a:solidFill>
                <a:latin typeface="Times New Roman" panose="02020603050405020304" charset="0"/>
                <a:cs typeface="Times New Roman" panose="02020603050405020304" charset="0"/>
              </a:rPr>
              <a:t>r = 0.88</a:t>
            </a:r>
            <a:endParaRPr lang="en-US" sz="1000" dirty="0">
              <a:solidFill>
                <a:srgbClr val="5A7490"/>
              </a:solidFill>
              <a:latin typeface="Times New Roman" panose="02020603050405020304" charset="0"/>
              <a:cs typeface="Times New Roman" panose="02020603050405020304" charset="0"/>
            </a:endParaRPr>
          </a:p>
        </p:txBody>
      </p:sp>
      <p:sp>
        <p:nvSpPr>
          <p:cNvPr id="29" name="Text 27"/>
          <p:cNvSpPr/>
          <p:nvPr/>
        </p:nvSpPr>
        <p:spPr>
          <a:xfrm>
            <a:off x="594360" y="3328416"/>
            <a:ext cx="1737360" cy="320040"/>
          </a:xfrm>
          <a:prstGeom prst="rect">
            <a:avLst/>
          </a:prstGeom>
          <a:noFill/>
        </p:spPr>
        <p:txBody>
          <a:bodyPr wrap="square" rtlCol="0" anchor="ctr"/>
          <a:lstStyle/>
          <a:p>
            <a:pPr marL="0" indent="0">
              <a:buNone/>
            </a:pPr>
            <a:r>
              <a:rPr lang="en-US" sz="1100" dirty="0">
                <a:solidFill>
                  <a:srgbClr val="1A2B3C"/>
                </a:solidFill>
                <a:latin typeface="Times New Roman" panose="02020603050405020304" charset="0"/>
                <a:cs typeface="Times New Roman" panose="02020603050405020304" charset="0"/>
              </a:rPr>
              <a:t>Close ↔ MA50</a:t>
            </a:r>
            <a:endParaRPr lang="en-US" sz="1100" dirty="0">
              <a:solidFill>
                <a:srgbClr val="1A2B3C"/>
              </a:solidFill>
              <a:latin typeface="Times New Roman" panose="02020603050405020304" charset="0"/>
              <a:cs typeface="Times New Roman" panose="02020603050405020304" charset="0"/>
            </a:endParaRPr>
          </a:p>
        </p:txBody>
      </p:sp>
      <p:sp>
        <p:nvSpPr>
          <p:cNvPr id="30" name="Shape 28"/>
          <p:cNvSpPr/>
          <p:nvPr/>
        </p:nvSpPr>
        <p:spPr>
          <a:xfrm>
            <a:off x="2395728" y="3401568"/>
            <a:ext cx="1645920" cy="182880"/>
          </a:xfrm>
          <a:prstGeom prst="rect">
            <a:avLst/>
          </a:prstGeom>
          <a:solidFill>
            <a:srgbClr val="E0EAF2"/>
          </a:solidFill>
          <a:ln w="12700">
            <a:solidFill>
              <a:srgbClr val="E0EAF2"/>
            </a:solidFill>
            <a:prstDash val="solid"/>
          </a:ln>
        </p:spPr>
      </p:sp>
      <p:sp>
        <p:nvSpPr>
          <p:cNvPr id="31" name="Shape 29"/>
          <p:cNvSpPr/>
          <p:nvPr/>
        </p:nvSpPr>
        <p:spPr>
          <a:xfrm>
            <a:off x="2395728" y="3401568"/>
            <a:ext cx="1349654" cy="182880"/>
          </a:xfrm>
          <a:prstGeom prst="rect">
            <a:avLst/>
          </a:prstGeom>
          <a:solidFill>
            <a:srgbClr val="0A7EA4"/>
          </a:solidFill>
          <a:ln w="12700">
            <a:solidFill>
              <a:srgbClr val="0A7EA4"/>
            </a:solidFill>
            <a:prstDash val="solid"/>
          </a:ln>
        </p:spPr>
      </p:sp>
      <p:sp>
        <p:nvSpPr>
          <p:cNvPr id="32" name="Text 30"/>
          <p:cNvSpPr/>
          <p:nvPr/>
        </p:nvSpPr>
        <p:spPr>
          <a:xfrm>
            <a:off x="4114800" y="3328416"/>
            <a:ext cx="411480" cy="320040"/>
          </a:xfrm>
          <a:prstGeom prst="rect">
            <a:avLst/>
          </a:prstGeom>
          <a:noFill/>
        </p:spPr>
        <p:txBody>
          <a:bodyPr wrap="square" rtlCol="0" anchor="ctr"/>
          <a:lstStyle/>
          <a:p>
            <a:pPr marL="0" indent="0" algn="r">
              <a:buNone/>
            </a:pPr>
            <a:r>
              <a:rPr lang="en-US" sz="1000" dirty="0">
                <a:solidFill>
                  <a:srgbClr val="5A7490"/>
                </a:solidFill>
                <a:latin typeface="Times New Roman" panose="02020603050405020304" charset="0"/>
                <a:cs typeface="Times New Roman" panose="02020603050405020304" charset="0"/>
              </a:rPr>
              <a:t>r = 0.82</a:t>
            </a:r>
            <a:endParaRPr lang="en-US" sz="1000" dirty="0">
              <a:solidFill>
                <a:srgbClr val="5A7490"/>
              </a:solidFill>
              <a:latin typeface="Times New Roman" panose="02020603050405020304" charset="0"/>
              <a:cs typeface="Times New Roman" panose="02020603050405020304" charset="0"/>
            </a:endParaRPr>
          </a:p>
        </p:txBody>
      </p:sp>
      <p:sp>
        <p:nvSpPr>
          <p:cNvPr id="33" name="Text 31"/>
          <p:cNvSpPr/>
          <p:nvPr/>
        </p:nvSpPr>
        <p:spPr>
          <a:xfrm>
            <a:off x="594360" y="3721608"/>
            <a:ext cx="1737360" cy="320040"/>
          </a:xfrm>
          <a:prstGeom prst="rect">
            <a:avLst/>
          </a:prstGeom>
          <a:noFill/>
        </p:spPr>
        <p:txBody>
          <a:bodyPr wrap="square" rtlCol="0" anchor="ctr"/>
          <a:lstStyle/>
          <a:p>
            <a:pPr marL="0" indent="0">
              <a:buNone/>
            </a:pPr>
            <a:r>
              <a:rPr lang="en-US" sz="1100" dirty="0">
                <a:solidFill>
                  <a:srgbClr val="1A2B3C"/>
                </a:solidFill>
                <a:latin typeface="Times New Roman" panose="02020603050405020304" charset="0"/>
                <a:cs typeface="Times New Roman" panose="02020603050405020304" charset="0"/>
              </a:rPr>
              <a:t>Close ↔ MACD</a:t>
            </a:r>
            <a:endParaRPr lang="en-US" sz="1100" dirty="0">
              <a:solidFill>
                <a:srgbClr val="1A2B3C"/>
              </a:solidFill>
              <a:latin typeface="Times New Roman" panose="02020603050405020304" charset="0"/>
              <a:cs typeface="Times New Roman" panose="02020603050405020304" charset="0"/>
            </a:endParaRPr>
          </a:p>
        </p:txBody>
      </p:sp>
      <p:sp>
        <p:nvSpPr>
          <p:cNvPr id="34" name="Shape 32"/>
          <p:cNvSpPr/>
          <p:nvPr/>
        </p:nvSpPr>
        <p:spPr>
          <a:xfrm>
            <a:off x="2395728" y="3794760"/>
            <a:ext cx="1645920" cy="182880"/>
          </a:xfrm>
          <a:prstGeom prst="rect">
            <a:avLst/>
          </a:prstGeom>
          <a:solidFill>
            <a:srgbClr val="E0EAF2"/>
          </a:solidFill>
          <a:ln w="12700">
            <a:solidFill>
              <a:srgbClr val="E0EAF2"/>
            </a:solidFill>
            <a:prstDash val="solid"/>
          </a:ln>
        </p:spPr>
      </p:sp>
      <p:sp>
        <p:nvSpPr>
          <p:cNvPr id="35" name="Shape 33"/>
          <p:cNvSpPr/>
          <p:nvPr/>
        </p:nvSpPr>
        <p:spPr>
          <a:xfrm>
            <a:off x="2395728" y="3794760"/>
            <a:ext cx="674827" cy="182880"/>
          </a:xfrm>
          <a:prstGeom prst="rect">
            <a:avLst/>
          </a:prstGeom>
          <a:solidFill>
            <a:srgbClr val="0A7EA4"/>
          </a:solidFill>
          <a:ln w="12700">
            <a:solidFill>
              <a:srgbClr val="0A7EA4"/>
            </a:solidFill>
            <a:prstDash val="solid"/>
          </a:ln>
        </p:spPr>
      </p:sp>
      <p:sp>
        <p:nvSpPr>
          <p:cNvPr id="36" name="Text 34"/>
          <p:cNvSpPr/>
          <p:nvPr/>
        </p:nvSpPr>
        <p:spPr>
          <a:xfrm>
            <a:off x="4114800" y="3721608"/>
            <a:ext cx="411480" cy="320040"/>
          </a:xfrm>
          <a:prstGeom prst="rect">
            <a:avLst/>
          </a:prstGeom>
          <a:noFill/>
        </p:spPr>
        <p:txBody>
          <a:bodyPr wrap="square" rtlCol="0" anchor="ctr"/>
          <a:lstStyle/>
          <a:p>
            <a:pPr marL="0" indent="0" algn="r">
              <a:buNone/>
            </a:pPr>
            <a:r>
              <a:rPr lang="en-US" sz="1000" dirty="0">
                <a:solidFill>
                  <a:srgbClr val="5A7490"/>
                </a:solidFill>
                <a:latin typeface="Times New Roman" panose="02020603050405020304" charset="0"/>
                <a:cs typeface="Times New Roman" panose="02020603050405020304" charset="0"/>
              </a:rPr>
              <a:t>r = 0.41</a:t>
            </a:r>
            <a:endParaRPr lang="en-US" sz="1000" dirty="0">
              <a:solidFill>
                <a:srgbClr val="5A7490"/>
              </a:solidFill>
              <a:latin typeface="Times New Roman" panose="02020603050405020304" charset="0"/>
              <a:cs typeface="Times New Roman" panose="02020603050405020304" charset="0"/>
            </a:endParaRPr>
          </a:p>
        </p:txBody>
      </p:sp>
      <p:sp>
        <p:nvSpPr>
          <p:cNvPr id="37" name="Text 35"/>
          <p:cNvSpPr/>
          <p:nvPr/>
        </p:nvSpPr>
        <p:spPr>
          <a:xfrm>
            <a:off x="594360" y="4114800"/>
            <a:ext cx="1737360" cy="320040"/>
          </a:xfrm>
          <a:prstGeom prst="rect">
            <a:avLst/>
          </a:prstGeom>
          <a:noFill/>
        </p:spPr>
        <p:txBody>
          <a:bodyPr wrap="square" rtlCol="0" anchor="ctr"/>
          <a:lstStyle/>
          <a:p>
            <a:pPr marL="0" indent="0">
              <a:buNone/>
            </a:pPr>
            <a:r>
              <a:rPr lang="en-US" sz="1100" dirty="0">
                <a:solidFill>
                  <a:srgbClr val="1A2B3C"/>
                </a:solidFill>
                <a:latin typeface="Times New Roman" panose="02020603050405020304" charset="0"/>
                <a:cs typeface="Times New Roman" panose="02020603050405020304" charset="0"/>
              </a:rPr>
              <a:t>Close ↔ Volume</a:t>
            </a:r>
            <a:endParaRPr lang="en-US" sz="1100" dirty="0">
              <a:solidFill>
                <a:srgbClr val="1A2B3C"/>
              </a:solidFill>
              <a:latin typeface="Times New Roman" panose="02020603050405020304" charset="0"/>
              <a:cs typeface="Times New Roman" panose="02020603050405020304" charset="0"/>
            </a:endParaRPr>
          </a:p>
        </p:txBody>
      </p:sp>
      <p:sp>
        <p:nvSpPr>
          <p:cNvPr id="38" name="Shape 36"/>
          <p:cNvSpPr/>
          <p:nvPr/>
        </p:nvSpPr>
        <p:spPr>
          <a:xfrm>
            <a:off x="2395728" y="4187952"/>
            <a:ext cx="1645920" cy="182880"/>
          </a:xfrm>
          <a:prstGeom prst="rect">
            <a:avLst/>
          </a:prstGeom>
          <a:solidFill>
            <a:srgbClr val="E0EAF2"/>
          </a:solidFill>
          <a:ln w="12700">
            <a:solidFill>
              <a:srgbClr val="E0EAF2"/>
            </a:solidFill>
            <a:prstDash val="solid"/>
          </a:ln>
        </p:spPr>
      </p:sp>
      <p:sp>
        <p:nvSpPr>
          <p:cNvPr id="39" name="Shape 37"/>
          <p:cNvSpPr/>
          <p:nvPr/>
        </p:nvSpPr>
        <p:spPr>
          <a:xfrm>
            <a:off x="2395728" y="4187952"/>
            <a:ext cx="197510" cy="182880"/>
          </a:xfrm>
          <a:prstGeom prst="rect">
            <a:avLst/>
          </a:prstGeom>
          <a:solidFill>
            <a:srgbClr val="0A7EA4"/>
          </a:solidFill>
          <a:ln w="12700">
            <a:solidFill>
              <a:srgbClr val="0A7EA4"/>
            </a:solidFill>
            <a:prstDash val="solid"/>
          </a:ln>
        </p:spPr>
      </p:sp>
      <p:sp>
        <p:nvSpPr>
          <p:cNvPr id="40" name="Text 38"/>
          <p:cNvSpPr/>
          <p:nvPr/>
        </p:nvSpPr>
        <p:spPr>
          <a:xfrm>
            <a:off x="4114800" y="4114800"/>
            <a:ext cx="411480" cy="320040"/>
          </a:xfrm>
          <a:prstGeom prst="rect">
            <a:avLst/>
          </a:prstGeom>
          <a:noFill/>
        </p:spPr>
        <p:txBody>
          <a:bodyPr wrap="square" rtlCol="0" anchor="ctr"/>
          <a:lstStyle/>
          <a:p>
            <a:pPr marL="0" indent="0" algn="r">
              <a:buNone/>
            </a:pPr>
            <a:r>
              <a:rPr lang="en-US" sz="1000" dirty="0">
                <a:solidFill>
                  <a:srgbClr val="5A7490"/>
                </a:solidFill>
                <a:latin typeface="Times New Roman" panose="02020603050405020304" charset="0"/>
                <a:cs typeface="Times New Roman" panose="02020603050405020304" charset="0"/>
              </a:rPr>
              <a:t>r = −0.12</a:t>
            </a:r>
            <a:endParaRPr lang="en-US" sz="1000" dirty="0">
              <a:solidFill>
                <a:srgbClr val="5A7490"/>
              </a:solidFill>
              <a:latin typeface="Times New Roman" panose="02020603050405020304" charset="0"/>
              <a:cs typeface="Times New Roman" panose="02020603050405020304" charset="0"/>
            </a:endParaRPr>
          </a:p>
        </p:txBody>
      </p:sp>
      <p:sp>
        <p:nvSpPr>
          <p:cNvPr id="41" name="Shape 39"/>
          <p:cNvSpPr/>
          <p:nvPr/>
        </p:nvSpPr>
        <p:spPr>
          <a:xfrm>
            <a:off x="4763770" y="2011680"/>
            <a:ext cx="3931920" cy="2606040"/>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42" name="Text 40"/>
          <p:cNvSpPr/>
          <p:nvPr/>
        </p:nvSpPr>
        <p:spPr>
          <a:xfrm>
            <a:off x="4892040" y="2084832"/>
            <a:ext cx="3657600" cy="347472"/>
          </a:xfrm>
          <a:prstGeom prst="rect">
            <a:avLst/>
          </a:prstGeom>
          <a:noFill/>
        </p:spPr>
        <p:txBody>
          <a:bodyPr wrap="square" rtlCol="0" anchor="ctr"/>
          <a:lstStyle/>
          <a:p>
            <a:pPr marL="0" indent="0">
              <a:buNone/>
            </a:pPr>
            <a:r>
              <a:rPr lang="en-US" sz="1300" b="1" dirty="0">
                <a:solidFill>
                  <a:srgbClr val="0A7EA4"/>
                </a:solidFill>
                <a:latin typeface="Times New Roman" panose="02020603050405020304" charset="0"/>
                <a:cs typeface="Times New Roman" panose="02020603050405020304" charset="0"/>
              </a:rPr>
              <a:t>Key Patterns Identified</a:t>
            </a:r>
            <a:endParaRPr lang="en-US" sz="1300" b="1" dirty="0">
              <a:solidFill>
                <a:srgbClr val="0A7EA4"/>
              </a:solidFill>
              <a:latin typeface="Times New Roman" panose="02020603050405020304" charset="0"/>
              <a:cs typeface="Times New Roman" panose="02020603050405020304" charset="0"/>
            </a:endParaRPr>
          </a:p>
        </p:txBody>
      </p:sp>
      <p:sp>
        <p:nvSpPr>
          <p:cNvPr id="43" name="Text 41"/>
          <p:cNvSpPr/>
          <p:nvPr/>
        </p:nvSpPr>
        <p:spPr>
          <a:xfrm>
            <a:off x="4892040" y="2487168"/>
            <a:ext cx="3657600" cy="2011680"/>
          </a:xfrm>
          <a:prstGeom prst="rect">
            <a:avLst/>
          </a:prstGeom>
          <a:noFill/>
        </p:spPr>
        <p:txBody>
          <a:bodyPr wrap="square" rtlCol="0" anchor="ctr"/>
          <a:lstStyle/>
          <a:p>
            <a:pPr marL="171450" indent="-171450">
              <a:buFont typeface="Arial" panose="020B0604020202020204" pitchFamily="34" charset="0"/>
              <a:buChar char="•"/>
            </a:pPr>
            <a:r>
              <a:rPr lang="en-US" sz="1100" dirty="0">
                <a:solidFill>
                  <a:srgbClr val="1A2B3C"/>
                </a:solidFill>
                <a:latin typeface="Times New Roman" panose="02020603050405020304" charset="0"/>
                <a:cs typeface="Times New Roman" panose="02020603050405020304" charset="0"/>
              </a:rPr>
              <a:t>V-shaped recovery post-COVID with 18.7% CAGR</a:t>
            </a:r>
            <a:endParaRPr lang="en-US" sz="1100" dirty="0">
              <a:latin typeface="Times New Roman" panose="02020603050405020304" charset="0"/>
              <a:cs typeface="Times New Roman" panose="02020603050405020304" charset="0"/>
            </a:endParaRPr>
          </a:p>
          <a:p>
            <a:pPr marL="171450" indent="-171450">
              <a:buFont typeface="Arial" panose="020B0604020202020204" pitchFamily="34" charset="0"/>
              <a:buChar char="•"/>
            </a:pPr>
            <a:r>
              <a:rPr lang="en-US" sz="1100" dirty="0">
                <a:solidFill>
                  <a:srgbClr val="1A2B3C"/>
                </a:solidFill>
                <a:latin typeface="Times New Roman" panose="02020603050405020304" charset="0"/>
                <a:cs typeface="Times New Roman" panose="02020603050405020304" charset="0"/>
              </a:rPr>
              <a:t>Volatility clusters around macro events (COVID, Ukraine war)</a:t>
            </a:r>
            <a:r>
              <a:rPr lang="en-IN" altLang="en-US" sz="1100" dirty="0">
                <a:solidFill>
                  <a:srgbClr val="1A2B3C"/>
                </a:solidFill>
                <a:latin typeface="Times New Roman" panose="02020603050405020304" charset="0"/>
                <a:cs typeface="Times New Roman" panose="02020603050405020304" charset="0"/>
              </a:rPr>
              <a:t>,</a:t>
            </a:r>
            <a:r>
              <a:rPr lang="en-US" sz="1100" dirty="0">
                <a:solidFill>
                  <a:srgbClr val="1A2B3C"/>
                </a:solidFill>
                <a:latin typeface="Times New Roman" panose="02020603050405020304" charset="0"/>
                <a:cs typeface="Times New Roman" panose="02020603050405020304" charset="0"/>
              </a:rPr>
              <a:t>RSI &lt; 30 correctly predicted 7/8 buying opportunities</a:t>
            </a:r>
            <a:endParaRPr lang="en-US" sz="1100" dirty="0">
              <a:latin typeface="Times New Roman" panose="02020603050405020304" charset="0"/>
              <a:cs typeface="Times New Roman" panose="02020603050405020304" charset="0"/>
            </a:endParaRPr>
          </a:p>
          <a:p>
            <a:pPr marL="171450" indent="-171450">
              <a:buFont typeface="Arial" panose="020B0604020202020204" pitchFamily="34" charset="0"/>
              <a:buChar char="•"/>
            </a:pPr>
            <a:r>
              <a:rPr lang="en-US" sz="1100" dirty="0">
                <a:solidFill>
                  <a:srgbClr val="1A2B3C"/>
                </a:solidFill>
                <a:latin typeface="Times New Roman" panose="02020603050405020304" charset="0"/>
                <a:cs typeface="Times New Roman" panose="02020603050405020304" charset="0"/>
              </a:rPr>
              <a:t>January Effect: avg +2.1% returns in January</a:t>
            </a:r>
            <a:r>
              <a:rPr lang="en-IN" altLang="en-US" sz="1100" dirty="0">
                <a:solidFill>
                  <a:srgbClr val="1A2B3C"/>
                </a:solidFill>
                <a:latin typeface="Times New Roman" panose="02020603050405020304" charset="0"/>
                <a:cs typeface="Times New Roman" panose="02020603050405020304" charset="0"/>
              </a:rPr>
              <a:t>,</a:t>
            </a:r>
            <a:r>
              <a:rPr lang="en-US" sz="1100" dirty="0">
                <a:solidFill>
                  <a:srgbClr val="1A2B3C"/>
                </a:solidFill>
                <a:latin typeface="Times New Roman" panose="02020603050405020304" charset="0"/>
                <a:cs typeface="Times New Roman" panose="02020603050405020304" charset="0"/>
              </a:rPr>
              <a:t>Realty &amp; Energy outperformed; FMCG lagged in FY24</a:t>
            </a:r>
            <a:endParaRPr lang="en-US" sz="1100" dirty="0">
              <a:latin typeface="Times New Roman" panose="02020603050405020304" charset="0"/>
              <a:cs typeface="Times New Roman" panose="02020603050405020304" charset="0"/>
            </a:endParaRPr>
          </a:p>
        </p:txBody>
      </p:sp>
      <p:sp>
        <p:nvSpPr>
          <p:cNvPr id="44" name="Text 42"/>
          <p:cNvSpPr/>
          <p:nvPr/>
        </p:nvSpPr>
        <p:spPr>
          <a:xfrm>
            <a:off x="4892040" y="2487168"/>
            <a:ext cx="3657600" cy="2011680"/>
          </a:xfrm>
          <a:prstGeom prst="rect">
            <a:avLst/>
          </a:prstGeom>
          <a:noFill/>
        </p:spPr>
        <p:txBody>
          <a:bodyPr wrap="square" rtlCol="0" anchor="ctr"/>
          <a:lstStyle/>
          <a:p>
            <a:pPr marL="342900" indent="-342900">
              <a:buSzPct val="100000"/>
              <a:buChar char="•"/>
            </a:pPr>
            <a:endParaRPr lang="en-US" sz="1100" dirty="0">
              <a:latin typeface="Times New Roman" panose="02020603050405020304" charset="0"/>
              <a:cs typeface="Times New Roman" panose="02020603050405020304" charset="0"/>
            </a:endParaRPr>
          </a:p>
        </p:txBody>
      </p:sp>
      <p:sp>
        <p:nvSpPr>
          <p:cNvPr id="45" name="Text 43"/>
          <p:cNvSpPr/>
          <p:nvPr/>
        </p:nvSpPr>
        <p:spPr>
          <a:xfrm>
            <a:off x="8046720" y="4800600"/>
            <a:ext cx="914400" cy="228600"/>
          </a:xfrm>
          <a:prstGeom prst="rect">
            <a:avLst/>
          </a:prstGeom>
          <a:noFill/>
        </p:spPr>
        <p:txBody>
          <a:bodyPr wrap="square" rtlCol="0" anchor="ctr"/>
          <a:lstStyle/>
          <a:p>
            <a:pPr marL="0" indent="0" algn="r">
              <a:buNone/>
            </a:pPr>
            <a:r>
              <a:rPr lang="en-US" sz="900" dirty="0">
                <a:solidFill>
                  <a:srgbClr val="5A7490"/>
                </a:solidFill>
                <a:latin typeface="Times New Roman" panose="02020603050405020304" charset="0"/>
                <a:cs typeface="Times New Roman" panose="02020603050405020304" charset="0"/>
              </a:rPr>
              <a:t>9 / 19</a:t>
            </a:r>
            <a:endParaRPr lang="en-US" sz="900" dirty="0">
              <a:solidFill>
                <a:srgbClr val="5A7490"/>
              </a:solidFill>
              <a:latin typeface="Times New Roman" panose="02020603050405020304" charset="0"/>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450215" y="255905"/>
            <a:ext cx="80010" cy="384175"/>
          </a:xfrm>
          <a:prstGeom prst="rect">
            <a:avLst/>
          </a:prstGeom>
          <a:solidFill>
            <a:srgbClr val="0A7EA4"/>
          </a:solidFill>
          <a:ln w="12700">
            <a:solidFill>
              <a:srgbClr val="0A7EA4"/>
            </a:solidFill>
            <a:prstDash val="solid"/>
          </a:ln>
        </p:spPr>
      </p:sp>
      <p:sp>
        <p:nvSpPr>
          <p:cNvPr id="3" name="Text 1"/>
          <p:cNvSpPr/>
          <p:nvPr/>
        </p:nvSpPr>
        <p:spPr>
          <a:xfrm>
            <a:off x="621792" y="182880"/>
            <a:ext cx="7772400" cy="502920"/>
          </a:xfrm>
          <a:prstGeom prst="rect">
            <a:avLst/>
          </a:prstGeom>
          <a:noFill/>
        </p:spPr>
        <p:txBody>
          <a:bodyPr wrap="square" lIns="0" tIns="0" rIns="0" bIns="0" rtlCol="0" anchor="ctr"/>
          <a:lstStyle/>
          <a:p>
            <a:pPr marL="0" indent="0">
              <a:buNone/>
            </a:pPr>
            <a:r>
              <a:rPr lang="en-US" sz="2200" b="1" dirty="0">
                <a:solidFill>
                  <a:srgbClr val="1A2B3C"/>
                </a:solidFill>
                <a:latin typeface="Times New Roman" panose="02020603050405020304" charset="0"/>
                <a:ea typeface="Calibri" panose="020F0502020204030204" pitchFamily="34" charset="-122"/>
                <a:cs typeface="Times New Roman" panose="02020603050405020304" charset="0"/>
              </a:rPr>
              <a:t>Data Visualization — Price Trends</a:t>
            </a:r>
            <a:endParaRPr lang="en-US" sz="2200" b="1" dirty="0">
              <a:solidFill>
                <a:srgbClr val="1A2B3C"/>
              </a:solidFill>
              <a:latin typeface="Times New Roman" panose="02020603050405020304" charset="0"/>
              <a:ea typeface="Calibri" panose="020F0502020204030204" pitchFamily="34" charset="-122"/>
              <a:cs typeface="Times New Roman" panose="02020603050405020304" charset="0"/>
            </a:endParaRPr>
          </a:p>
        </p:txBody>
      </p:sp>
      <p:sp>
        <p:nvSpPr>
          <p:cNvPr id="5" name="Shape 2"/>
          <p:cNvSpPr/>
          <p:nvPr/>
        </p:nvSpPr>
        <p:spPr>
          <a:xfrm>
            <a:off x="5669280" y="822960"/>
            <a:ext cx="3017520" cy="3840480"/>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6" name="Text 3"/>
          <p:cNvSpPr/>
          <p:nvPr/>
        </p:nvSpPr>
        <p:spPr>
          <a:xfrm>
            <a:off x="5806440" y="896112"/>
            <a:ext cx="2743200" cy="347472"/>
          </a:xfrm>
          <a:prstGeom prst="rect">
            <a:avLst/>
          </a:prstGeom>
          <a:noFill/>
        </p:spPr>
        <p:txBody>
          <a:bodyPr wrap="square" rtlCol="0" anchor="ctr"/>
          <a:lstStyle/>
          <a:p>
            <a:pPr marL="0" indent="0">
              <a:buNone/>
            </a:pPr>
            <a:r>
              <a:rPr lang="en-US" sz="1300" b="1" dirty="0">
                <a:solidFill>
                  <a:srgbClr val="0A7EA4"/>
                </a:solidFill>
                <a:latin typeface="Times New Roman" panose="02020603050405020304" charset="0"/>
                <a:cs typeface="Times New Roman" panose="02020603050405020304" charset="0"/>
              </a:rPr>
              <a:t>Chart Insights</a:t>
            </a:r>
            <a:endParaRPr lang="en-US" sz="1300" b="1" dirty="0">
              <a:solidFill>
                <a:srgbClr val="0A7EA4"/>
              </a:solidFill>
              <a:latin typeface="Times New Roman" panose="02020603050405020304" charset="0"/>
              <a:cs typeface="Times New Roman" panose="02020603050405020304" charset="0"/>
            </a:endParaRPr>
          </a:p>
        </p:txBody>
      </p:sp>
      <p:sp>
        <p:nvSpPr>
          <p:cNvPr id="7" name="Text 4"/>
          <p:cNvSpPr/>
          <p:nvPr/>
        </p:nvSpPr>
        <p:spPr>
          <a:xfrm>
            <a:off x="5806440" y="1325880"/>
            <a:ext cx="2743200" cy="3108960"/>
          </a:xfrm>
          <a:prstGeom prst="rect">
            <a:avLst/>
          </a:prstGeom>
          <a:noFill/>
        </p:spPr>
        <p:txBody>
          <a:bodyPr wrap="square" rtlCol="0" anchor="ctr"/>
          <a:lstStyle/>
          <a:p>
            <a:pPr marL="342900" indent="-342900">
              <a:buSzPct val="100000"/>
              <a:buChar char="•"/>
            </a:pPr>
            <a:r>
              <a:rPr lang="en-US" sz="1100" dirty="0">
                <a:solidFill>
                  <a:srgbClr val="1A2B3C"/>
                </a:solidFill>
                <a:latin typeface="Times New Roman" panose="02020603050405020304" charset="0"/>
                <a:cs typeface="Times New Roman" panose="02020603050405020304" charset="0"/>
              </a:rPr>
              <a:t>MA20 (short-term) tracks price closely — responsive to sudden swings</a:t>
            </a:r>
            <a:endParaRPr lang="en-US" sz="1100" dirty="0">
              <a:latin typeface="Times New Roman" panose="02020603050405020304" charset="0"/>
              <a:cs typeface="Times New Roman" panose="02020603050405020304" charset="0"/>
            </a:endParaRPr>
          </a:p>
          <a:p>
            <a:pPr marL="342900" indent="-342900">
              <a:buSzPct val="100000"/>
              <a:buChar char="•"/>
            </a:pPr>
            <a:r>
              <a:rPr lang="en-US" sz="1100" dirty="0">
                <a:solidFill>
                  <a:srgbClr val="1A2B3C"/>
                </a:solidFill>
                <a:latin typeface="Times New Roman" panose="02020603050405020304" charset="0"/>
                <a:cs typeface="Times New Roman" panose="02020603050405020304" charset="0"/>
              </a:rPr>
              <a:t>MA50 (medium-term) smooths volatility noise</a:t>
            </a:r>
            <a:endParaRPr lang="en-US" sz="1100" dirty="0">
              <a:latin typeface="Times New Roman" panose="02020603050405020304" charset="0"/>
              <a:cs typeface="Times New Roman" panose="02020603050405020304" charset="0"/>
            </a:endParaRPr>
          </a:p>
          <a:p>
            <a:pPr marL="342900" indent="-342900">
              <a:buSzPct val="100000"/>
              <a:buChar char="•"/>
            </a:pPr>
            <a:r>
              <a:rPr lang="en-US" sz="1100" dirty="0">
                <a:solidFill>
                  <a:srgbClr val="1A2B3C"/>
                </a:solidFill>
                <a:latin typeface="Times New Roman" panose="02020603050405020304" charset="0"/>
                <a:cs typeface="Times New Roman" panose="02020603050405020304" charset="0"/>
              </a:rPr>
              <a:t>Golden Cross (MA20 &gt; MA50) visible in mid-2020 — signaled bull market entry</a:t>
            </a:r>
            <a:endParaRPr lang="en-US" sz="1100" dirty="0">
              <a:latin typeface="Times New Roman" panose="02020603050405020304" charset="0"/>
              <a:cs typeface="Times New Roman" panose="02020603050405020304" charset="0"/>
            </a:endParaRPr>
          </a:p>
          <a:p>
            <a:pPr marL="342900" indent="-342900">
              <a:buSzPct val="100000"/>
              <a:buChar char="•"/>
            </a:pPr>
            <a:r>
              <a:rPr lang="en-US" sz="1100" dirty="0">
                <a:solidFill>
                  <a:srgbClr val="1A2B3C"/>
                </a:solidFill>
                <a:latin typeface="Times New Roman" panose="02020603050405020304" charset="0"/>
                <a:cs typeface="Times New Roman" panose="02020603050405020304" charset="0"/>
              </a:rPr>
              <a:t>Price range: INR 7,511 (COVID low) → INR 22,775 (Dec 2023 ATH)</a:t>
            </a:r>
            <a:endParaRPr lang="en-US" sz="1100" dirty="0">
              <a:latin typeface="Times New Roman" panose="02020603050405020304" charset="0"/>
              <a:cs typeface="Times New Roman" panose="02020603050405020304" charset="0"/>
            </a:endParaRPr>
          </a:p>
          <a:p>
            <a:pPr marL="342900" indent="-342900">
              <a:buSzPct val="100000"/>
              <a:buChar char="•"/>
            </a:pPr>
            <a:r>
              <a:rPr lang="en-US" sz="1100" dirty="0">
                <a:solidFill>
                  <a:srgbClr val="1A2B3C"/>
                </a:solidFill>
                <a:latin typeface="Times New Roman" panose="02020603050405020304" charset="0"/>
                <a:cs typeface="Times New Roman" panose="02020603050405020304" charset="0"/>
              </a:rPr>
              <a:t>Bollinger Band widening during COVID indicates high volatility regime</a:t>
            </a:r>
            <a:endParaRPr lang="en-US" sz="1100" dirty="0">
              <a:latin typeface="Times New Roman" panose="02020603050405020304" charset="0"/>
              <a:cs typeface="Times New Roman" panose="02020603050405020304" charset="0"/>
            </a:endParaRPr>
          </a:p>
        </p:txBody>
      </p:sp>
      <p:sp>
        <p:nvSpPr>
          <p:cNvPr id="8" name="Text 5"/>
          <p:cNvSpPr/>
          <p:nvPr/>
        </p:nvSpPr>
        <p:spPr>
          <a:xfrm>
            <a:off x="8046720" y="4800600"/>
            <a:ext cx="914400" cy="228600"/>
          </a:xfrm>
          <a:prstGeom prst="rect">
            <a:avLst/>
          </a:prstGeom>
          <a:noFill/>
        </p:spPr>
        <p:txBody>
          <a:bodyPr wrap="square" rtlCol="0" anchor="ctr"/>
          <a:lstStyle/>
          <a:p>
            <a:pPr marL="0" indent="0" algn="r">
              <a:buNone/>
            </a:pPr>
            <a:r>
              <a:rPr lang="en-US" sz="900" dirty="0">
                <a:solidFill>
                  <a:srgbClr val="5A7490"/>
                </a:solidFill>
                <a:latin typeface="Times New Roman" panose="02020603050405020304" charset="0"/>
                <a:cs typeface="Times New Roman" panose="02020603050405020304" charset="0"/>
              </a:rPr>
              <a:t>10 / 19</a:t>
            </a:r>
            <a:endParaRPr lang="en-US" sz="900" dirty="0">
              <a:solidFill>
                <a:srgbClr val="5A7490"/>
              </a:solidFill>
              <a:latin typeface="Times New Roman" panose="02020603050405020304" charset="0"/>
              <a:cs typeface="Times New Roman" panose="02020603050405020304" charset="0"/>
            </a:endParaRPr>
          </a:p>
        </p:txBody>
      </p:sp>
      <p:pic>
        <p:nvPicPr>
          <p:cNvPr id="9" name="Picture 8"/>
          <p:cNvPicPr>
            <a:picLocks noChangeAspect="1"/>
          </p:cNvPicPr>
          <p:nvPr/>
        </p:nvPicPr>
        <p:blipFill>
          <a:blip r:embed="rId1"/>
          <a:stretch>
            <a:fillRect/>
          </a:stretch>
        </p:blipFill>
        <p:spPr>
          <a:xfrm>
            <a:off x="128270" y="1070610"/>
            <a:ext cx="5412105" cy="3216910"/>
          </a:xfrm>
          <a:prstGeom prst="rect">
            <a:avLst/>
          </a:prstGeom>
        </p:spPr>
      </p:pic>
      <p:sp>
        <p:nvSpPr>
          <p:cNvPr id="10" name="Text Box 9"/>
          <p:cNvSpPr txBox="1"/>
          <p:nvPr/>
        </p:nvSpPr>
        <p:spPr>
          <a:xfrm>
            <a:off x="126365" y="777240"/>
            <a:ext cx="3048000" cy="368300"/>
          </a:xfrm>
          <a:prstGeom prst="rect">
            <a:avLst/>
          </a:prstGeom>
          <a:noFill/>
        </p:spPr>
        <p:txBody>
          <a:bodyPr wrap="square" rtlCol="0">
            <a:spAutoFit/>
          </a:bodyPr>
          <a:p>
            <a:r>
              <a:rPr lang="en-IN" altLang="en-GB">
                <a:latin typeface="Times New Roman" panose="02020603050405020304" charset="0"/>
                <a:cs typeface="Times New Roman" panose="02020603050405020304" charset="0"/>
              </a:rPr>
              <a:t>Line Graph</a:t>
            </a:r>
            <a:endParaRPr lang="en-IN" altLang="en-GB">
              <a:latin typeface="Times New Roman" panose="02020603050405020304" charset="0"/>
              <a:cs typeface="Times New Roman" panose="020206030504050203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73152" cy="384048"/>
          </a:xfrm>
          <a:prstGeom prst="rect">
            <a:avLst/>
          </a:prstGeom>
          <a:solidFill>
            <a:srgbClr val="0A7EA4"/>
          </a:solidFill>
          <a:ln w="12700">
            <a:solidFill>
              <a:srgbClr val="0A7EA4"/>
            </a:solidFill>
            <a:prstDash val="solid"/>
          </a:ln>
        </p:spPr>
      </p:sp>
      <p:sp>
        <p:nvSpPr>
          <p:cNvPr id="3" name="Text 1"/>
          <p:cNvSpPr/>
          <p:nvPr/>
        </p:nvSpPr>
        <p:spPr>
          <a:xfrm>
            <a:off x="621792" y="182880"/>
            <a:ext cx="7772400" cy="502920"/>
          </a:xfrm>
          <a:prstGeom prst="rect">
            <a:avLst/>
          </a:prstGeom>
          <a:noFill/>
        </p:spPr>
        <p:txBody>
          <a:bodyPr wrap="square" lIns="0" tIns="0" rIns="0" bIns="0" rtlCol="0" anchor="ctr"/>
          <a:lstStyle/>
          <a:p>
            <a:pPr marL="0" indent="0">
              <a:buNone/>
            </a:pPr>
            <a:r>
              <a:rPr lang="en-US" sz="2200" b="1" dirty="0">
                <a:solidFill>
                  <a:srgbClr val="1A2B3C"/>
                </a:solidFill>
                <a:latin typeface="Times New Roman" panose="02020603050405020304" charset="0"/>
                <a:ea typeface="Calibri" panose="020F0502020204030204" pitchFamily="34" charset="-122"/>
                <a:cs typeface="Times New Roman" panose="02020603050405020304" charset="0"/>
              </a:rPr>
              <a:t>Data Visualization — Returns &amp; Correlation</a:t>
            </a:r>
            <a:endParaRPr lang="en-US" sz="2200" b="1" dirty="0">
              <a:solidFill>
                <a:srgbClr val="1A2B3C"/>
              </a:solidFill>
              <a:latin typeface="Times New Roman" panose="02020603050405020304" charset="0"/>
              <a:ea typeface="Calibri" panose="020F0502020204030204" pitchFamily="34" charset="-122"/>
              <a:cs typeface="Times New Roman" panose="02020603050405020304" charset="0"/>
            </a:endParaRPr>
          </a:p>
        </p:txBody>
      </p:sp>
      <p:sp>
        <p:nvSpPr>
          <p:cNvPr id="5" name="Shape 2"/>
          <p:cNvSpPr/>
          <p:nvPr/>
        </p:nvSpPr>
        <p:spPr>
          <a:xfrm>
            <a:off x="5486400" y="804672"/>
            <a:ext cx="3200400" cy="3931920"/>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6" name="Text 3"/>
          <p:cNvSpPr/>
          <p:nvPr/>
        </p:nvSpPr>
        <p:spPr>
          <a:xfrm>
            <a:off x="5623560" y="877824"/>
            <a:ext cx="2926080" cy="347472"/>
          </a:xfrm>
          <a:prstGeom prst="rect">
            <a:avLst/>
          </a:prstGeom>
          <a:noFill/>
        </p:spPr>
        <p:txBody>
          <a:bodyPr wrap="square" rtlCol="0" anchor="ctr"/>
          <a:lstStyle/>
          <a:p>
            <a:pPr marL="0" indent="0">
              <a:buNone/>
            </a:pPr>
            <a:r>
              <a:rPr lang="en-US" sz="1300" b="1" dirty="0">
                <a:solidFill>
                  <a:srgbClr val="0A7EA4"/>
                </a:solidFill>
                <a:latin typeface="Times New Roman" panose="02020603050405020304" charset="0"/>
                <a:cs typeface="Times New Roman" panose="02020603050405020304" charset="0"/>
              </a:rPr>
              <a:t>Return Statistics</a:t>
            </a:r>
            <a:endParaRPr lang="en-US" sz="1300" b="1" dirty="0">
              <a:solidFill>
                <a:srgbClr val="0A7EA4"/>
              </a:solidFill>
              <a:latin typeface="Times New Roman" panose="02020603050405020304" charset="0"/>
              <a:cs typeface="Times New Roman" panose="02020603050405020304" charset="0"/>
            </a:endParaRPr>
          </a:p>
        </p:txBody>
      </p:sp>
      <p:sp>
        <p:nvSpPr>
          <p:cNvPr id="7" name="Shape 4"/>
          <p:cNvSpPr/>
          <p:nvPr/>
        </p:nvSpPr>
        <p:spPr>
          <a:xfrm>
            <a:off x="5623560" y="1298448"/>
            <a:ext cx="2926080" cy="347472"/>
          </a:xfrm>
          <a:prstGeom prst="rect">
            <a:avLst/>
          </a:prstGeom>
          <a:solidFill>
            <a:srgbClr val="EEF5FB"/>
          </a:solidFill>
          <a:ln w="6350">
            <a:solidFill>
              <a:srgbClr val="E0EAF2"/>
            </a:solidFill>
            <a:prstDash val="solid"/>
          </a:ln>
        </p:spPr>
      </p:sp>
      <p:sp>
        <p:nvSpPr>
          <p:cNvPr id="8" name="Text 5"/>
          <p:cNvSpPr/>
          <p:nvPr/>
        </p:nvSpPr>
        <p:spPr>
          <a:xfrm>
            <a:off x="5669280" y="1298448"/>
            <a:ext cx="1371600" cy="347472"/>
          </a:xfrm>
          <a:prstGeom prst="rect">
            <a:avLst/>
          </a:prstGeom>
          <a:noFill/>
        </p:spPr>
        <p:txBody>
          <a:bodyPr wrap="square" rtlCol="0" anchor="ctr"/>
          <a:lstStyle/>
          <a:p>
            <a:pPr marL="0" indent="0">
              <a:buNone/>
            </a:pPr>
            <a:r>
              <a:rPr lang="en-US" sz="1100" b="1" dirty="0">
                <a:solidFill>
                  <a:srgbClr val="1A2B3C"/>
                </a:solidFill>
                <a:latin typeface="Times New Roman" panose="02020603050405020304" charset="0"/>
                <a:cs typeface="Times New Roman" panose="02020603050405020304" charset="0"/>
              </a:rPr>
              <a:t>Mean</a:t>
            </a:r>
            <a:endParaRPr lang="en-US" sz="1100" b="1" dirty="0">
              <a:solidFill>
                <a:srgbClr val="1A2B3C"/>
              </a:solidFill>
              <a:latin typeface="Times New Roman" panose="02020603050405020304" charset="0"/>
              <a:cs typeface="Times New Roman" panose="02020603050405020304" charset="0"/>
            </a:endParaRPr>
          </a:p>
        </p:txBody>
      </p:sp>
      <p:sp>
        <p:nvSpPr>
          <p:cNvPr id="9" name="Text 6"/>
          <p:cNvSpPr/>
          <p:nvPr/>
        </p:nvSpPr>
        <p:spPr>
          <a:xfrm>
            <a:off x="7086600" y="1298448"/>
            <a:ext cx="1417320" cy="347472"/>
          </a:xfrm>
          <a:prstGeom prst="rect">
            <a:avLst/>
          </a:prstGeom>
          <a:noFill/>
        </p:spPr>
        <p:txBody>
          <a:bodyPr wrap="square" rtlCol="0" anchor="ctr"/>
          <a:lstStyle/>
          <a:p>
            <a:pPr marL="0" indent="0" algn="r">
              <a:buNone/>
            </a:pPr>
            <a:r>
              <a:rPr lang="en-US" sz="1100" dirty="0">
                <a:solidFill>
                  <a:srgbClr val="0A7EA4"/>
                </a:solidFill>
                <a:latin typeface="Times New Roman" panose="02020603050405020304" charset="0"/>
                <a:cs typeface="Times New Roman" panose="02020603050405020304" charset="0"/>
              </a:rPr>
              <a:t>+0.058% / day</a:t>
            </a:r>
            <a:endParaRPr lang="en-US" sz="1100" dirty="0">
              <a:solidFill>
                <a:srgbClr val="0A7EA4"/>
              </a:solidFill>
              <a:latin typeface="Times New Roman" panose="02020603050405020304" charset="0"/>
              <a:cs typeface="Times New Roman" panose="02020603050405020304" charset="0"/>
            </a:endParaRPr>
          </a:p>
        </p:txBody>
      </p:sp>
      <p:sp>
        <p:nvSpPr>
          <p:cNvPr id="10" name="Shape 7"/>
          <p:cNvSpPr/>
          <p:nvPr/>
        </p:nvSpPr>
        <p:spPr>
          <a:xfrm>
            <a:off x="5623560" y="1709928"/>
            <a:ext cx="2926080" cy="347472"/>
          </a:xfrm>
          <a:prstGeom prst="rect">
            <a:avLst/>
          </a:prstGeom>
          <a:solidFill>
            <a:srgbClr val="FFFFFF"/>
          </a:solidFill>
          <a:ln w="6350">
            <a:solidFill>
              <a:srgbClr val="E0EAF2"/>
            </a:solidFill>
            <a:prstDash val="solid"/>
          </a:ln>
        </p:spPr>
      </p:sp>
      <p:sp>
        <p:nvSpPr>
          <p:cNvPr id="11" name="Text 8"/>
          <p:cNvSpPr/>
          <p:nvPr/>
        </p:nvSpPr>
        <p:spPr>
          <a:xfrm>
            <a:off x="5669280" y="1709928"/>
            <a:ext cx="1371600" cy="347472"/>
          </a:xfrm>
          <a:prstGeom prst="rect">
            <a:avLst/>
          </a:prstGeom>
          <a:noFill/>
        </p:spPr>
        <p:txBody>
          <a:bodyPr wrap="square" rtlCol="0" anchor="ctr"/>
          <a:lstStyle/>
          <a:p>
            <a:pPr marL="0" indent="0">
              <a:buNone/>
            </a:pPr>
            <a:r>
              <a:rPr lang="en-US" sz="1100" b="1" dirty="0">
                <a:solidFill>
                  <a:srgbClr val="1A2B3C"/>
                </a:solidFill>
                <a:latin typeface="Times New Roman" panose="02020603050405020304" charset="0"/>
                <a:cs typeface="Times New Roman" panose="02020603050405020304" charset="0"/>
              </a:rPr>
              <a:t>Ann. Return</a:t>
            </a:r>
            <a:endParaRPr lang="en-US" sz="1100" b="1" dirty="0">
              <a:solidFill>
                <a:srgbClr val="1A2B3C"/>
              </a:solidFill>
              <a:latin typeface="Times New Roman" panose="02020603050405020304" charset="0"/>
              <a:cs typeface="Times New Roman" panose="02020603050405020304" charset="0"/>
            </a:endParaRPr>
          </a:p>
        </p:txBody>
      </p:sp>
      <p:sp>
        <p:nvSpPr>
          <p:cNvPr id="12" name="Text 9"/>
          <p:cNvSpPr/>
          <p:nvPr/>
        </p:nvSpPr>
        <p:spPr>
          <a:xfrm>
            <a:off x="7086600" y="1709928"/>
            <a:ext cx="1417320" cy="347472"/>
          </a:xfrm>
          <a:prstGeom prst="rect">
            <a:avLst/>
          </a:prstGeom>
          <a:noFill/>
        </p:spPr>
        <p:txBody>
          <a:bodyPr wrap="square" rtlCol="0" anchor="ctr"/>
          <a:lstStyle/>
          <a:p>
            <a:pPr marL="0" indent="0" algn="r">
              <a:buNone/>
            </a:pPr>
            <a:r>
              <a:rPr lang="en-US" sz="1100" dirty="0">
                <a:solidFill>
                  <a:srgbClr val="0A7EA4"/>
                </a:solidFill>
                <a:latin typeface="Times New Roman" panose="02020603050405020304" charset="0"/>
                <a:cs typeface="Times New Roman" panose="02020603050405020304" charset="0"/>
              </a:rPr>
              <a:t>≈ 13%</a:t>
            </a:r>
            <a:endParaRPr lang="en-US" sz="1100" dirty="0">
              <a:solidFill>
                <a:srgbClr val="0A7EA4"/>
              </a:solidFill>
              <a:latin typeface="Times New Roman" panose="02020603050405020304" charset="0"/>
              <a:cs typeface="Times New Roman" panose="02020603050405020304" charset="0"/>
            </a:endParaRPr>
          </a:p>
        </p:txBody>
      </p:sp>
      <p:sp>
        <p:nvSpPr>
          <p:cNvPr id="13" name="Shape 10"/>
          <p:cNvSpPr/>
          <p:nvPr/>
        </p:nvSpPr>
        <p:spPr>
          <a:xfrm>
            <a:off x="5623560" y="2121408"/>
            <a:ext cx="2926080" cy="347472"/>
          </a:xfrm>
          <a:prstGeom prst="rect">
            <a:avLst/>
          </a:prstGeom>
          <a:solidFill>
            <a:srgbClr val="EEF5FB"/>
          </a:solidFill>
          <a:ln w="6350">
            <a:solidFill>
              <a:srgbClr val="E0EAF2"/>
            </a:solidFill>
            <a:prstDash val="solid"/>
          </a:ln>
        </p:spPr>
      </p:sp>
      <p:sp>
        <p:nvSpPr>
          <p:cNvPr id="14" name="Text 11"/>
          <p:cNvSpPr/>
          <p:nvPr/>
        </p:nvSpPr>
        <p:spPr>
          <a:xfrm>
            <a:off x="5669280" y="2121408"/>
            <a:ext cx="1371600" cy="347472"/>
          </a:xfrm>
          <a:prstGeom prst="rect">
            <a:avLst/>
          </a:prstGeom>
          <a:noFill/>
        </p:spPr>
        <p:txBody>
          <a:bodyPr wrap="square" rtlCol="0" anchor="ctr"/>
          <a:lstStyle/>
          <a:p>
            <a:pPr marL="0" indent="0">
              <a:buNone/>
            </a:pPr>
            <a:r>
              <a:rPr lang="en-US" sz="1100" b="1" dirty="0">
                <a:solidFill>
                  <a:srgbClr val="1A2B3C"/>
                </a:solidFill>
                <a:latin typeface="Times New Roman" panose="02020603050405020304" charset="0"/>
                <a:cs typeface="Times New Roman" panose="02020603050405020304" charset="0"/>
              </a:rPr>
              <a:t>Std Dev</a:t>
            </a:r>
            <a:endParaRPr lang="en-US" sz="1100" b="1" dirty="0">
              <a:solidFill>
                <a:srgbClr val="1A2B3C"/>
              </a:solidFill>
              <a:latin typeface="Times New Roman" panose="02020603050405020304" charset="0"/>
              <a:cs typeface="Times New Roman" panose="02020603050405020304" charset="0"/>
            </a:endParaRPr>
          </a:p>
        </p:txBody>
      </p:sp>
      <p:sp>
        <p:nvSpPr>
          <p:cNvPr id="15" name="Text 12"/>
          <p:cNvSpPr/>
          <p:nvPr/>
        </p:nvSpPr>
        <p:spPr>
          <a:xfrm>
            <a:off x="7086600" y="2121408"/>
            <a:ext cx="1417320" cy="347472"/>
          </a:xfrm>
          <a:prstGeom prst="rect">
            <a:avLst/>
          </a:prstGeom>
          <a:noFill/>
        </p:spPr>
        <p:txBody>
          <a:bodyPr wrap="square" rtlCol="0" anchor="ctr"/>
          <a:lstStyle/>
          <a:p>
            <a:pPr marL="0" indent="0" algn="r">
              <a:buNone/>
            </a:pPr>
            <a:r>
              <a:rPr lang="en-US" sz="1100" dirty="0">
                <a:solidFill>
                  <a:srgbClr val="0A7EA4"/>
                </a:solidFill>
                <a:latin typeface="Times New Roman" panose="02020603050405020304" charset="0"/>
                <a:cs typeface="Times New Roman" panose="02020603050405020304" charset="0"/>
              </a:rPr>
              <a:t>1.14%</a:t>
            </a:r>
            <a:endParaRPr lang="en-US" sz="1100" dirty="0">
              <a:solidFill>
                <a:srgbClr val="0A7EA4"/>
              </a:solidFill>
              <a:latin typeface="Times New Roman" panose="02020603050405020304" charset="0"/>
              <a:cs typeface="Times New Roman" panose="02020603050405020304" charset="0"/>
            </a:endParaRPr>
          </a:p>
        </p:txBody>
      </p:sp>
      <p:sp>
        <p:nvSpPr>
          <p:cNvPr id="16" name="Shape 13"/>
          <p:cNvSpPr/>
          <p:nvPr/>
        </p:nvSpPr>
        <p:spPr>
          <a:xfrm>
            <a:off x="5623560" y="2532888"/>
            <a:ext cx="2926080" cy="347472"/>
          </a:xfrm>
          <a:prstGeom prst="rect">
            <a:avLst/>
          </a:prstGeom>
          <a:solidFill>
            <a:srgbClr val="FFFFFF"/>
          </a:solidFill>
          <a:ln w="6350">
            <a:solidFill>
              <a:srgbClr val="E0EAF2"/>
            </a:solidFill>
            <a:prstDash val="solid"/>
          </a:ln>
        </p:spPr>
      </p:sp>
      <p:sp>
        <p:nvSpPr>
          <p:cNvPr id="17" name="Text 14"/>
          <p:cNvSpPr/>
          <p:nvPr/>
        </p:nvSpPr>
        <p:spPr>
          <a:xfrm>
            <a:off x="5669280" y="2532888"/>
            <a:ext cx="1371600" cy="347472"/>
          </a:xfrm>
          <a:prstGeom prst="rect">
            <a:avLst/>
          </a:prstGeom>
          <a:noFill/>
        </p:spPr>
        <p:txBody>
          <a:bodyPr wrap="square" rtlCol="0" anchor="ctr"/>
          <a:lstStyle/>
          <a:p>
            <a:pPr marL="0" indent="0">
              <a:buNone/>
            </a:pPr>
            <a:r>
              <a:rPr lang="en-US" sz="1100" b="1" dirty="0">
                <a:solidFill>
                  <a:srgbClr val="1A2B3C"/>
                </a:solidFill>
                <a:latin typeface="Times New Roman" panose="02020603050405020304" charset="0"/>
                <a:cs typeface="Times New Roman" panose="02020603050405020304" charset="0"/>
              </a:rPr>
              <a:t>Skewness</a:t>
            </a:r>
            <a:endParaRPr lang="en-US" sz="1100" b="1" dirty="0">
              <a:solidFill>
                <a:srgbClr val="1A2B3C"/>
              </a:solidFill>
              <a:latin typeface="Times New Roman" panose="02020603050405020304" charset="0"/>
              <a:cs typeface="Times New Roman" panose="02020603050405020304" charset="0"/>
            </a:endParaRPr>
          </a:p>
        </p:txBody>
      </p:sp>
      <p:sp>
        <p:nvSpPr>
          <p:cNvPr id="18" name="Text 15"/>
          <p:cNvSpPr/>
          <p:nvPr/>
        </p:nvSpPr>
        <p:spPr>
          <a:xfrm>
            <a:off x="7086600" y="2532888"/>
            <a:ext cx="1417320" cy="347472"/>
          </a:xfrm>
          <a:prstGeom prst="rect">
            <a:avLst/>
          </a:prstGeom>
          <a:noFill/>
        </p:spPr>
        <p:txBody>
          <a:bodyPr wrap="square" rtlCol="0" anchor="ctr"/>
          <a:lstStyle/>
          <a:p>
            <a:pPr marL="0" indent="0" algn="r">
              <a:buNone/>
            </a:pPr>
            <a:r>
              <a:rPr lang="en-US" sz="1100" dirty="0">
                <a:solidFill>
                  <a:srgbClr val="0A7EA4"/>
                </a:solidFill>
                <a:latin typeface="Times New Roman" panose="02020603050405020304" charset="0"/>
                <a:cs typeface="Times New Roman" panose="02020603050405020304" charset="0"/>
              </a:rPr>
              <a:t>−0.42 (negative)</a:t>
            </a:r>
            <a:endParaRPr lang="en-US" sz="1100" dirty="0">
              <a:solidFill>
                <a:srgbClr val="0A7EA4"/>
              </a:solidFill>
              <a:latin typeface="Times New Roman" panose="02020603050405020304" charset="0"/>
              <a:cs typeface="Times New Roman" panose="02020603050405020304" charset="0"/>
            </a:endParaRPr>
          </a:p>
        </p:txBody>
      </p:sp>
      <p:sp>
        <p:nvSpPr>
          <p:cNvPr id="19" name="Shape 16"/>
          <p:cNvSpPr/>
          <p:nvPr/>
        </p:nvSpPr>
        <p:spPr>
          <a:xfrm>
            <a:off x="5623560" y="2944368"/>
            <a:ext cx="2926080" cy="347472"/>
          </a:xfrm>
          <a:prstGeom prst="rect">
            <a:avLst/>
          </a:prstGeom>
          <a:solidFill>
            <a:srgbClr val="EEF5FB"/>
          </a:solidFill>
          <a:ln w="6350">
            <a:solidFill>
              <a:srgbClr val="E0EAF2"/>
            </a:solidFill>
            <a:prstDash val="solid"/>
          </a:ln>
        </p:spPr>
      </p:sp>
      <p:sp>
        <p:nvSpPr>
          <p:cNvPr id="20" name="Text 17"/>
          <p:cNvSpPr/>
          <p:nvPr/>
        </p:nvSpPr>
        <p:spPr>
          <a:xfrm>
            <a:off x="5669280" y="2944368"/>
            <a:ext cx="1371600" cy="347472"/>
          </a:xfrm>
          <a:prstGeom prst="rect">
            <a:avLst/>
          </a:prstGeom>
          <a:noFill/>
        </p:spPr>
        <p:txBody>
          <a:bodyPr wrap="square" rtlCol="0" anchor="ctr"/>
          <a:lstStyle/>
          <a:p>
            <a:pPr marL="0" indent="0">
              <a:buNone/>
            </a:pPr>
            <a:r>
              <a:rPr lang="en-US" sz="1100" b="1" dirty="0">
                <a:solidFill>
                  <a:srgbClr val="1A2B3C"/>
                </a:solidFill>
                <a:latin typeface="Times New Roman" panose="02020603050405020304" charset="0"/>
                <a:cs typeface="Times New Roman" panose="02020603050405020304" charset="0"/>
              </a:rPr>
              <a:t>Kurtosis</a:t>
            </a:r>
            <a:endParaRPr lang="en-US" sz="1100" b="1" dirty="0">
              <a:solidFill>
                <a:srgbClr val="1A2B3C"/>
              </a:solidFill>
              <a:latin typeface="Times New Roman" panose="02020603050405020304" charset="0"/>
              <a:cs typeface="Times New Roman" panose="02020603050405020304" charset="0"/>
            </a:endParaRPr>
          </a:p>
        </p:txBody>
      </p:sp>
      <p:sp>
        <p:nvSpPr>
          <p:cNvPr id="21" name="Text 18"/>
          <p:cNvSpPr/>
          <p:nvPr/>
        </p:nvSpPr>
        <p:spPr>
          <a:xfrm>
            <a:off x="7086600" y="2944368"/>
            <a:ext cx="1417320" cy="347472"/>
          </a:xfrm>
          <a:prstGeom prst="rect">
            <a:avLst/>
          </a:prstGeom>
          <a:noFill/>
        </p:spPr>
        <p:txBody>
          <a:bodyPr wrap="square" rtlCol="0" anchor="ctr"/>
          <a:lstStyle/>
          <a:p>
            <a:pPr marL="0" indent="0" algn="r">
              <a:buNone/>
            </a:pPr>
            <a:r>
              <a:rPr lang="en-US" sz="1100" dirty="0">
                <a:solidFill>
                  <a:srgbClr val="0A7EA4"/>
                </a:solidFill>
                <a:latin typeface="Times New Roman" panose="02020603050405020304" charset="0"/>
                <a:cs typeface="Times New Roman" panose="02020603050405020304" charset="0"/>
              </a:rPr>
              <a:t>5.8 (fat tails)</a:t>
            </a:r>
            <a:endParaRPr lang="en-US" sz="1100" dirty="0">
              <a:solidFill>
                <a:srgbClr val="0A7EA4"/>
              </a:solidFill>
              <a:latin typeface="Times New Roman" panose="02020603050405020304" charset="0"/>
              <a:cs typeface="Times New Roman" panose="02020603050405020304" charset="0"/>
            </a:endParaRPr>
          </a:p>
        </p:txBody>
      </p:sp>
      <p:sp>
        <p:nvSpPr>
          <p:cNvPr id="22" name="Shape 19"/>
          <p:cNvSpPr/>
          <p:nvPr/>
        </p:nvSpPr>
        <p:spPr>
          <a:xfrm>
            <a:off x="5623560" y="3355848"/>
            <a:ext cx="2926080" cy="347472"/>
          </a:xfrm>
          <a:prstGeom prst="rect">
            <a:avLst/>
          </a:prstGeom>
          <a:solidFill>
            <a:srgbClr val="FFFFFF"/>
          </a:solidFill>
          <a:ln w="6350">
            <a:solidFill>
              <a:srgbClr val="E0EAF2"/>
            </a:solidFill>
            <a:prstDash val="solid"/>
          </a:ln>
        </p:spPr>
      </p:sp>
      <p:sp>
        <p:nvSpPr>
          <p:cNvPr id="23" name="Text 20"/>
          <p:cNvSpPr/>
          <p:nvPr/>
        </p:nvSpPr>
        <p:spPr>
          <a:xfrm>
            <a:off x="5669280" y="3355848"/>
            <a:ext cx="1371600" cy="347472"/>
          </a:xfrm>
          <a:prstGeom prst="rect">
            <a:avLst/>
          </a:prstGeom>
          <a:noFill/>
        </p:spPr>
        <p:txBody>
          <a:bodyPr wrap="square" rtlCol="0" anchor="ctr"/>
          <a:lstStyle/>
          <a:p>
            <a:pPr marL="0" indent="0">
              <a:buNone/>
            </a:pPr>
            <a:r>
              <a:rPr lang="en-US" sz="1100" b="1" dirty="0">
                <a:solidFill>
                  <a:srgbClr val="1A2B3C"/>
                </a:solidFill>
                <a:latin typeface="Times New Roman" panose="02020603050405020304" charset="0"/>
                <a:cs typeface="Times New Roman" panose="02020603050405020304" charset="0"/>
              </a:rPr>
              <a:t>RSI Min</a:t>
            </a:r>
            <a:endParaRPr lang="en-US" sz="1100" b="1" dirty="0">
              <a:solidFill>
                <a:srgbClr val="1A2B3C"/>
              </a:solidFill>
              <a:latin typeface="Times New Roman" panose="02020603050405020304" charset="0"/>
              <a:cs typeface="Times New Roman" panose="02020603050405020304" charset="0"/>
            </a:endParaRPr>
          </a:p>
        </p:txBody>
      </p:sp>
      <p:sp>
        <p:nvSpPr>
          <p:cNvPr id="24" name="Text 21"/>
          <p:cNvSpPr/>
          <p:nvPr/>
        </p:nvSpPr>
        <p:spPr>
          <a:xfrm>
            <a:off x="7086600" y="3355848"/>
            <a:ext cx="1417320" cy="347472"/>
          </a:xfrm>
          <a:prstGeom prst="rect">
            <a:avLst/>
          </a:prstGeom>
          <a:noFill/>
        </p:spPr>
        <p:txBody>
          <a:bodyPr wrap="square" rtlCol="0" anchor="ctr"/>
          <a:lstStyle/>
          <a:p>
            <a:pPr marL="0" indent="0" algn="r">
              <a:buNone/>
            </a:pPr>
            <a:r>
              <a:rPr lang="en-US" sz="1100" dirty="0">
                <a:solidFill>
                  <a:srgbClr val="0A7EA4"/>
                </a:solidFill>
                <a:latin typeface="Times New Roman" panose="02020603050405020304" charset="0"/>
                <a:cs typeface="Times New Roman" panose="02020603050405020304" charset="0"/>
              </a:rPr>
              <a:t>18.4 (Mar 2020)</a:t>
            </a:r>
            <a:endParaRPr lang="en-US" sz="1100" dirty="0">
              <a:solidFill>
                <a:srgbClr val="0A7EA4"/>
              </a:solidFill>
              <a:latin typeface="Times New Roman" panose="02020603050405020304" charset="0"/>
              <a:cs typeface="Times New Roman" panose="02020603050405020304" charset="0"/>
            </a:endParaRPr>
          </a:p>
        </p:txBody>
      </p:sp>
      <p:sp>
        <p:nvSpPr>
          <p:cNvPr id="25" name="Shape 22"/>
          <p:cNvSpPr/>
          <p:nvPr/>
        </p:nvSpPr>
        <p:spPr>
          <a:xfrm>
            <a:off x="5623560" y="3767328"/>
            <a:ext cx="2926080" cy="347472"/>
          </a:xfrm>
          <a:prstGeom prst="rect">
            <a:avLst/>
          </a:prstGeom>
          <a:solidFill>
            <a:srgbClr val="EEF5FB"/>
          </a:solidFill>
          <a:ln w="6350">
            <a:solidFill>
              <a:srgbClr val="E0EAF2"/>
            </a:solidFill>
            <a:prstDash val="solid"/>
          </a:ln>
        </p:spPr>
      </p:sp>
      <p:sp>
        <p:nvSpPr>
          <p:cNvPr id="26" name="Text 23"/>
          <p:cNvSpPr/>
          <p:nvPr/>
        </p:nvSpPr>
        <p:spPr>
          <a:xfrm>
            <a:off x="5669280" y="3767328"/>
            <a:ext cx="1371600" cy="347472"/>
          </a:xfrm>
          <a:prstGeom prst="rect">
            <a:avLst/>
          </a:prstGeom>
          <a:noFill/>
        </p:spPr>
        <p:txBody>
          <a:bodyPr wrap="square" rtlCol="0" anchor="ctr"/>
          <a:lstStyle/>
          <a:p>
            <a:pPr marL="0" indent="0">
              <a:buNone/>
            </a:pPr>
            <a:r>
              <a:rPr lang="en-US" sz="1100" b="1" dirty="0">
                <a:solidFill>
                  <a:srgbClr val="1A2B3C"/>
                </a:solidFill>
                <a:latin typeface="Times New Roman" panose="02020603050405020304" charset="0"/>
                <a:cs typeface="Times New Roman" panose="02020603050405020304" charset="0"/>
              </a:rPr>
              <a:t>RSI Max</a:t>
            </a:r>
            <a:endParaRPr lang="en-US" sz="1100" b="1" dirty="0">
              <a:solidFill>
                <a:srgbClr val="1A2B3C"/>
              </a:solidFill>
              <a:latin typeface="Times New Roman" panose="02020603050405020304" charset="0"/>
              <a:cs typeface="Times New Roman" panose="02020603050405020304" charset="0"/>
            </a:endParaRPr>
          </a:p>
        </p:txBody>
      </p:sp>
      <p:sp>
        <p:nvSpPr>
          <p:cNvPr id="27" name="Text 24"/>
          <p:cNvSpPr/>
          <p:nvPr/>
        </p:nvSpPr>
        <p:spPr>
          <a:xfrm>
            <a:off x="7086600" y="3767328"/>
            <a:ext cx="1417320" cy="347472"/>
          </a:xfrm>
          <a:prstGeom prst="rect">
            <a:avLst/>
          </a:prstGeom>
          <a:noFill/>
        </p:spPr>
        <p:txBody>
          <a:bodyPr wrap="square" rtlCol="0" anchor="ctr"/>
          <a:lstStyle/>
          <a:p>
            <a:pPr marL="0" indent="0" algn="r">
              <a:buNone/>
            </a:pPr>
            <a:r>
              <a:rPr lang="en-US" sz="1100" dirty="0">
                <a:solidFill>
                  <a:srgbClr val="0A7EA4"/>
                </a:solidFill>
                <a:latin typeface="Times New Roman" panose="02020603050405020304" charset="0"/>
                <a:cs typeface="Times New Roman" panose="02020603050405020304" charset="0"/>
              </a:rPr>
              <a:t>84.7 (Jan 2024)</a:t>
            </a:r>
            <a:endParaRPr lang="en-US" sz="1100" dirty="0">
              <a:solidFill>
                <a:srgbClr val="0A7EA4"/>
              </a:solidFill>
              <a:latin typeface="Times New Roman" panose="02020603050405020304" charset="0"/>
              <a:cs typeface="Times New Roman" panose="02020603050405020304" charset="0"/>
            </a:endParaRPr>
          </a:p>
        </p:txBody>
      </p:sp>
      <p:sp>
        <p:nvSpPr>
          <p:cNvPr id="28" name="Text 25"/>
          <p:cNvSpPr/>
          <p:nvPr/>
        </p:nvSpPr>
        <p:spPr>
          <a:xfrm>
            <a:off x="8046720" y="4800600"/>
            <a:ext cx="914400" cy="228600"/>
          </a:xfrm>
          <a:prstGeom prst="rect">
            <a:avLst/>
          </a:prstGeom>
          <a:noFill/>
        </p:spPr>
        <p:txBody>
          <a:bodyPr wrap="square" rtlCol="0" anchor="ctr"/>
          <a:lstStyle/>
          <a:p>
            <a:pPr marL="0" indent="0" algn="r">
              <a:buNone/>
            </a:pPr>
            <a:r>
              <a:rPr lang="en-US" sz="900" dirty="0">
                <a:solidFill>
                  <a:srgbClr val="5A7490"/>
                </a:solidFill>
                <a:latin typeface="Times New Roman" panose="02020603050405020304" charset="0"/>
                <a:cs typeface="Times New Roman" panose="02020603050405020304" charset="0"/>
              </a:rPr>
              <a:t>11 / 19</a:t>
            </a:r>
            <a:endParaRPr lang="en-US" sz="900" dirty="0">
              <a:solidFill>
                <a:srgbClr val="5A7490"/>
              </a:solidFill>
              <a:latin typeface="Times New Roman" panose="02020603050405020304" charset="0"/>
              <a:cs typeface="Times New Roman" panose="02020603050405020304" charset="0"/>
            </a:endParaRPr>
          </a:p>
        </p:txBody>
      </p:sp>
      <p:pic>
        <p:nvPicPr>
          <p:cNvPr id="29" name="Picture 28"/>
          <p:cNvPicPr>
            <a:picLocks noChangeAspect="1"/>
          </p:cNvPicPr>
          <p:nvPr/>
        </p:nvPicPr>
        <p:blipFill>
          <a:blip r:embed="rId1"/>
          <a:stretch>
            <a:fillRect/>
          </a:stretch>
        </p:blipFill>
        <p:spPr>
          <a:xfrm>
            <a:off x="248285" y="987425"/>
            <a:ext cx="5182235" cy="3259455"/>
          </a:xfrm>
          <a:prstGeom prst="rect">
            <a:avLst/>
          </a:prstGeom>
        </p:spPr>
      </p:pic>
      <p:sp>
        <p:nvSpPr>
          <p:cNvPr id="30" name="Text Box 29"/>
          <p:cNvSpPr txBox="1"/>
          <p:nvPr/>
        </p:nvSpPr>
        <p:spPr>
          <a:xfrm>
            <a:off x="248285" y="685800"/>
            <a:ext cx="3048000" cy="368300"/>
          </a:xfrm>
          <a:prstGeom prst="rect">
            <a:avLst/>
          </a:prstGeom>
          <a:noFill/>
        </p:spPr>
        <p:txBody>
          <a:bodyPr wrap="square" rtlCol="0">
            <a:spAutoFit/>
          </a:bodyPr>
          <a:p>
            <a:r>
              <a:rPr lang="en-IN" altLang="en-GB">
                <a:latin typeface="Times New Roman" panose="02020603050405020304" charset="0"/>
                <a:cs typeface="Times New Roman" panose="02020603050405020304" charset="0"/>
              </a:rPr>
              <a:t>Histogram</a:t>
            </a:r>
            <a:endParaRPr lang="en-IN" altLang="en-GB">
              <a:latin typeface="Times New Roman" panose="02020603050405020304" charset="0"/>
              <a:cs typeface="Times New Roman" panose="020206030504050203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73152" cy="384048"/>
          </a:xfrm>
          <a:prstGeom prst="rect">
            <a:avLst/>
          </a:prstGeom>
          <a:solidFill>
            <a:srgbClr val="0A7EA4"/>
          </a:solidFill>
          <a:ln w="12700">
            <a:solidFill>
              <a:srgbClr val="0A7EA4"/>
            </a:solidFill>
            <a:prstDash val="solid"/>
          </a:ln>
        </p:spPr>
      </p:sp>
      <p:sp>
        <p:nvSpPr>
          <p:cNvPr id="3" name="Text 1"/>
          <p:cNvSpPr/>
          <p:nvPr/>
        </p:nvSpPr>
        <p:spPr>
          <a:xfrm>
            <a:off x="621792" y="182880"/>
            <a:ext cx="7772400" cy="502920"/>
          </a:xfrm>
          <a:prstGeom prst="rect">
            <a:avLst/>
          </a:prstGeom>
          <a:noFill/>
        </p:spPr>
        <p:txBody>
          <a:bodyPr wrap="square" lIns="0" tIns="0" rIns="0" bIns="0" rtlCol="0" anchor="ctr"/>
          <a:lstStyle/>
          <a:p>
            <a:pPr marL="0" indent="0">
              <a:buNone/>
            </a:pPr>
            <a:r>
              <a:rPr lang="en-US" sz="2200" b="1" dirty="0">
                <a:solidFill>
                  <a:srgbClr val="1A2B3C"/>
                </a:solidFill>
                <a:latin typeface="Times New Roman" panose="02020603050405020304" charset="0"/>
                <a:ea typeface="Calibri" panose="020F0502020204030204" pitchFamily="34" charset="-122"/>
                <a:cs typeface="Times New Roman" panose="02020603050405020304" charset="0"/>
              </a:rPr>
              <a:t>Data Visualization — Sector Returns &amp; Portfolio Allocation</a:t>
            </a:r>
            <a:endParaRPr lang="en-US" sz="2200" b="1" dirty="0">
              <a:solidFill>
                <a:srgbClr val="1A2B3C"/>
              </a:solidFill>
              <a:latin typeface="Times New Roman" panose="02020603050405020304" charset="0"/>
              <a:ea typeface="Calibri" panose="020F0502020204030204" pitchFamily="34" charset="-122"/>
              <a:cs typeface="Times New Roman" panose="02020603050405020304" charset="0"/>
            </a:endParaRPr>
          </a:p>
        </p:txBody>
      </p:sp>
      <p:sp>
        <p:nvSpPr>
          <p:cNvPr id="6" name="Text 2"/>
          <p:cNvSpPr/>
          <p:nvPr/>
        </p:nvSpPr>
        <p:spPr>
          <a:xfrm>
            <a:off x="8046720" y="4800600"/>
            <a:ext cx="914400" cy="228600"/>
          </a:xfrm>
          <a:prstGeom prst="rect">
            <a:avLst/>
          </a:prstGeom>
          <a:noFill/>
        </p:spPr>
        <p:txBody>
          <a:bodyPr wrap="square" rtlCol="0" anchor="ctr"/>
          <a:lstStyle/>
          <a:p>
            <a:pPr marL="0" indent="0" algn="r">
              <a:buNone/>
            </a:pPr>
            <a:r>
              <a:rPr lang="en-US" sz="900" dirty="0">
                <a:solidFill>
                  <a:srgbClr val="5A7490"/>
                </a:solidFill>
                <a:latin typeface="Times New Roman" panose="02020603050405020304" charset="0"/>
                <a:cs typeface="Times New Roman" panose="02020603050405020304" charset="0"/>
              </a:rPr>
              <a:t>12 / 19</a:t>
            </a:r>
            <a:endParaRPr lang="en-US" sz="900" dirty="0">
              <a:solidFill>
                <a:srgbClr val="5A7490"/>
              </a:solidFill>
              <a:latin typeface="Times New Roman" panose="02020603050405020304" charset="0"/>
              <a:cs typeface="Times New Roman" panose="02020603050405020304" charset="0"/>
            </a:endParaRPr>
          </a:p>
        </p:txBody>
      </p:sp>
      <p:pic>
        <p:nvPicPr>
          <p:cNvPr id="7" name="Picture 6"/>
          <p:cNvPicPr>
            <a:picLocks noChangeAspect="1"/>
          </p:cNvPicPr>
          <p:nvPr/>
        </p:nvPicPr>
        <p:blipFill>
          <a:blip r:embed="rId1"/>
          <a:stretch>
            <a:fillRect/>
          </a:stretch>
        </p:blipFill>
        <p:spPr>
          <a:xfrm>
            <a:off x="204470" y="1021080"/>
            <a:ext cx="5292725" cy="3291840"/>
          </a:xfrm>
          <a:prstGeom prst="rect">
            <a:avLst/>
          </a:prstGeom>
        </p:spPr>
      </p:pic>
      <p:pic>
        <p:nvPicPr>
          <p:cNvPr id="8" name="Picture 7"/>
          <p:cNvPicPr>
            <a:picLocks noChangeAspect="1"/>
          </p:cNvPicPr>
          <p:nvPr/>
        </p:nvPicPr>
        <p:blipFill>
          <a:blip r:embed="rId2"/>
          <a:stretch>
            <a:fillRect/>
          </a:stretch>
        </p:blipFill>
        <p:spPr>
          <a:xfrm>
            <a:off x="5495290" y="1168400"/>
            <a:ext cx="3583940" cy="2674620"/>
          </a:xfrm>
          <a:prstGeom prst="rect">
            <a:avLst/>
          </a:prstGeom>
        </p:spPr>
      </p:pic>
      <p:sp>
        <p:nvSpPr>
          <p:cNvPr id="9" name="Text Box 8"/>
          <p:cNvSpPr txBox="1"/>
          <p:nvPr/>
        </p:nvSpPr>
        <p:spPr>
          <a:xfrm>
            <a:off x="167640" y="683260"/>
            <a:ext cx="3048000" cy="368300"/>
          </a:xfrm>
          <a:prstGeom prst="rect">
            <a:avLst/>
          </a:prstGeom>
          <a:noFill/>
        </p:spPr>
        <p:txBody>
          <a:bodyPr wrap="square" rtlCol="0">
            <a:spAutoFit/>
          </a:bodyPr>
          <a:p>
            <a:r>
              <a:rPr lang="en-IN" altLang="en-GB">
                <a:latin typeface="Times New Roman" panose="02020603050405020304" charset="0"/>
                <a:cs typeface="Times New Roman" panose="02020603050405020304" charset="0"/>
              </a:rPr>
              <a:t>Bar Chart</a:t>
            </a:r>
            <a:endParaRPr lang="en-IN" altLang="en-GB">
              <a:latin typeface="Times New Roman" panose="02020603050405020304" charset="0"/>
              <a:cs typeface="Times New Roman" panose="02020603050405020304" charset="0"/>
            </a:endParaRPr>
          </a:p>
        </p:txBody>
      </p:sp>
      <p:sp>
        <p:nvSpPr>
          <p:cNvPr id="10" name="Text Box 9"/>
          <p:cNvSpPr txBox="1"/>
          <p:nvPr/>
        </p:nvSpPr>
        <p:spPr>
          <a:xfrm>
            <a:off x="5485130" y="896620"/>
            <a:ext cx="3048000" cy="368300"/>
          </a:xfrm>
          <a:prstGeom prst="rect">
            <a:avLst/>
          </a:prstGeom>
          <a:noFill/>
        </p:spPr>
        <p:txBody>
          <a:bodyPr wrap="square" rtlCol="0">
            <a:spAutoFit/>
          </a:bodyPr>
          <a:p>
            <a:r>
              <a:rPr lang="en-IN" altLang="en-GB">
                <a:latin typeface="Times New Roman" panose="02020603050405020304" charset="0"/>
                <a:cs typeface="Times New Roman" panose="02020603050405020304" charset="0"/>
              </a:rPr>
              <a:t>Pie Chart</a:t>
            </a:r>
            <a:endParaRPr lang="en-IN" altLang="en-GB">
              <a:latin typeface="Times New Roman" panose="02020603050405020304" charset="0"/>
              <a:cs typeface="Times New Roman" panose="020206030504050203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73152" cy="384048"/>
          </a:xfrm>
          <a:prstGeom prst="rect">
            <a:avLst/>
          </a:prstGeom>
          <a:solidFill>
            <a:srgbClr val="0A7EA4"/>
          </a:solidFill>
          <a:ln w="12700">
            <a:solidFill>
              <a:srgbClr val="0A7EA4"/>
            </a:solidFill>
            <a:prstDash val="solid"/>
          </a:ln>
        </p:spPr>
      </p:sp>
      <p:sp>
        <p:nvSpPr>
          <p:cNvPr id="3" name="Text 1"/>
          <p:cNvSpPr/>
          <p:nvPr/>
        </p:nvSpPr>
        <p:spPr>
          <a:xfrm>
            <a:off x="621792" y="182880"/>
            <a:ext cx="7772400" cy="502920"/>
          </a:xfrm>
          <a:prstGeom prst="rect">
            <a:avLst/>
          </a:prstGeom>
          <a:noFill/>
        </p:spPr>
        <p:txBody>
          <a:bodyPr wrap="square" lIns="0" tIns="0" rIns="0" bIns="0" rtlCol="0" anchor="ctr"/>
          <a:lstStyle/>
          <a:p>
            <a:pPr marL="0" indent="0">
              <a:buNone/>
            </a:pPr>
            <a:r>
              <a:rPr lang="en-US" sz="2200" b="1" dirty="0">
                <a:solidFill>
                  <a:srgbClr val="1A2B3C"/>
                </a:solidFill>
                <a:latin typeface="Times New Roman" panose="02020603050405020304" charset="0"/>
                <a:ea typeface="Calibri" panose="020F0502020204030204" pitchFamily="34" charset="-122"/>
                <a:cs typeface="Times New Roman" panose="02020603050405020304" charset="0"/>
              </a:rPr>
              <a:t>System Architecture — End-to-End Pipeline</a:t>
            </a:r>
            <a:endParaRPr lang="en-US" sz="2200" b="1" dirty="0">
              <a:solidFill>
                <a:srgbClr val="1A2B3C"/>
              </a:solidFill>
              <a:latin typeface="Times New Roman" panose="02020603050405020304" charset="0"/>
              <a:ea typeface="Calibri" panose="020F0502020204030204" pitchFamily="34" charset="-122"/>
              <a:cs typeface="Times New Roman" panose="02020603050405020304" charset="0"/>
            </a:endParaRPr>
          </a:p>
        </p:txBody>
      </p:sp>
      <p:sp>
        <p:nvSpPr>
          <p:cNvPr id="39" name="Text 37"/>
          <p:cNvSpPr/>
          <p:nvPr/>
        </p:nvSpPr>
        <p:spPr>
          <a:xfrm>
            <a:off x="457200" y="4389120"/>
            <a:ext cx="8229600" cy="411480"/>
          </a:xfrm>
          <a:prstGeom prst="rect">
            <a:avLst/>
          </a:prstGeom>
          <a:noFill/>
        </p:spPr>
        <p:txBody>
          <a:bodyPr wrap="square" rtlCol="0" anchor="ctr"/>
          <a:lstStyle/>
          <a:p>
            <a:pPr marL="0" indent="0" algn="ctr">
              <a:buNone/>
            </a:pPr>
            <a:endParaRPr lang="en-US" sz="1200" dirty="0">
              <a:latin typeface="Times New Roman" panose="02020603050405020304" charset="0"/>
              <a:cs typeface="Times New Roman" panose="02020603050405020304" charset="0"/>
            </a:endParaRPr>
          </a:p>
        </p:txBody>
      </p:sp>
      <p:sp>
        <p:nvSpPr>
          <p:cNvPr id="40" name="Text 38"/>
          <p:cNvSpPr/>
          <p:nvPr/>
        </p:nvSpPr>
        <p:spPr>
          <a:xfrm>
            <a:off x="8046720" y="4800600"/>
            <a:ext cx="914400" cy="228600"/>
          </a:xfrm>
          <a:prstGeom prst="rect">
            <a:avLst/>
          </a:prstGeom>
          <a:noFill/>
        </p:spPr>
        <p:txBody>
          <a:bodyPr wrap="square" rtlCol="0" anchor="ctr"/>
          <a:lstStyle/>
          <a:p>
            <a:pPr marL="0" indent="0" algn="r">
              <a:buNone/>
            </a:pPr>
            <a:r>
              <a:rPr lang="en-US" sz="900" dirty="0">
                <a:solidFill>
                  <a:srgbClr val="5A7490"/>
                </a:solidFill>
                <a:latin typeface="Times New Roman" panose="02020603050405020304" charset="0"/>
                <a:cs typeface="Times New Roman" panose="02020603050405020304" charset="0"/>
              </a:rPr>
              <a:t>13 / 19</a:t>
            </a:r>
            <a:endParaRPr lang="en-US" sz="900" dirty="0">
              <a:solidFill>
                <a:srgbClr val="5A7490"/>
              </a:solidFill>
              <a:latin typeface="Times New Roman" panose="02020603050405020304" charset="0"/>
              <a:cs typeface="Times New Roman" panose="02020603050405020304" charset="0"/>
            </a:endParaRPr>
          </a:p>
        </p:txBody>
      </p:sp>
      <p:pic>
        <p:nvPicPr>
          <p:cNvPr id="41" name="Picture 40"/>
          <p:cNvPicPr>
            <a:picLocks noChangeAspect="1"/>
          </p:cNvPicPr>
          <p:nvPr/>
        </p:nvPicPr>
        <p:blipFill>
          <a:blip r:embed="rId1"/>
          <a:stretch>
            <a:fillRect/>
          </a:stretch>
        </p:blipFill>
        <p:spPr>
          <a:xfrm>
            <a:off x="621665" y="970280"/>
            <a:ext cx="8018145" cy="2649220"/>
          </a:xfrm>
          <a:prstGeom prst="rect">
            <a:avLst/>
          </a:prstGeom>
        </p:spPr>
      </p:pic>
      <p:sp>
        <p:nvSpPr>
          <p:cNvPr id="42" name="Text Box 41"/>
          <p:cNvSpPr txBox="1"/>
          <p:nvPr/>
        </p:nvSpPr>
        <p:spPr>
          <a:xfrm>
            <a:off x="621665" y="3619500"/>
            <a:ext cx="8281035" cy="368300"/>
          </a:xfrm>
          <a:prstGeom prst="rect">
            <a:avLst/>
          </a:prstGeom>
          <a:noFill/>
        </p:spPr>
        <p:txBody>
          <a:bodyPr wrap="square" rtlCol="0">
            <a:spAutoFit/>
          </a:bodyPr>
          <a:p>
            <a:r>
              <a:rPr lang="en-US" altLang="en-GB">
                <a:latin typeface="Times New Roman" panose="02020603050405020304" charset="0"/>
                <a:cs typeface="Times New Roman" panose="02020603050405020304" charset="0"/>
              </a:rPr>
              <a:t>System Architecture Block Diagram — Stock Market Analysis &amp; Prediction Pipeline</a:t>
            </a:r>
            <a:endParaRPr lang="en-US" altLang="en-GB">
              <a:latin typeface="Times New Roman" panose="02020603050405020304" charset="0"/>
              <a:cs typeface="Times New Roman" panose="020206030504050203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73152" cy="384048"/>
          </a:xfrm>
          <a:prstGeom prst="rect">
            <a:avLst/>
          </a:prstGeom>
          <a:solidFill>
            <a:srgbClr val="0A7EA4"/>
          </a:solidFill>
          <a:ln w="12700">
            <a:solidFill>
              <a:srgbClr val="0A7EA4"/>
            </a:solidFill>
            <a:prstDash val="solid"/>
          </a:ln>
        </p:spPr>
      </p:sp>
      <p:sp>
        <p:nvSpPr>
          <p:cNvPr id="3" name="Text 1"/>
          <p:cNvSpPr/>
          <p:nvPr/>
        </p:nvSpPr>
        <p:spPr>
          <a:xfrm>
            <a:off x="621792" y="182880"/>
            <a:ext cx="7772400" cy="502920"/>
          </a:xfrm>
          <a:prstGeom prst="rect">
            <a:avLst/>
          </a:prstGeom>
          <a:noFill/>
        </p:spPr>
        <p:txBody>
          <a:bodyPr wrap="square" lIns="0" tIns="0" rIns="0" bIns="0" rtlCol="0" anchor="ctr"/>
          <a:lstStyle/>
          <a:p>
            <a:pPr marL="0" indent="0">
              <a:buNone/>
            </a:pPr>
            <a:r>
              <a:rPr lang="en-US" sz="2200" b="1" dirty="0">
                <a:solidFill>
                  <a:srgbClr val="1A2B3C"/>
                </a:solidFill>
                <a:latin typeface="Times New Roman" panose="02020603050405020304" charset="0"/>
                <a:ea typeface="Calibri" panose="020F0502020204030204" pitchFamily="34" charset="-122"/>
                <a:cs typeface="Times New Roman" panose="02020603050405020304" charset="0"/>
              </a:rPr>
              <a:t>Why LSTM for Stock Price Prediction?</a:t>
            </a:r>
            <a:endParaRPr lang="en-US" sz="2200" b="1" dirty="0">
              <a:solidFill>
                <a:srgbClr val="1A2B3C"/>
              </a:solidFill>
              <a:latin typeface="Times New Roman" panose="02020603050405020304" charset="0"/>
              <a:ea typeface="Calibri" panose="020F0502020204030204" pitchFamily="34" charset="-122"/>
              <a:cs typeface="Times New Roman" panose="02020603050405020304" charset="0"/>
            </a:endParaRPr>
          </a:p>
        </p:txBody>
      </p:sp>
      <p:sp>
        <p:nvSpPr>
          <p:cNvPr id="4" name="Shape 2"/>
          <p:cNvSpPr/>
          <p:nvPr/>
        </p:nvSpPr>
        <p:spPr>
          <a:xfrm>
            <a:off x="457200" y="804672"/>
            <a:ext cx="8229600" cy="1234440"/>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5" name="Text 3"/>
          <p:cNvSpPr/>
          <p:nvPr/>
        </p:nvSpPr>
        <p:spPr>
          <a:xfrm>
            <a:off x="594360" y="868680"/>
            <a:ext cx="7955280" cy="1097280"/>
          </a:xfrm>
          <a:prstGeom prst="rect">
            <a:avLst/>
          </a:prstGeom>
          <a:noFill/>
        </p:spPr>
        <p:txBody>
          <a:bodyPr wrap="square" rtlCol="0" anchor="ctr"/>
          <a:lstStyle/>
          <a:p>
            <a:pPr marL="0" indent="0">
              <a:buNone/>
            </a:pPr>
            <a:r>
              <a:rPr lang="en-US" sz="1200" dirty="0">
                <a:solidFill>
                  <a:srgbClr val="1A2B3C"/>
                </a:solidFill>
                <a:latin typeface="Times New Roman" panose="02020603050405020304" charset="0"/>
                <a:cs typeface="Times New Roman" panose="02020603050405020304" charset="0"/>
              </a:rPr>
              <a:t>Stock prices are sequential time-series data — the current price depends on historical prices and market conditions. LSTM networks are a specialized class of Recurrent Neural Networks (RNN) using gating mechanisms (Input Gate, Forget Gate, Output Gate) to selectively retain or discard information over long sequences, resolving the vanishing gradient problem of vanilla RNNs.</a:t>
            </a:r>
            <a:endParaRPr lang="en-US" sz="1200" dirty="0">
              <a:solidFill>
                <a:srgbClr val="1A2B3C"/>
              </a:solidFill>
              <a:latin typeface="Times New Roman" panose="02020603050405020304" charset="0"/>
              <a:cs typeface="Times New Roman" panose="02020603050405020304" charset="0"/>
            </a:endParaRPr>
          </a:p>
        </p:txBody>
      </p:sp>
      <p:graphicFrame>
        <p:nvGraphicFramePr>
          <p:cNvPr id="15" name="Table 0"/>
          <p:cNvGraphicFramePr>
            <a:graphicFrameLocks noGrp="1"/>
          </p:cNvGraphicFramePr>
          <p:nvPr/>
        </p:nvGraphicFramePr>
        <p:xfrm>
          <a:off x="457200" y="2176272"/>
          <a:ext cx="8229600" cy="2560320"/>
        </p:xfrm>
        <a:graphic>
          <a:graphicData uri="http://schemas.openxmlformats.org/drawingml/2006/table">
            <a:tbl>
              <a:tblPr/>
              <a:tblGrid>
                <a:gridCol w="1920240"/>
                <a:gridCol w="3154680"/>
                <a:gridCol w="3154680"/>
              </a:tblGrid>
              <a:tr h="512064">
                <a:tc>
                  <a:txBody>
                    <a:bodyPr/>
                    <a:lstStyle/>
                    <a:p>
                      <a:pPr marL="0" indent="0">
                        <a:buNone/>
                      </a:pPr>
                      <a:r>
                        <a:rPr lang="en-US" sz="1100" b="1" dirty="0">
                          <a:solidFill>
                            <a:srgbClr val="FFFFFF"/>
                          </a:solidFill>
                          <a:latin typeface="Times New Roman" panose="02020603050405020304" charset="0"/>
                          <a:cs typeface="Times New Roman" panose="02020603050405020304" charset="0"/>
                        </a:rPr>
                        <a:t>Model</a:t>
                      </a:r>
                      <a:endParaRPr lang="en-US" sz="1100" b="1" dirty="0">
                        <a:solidFill>
                          <a:srgbClr val="FFFFFF"/>
                        </a:solidFill>
                        <a:latin typeface="Times New Roman" panose="02020603050405020304" charset="0"/>
                        <a:cs typeface="Times New Roman" panose="02020603050405020304" charset="0"/>
                      </a:endParaRPr>
                    </a:p>
                  </a:txBody>
                  <a:tcPr>
                    <a:lnL w="0" cap="flat" cmpd="sng" algn="ctr">
                      <a:noFill/>
                    </a:lnL>
                    <a:lnR w="0" cap="flat" cmpd="sng" algn="ctr">
                      <a:noFill/>
                    </a:lnR>
                    <a:lnT w="0" cap="flat" cmpd="sng" algn="ctr">
                      <a:noFill/>
                    </a:lnT>
                    <a:lnB w="0" cap="flat" cmpd="sng" algn="ctr">
                      <a:noFill/>
                    </a:lnB>
                    <a:solidFill>
                      <a:srgbClr val="0D2137"/>
                    </a:solidFill>
                  </a:tcPr>
                </a:tc>
                <a:tc>
                  <a:txBody>
                    <a:bodyPr/>
                    <a:lstStyle/>
                    <a:p>
                      <a:pPr marL="0" indent="0">
                        <a:buNone/>
                      </a:pPr>
                      <a:r>
                        <a:rPr lang="en-US" sz="1100" b="1" dirty="0">
                          <a:solidFill>
                            <a:srgbClr val="FFFFFF"/>
                          </a:solidFill>
                          <a:latin typeface="Times New Roman" panose="02020603050405020304" charset="0"/>
                          <a:cs typeface="Times New Roman" panose="02020603050405020304" charset="0"/>
                        </a:rPr>
                        <a:t>Strengths</a:t>
                      </a:r>
                      <a:endParaRPr lang="en-US" sz="1100" b="1" dirty="0">
                        <a:solidFill>
                          <a:srgbClr val="FFFFFF"/>
                        </a:solidFill>
                        <a:latin typeface="Times New Roman" panose="02020603050405020304" charset="0"/>
                        <a:cs typeface="Times New Roman" panose="02020603050405020304" charset="0"/>
                      </a:endParaRPr>
                    </a:p>
                  </a:txBody>
                  <a:tcPr>
                    <a:lnL w="0" cap="flat" cmpd="sng" algn="ctr">
                      <a:noFill/>
                    </a:lnL>
                    <a:lnR w="0" cap="flat" cmpd="sng" algn="ctr">
                      <a:noFill/>
                    </a:lnR>
                    <a:lnT w="0" cap="flat" cmpd="sng" algn="ctr">
                      <a:noFill/>
                    </a:lnT>
                    <a:lnB w="0" cap="flat" cmpd="sng" algn="ctr">
                      <a:noFill/>
                    </a:lnB>
                    <a:solidFill>
                      <a:srgbClr val="0D2137"/>
                    </a:solidFill>
                  </a:tcPr>
                </a:tc>
                <a:tc>
                  <a:txBody>
                    <a:bodyPr/>
                    <a:lstStyle/>
                    <a:p>
                      <a:pPr marL="0" indent="0">
                        <a:buNone/>
                      </a:pPr>
                      <a:r>
                        <a:rPr lang="en-US" sz="1100" b="1" dirty="0">
                          <a:solidFill>
                            <a:srgbClr val="FFFFFF"/>
                          </a:solidFill>
                          <a:latin typeface="Times New Roman" panose="02020603050405020304" charset="0"/>
                          <a:cs typeface="Times New Roman" panose="02020603050405020304" charset="0"/>
                        </a:rPr>
                        <a:t>Limitations</a:t>
                      </a:r>
                      <a:endParaRPr lang="en-US" sz="1100" b="1" dirty="0">
                        <a:solidFill>
                          <a:srgbClr val="FFFFFF"/>
                        </a:solidFill>
                        <a:latin typeface="Times New Roman" panose="02020603050405020304" charset="0"/>
                        <a:cs typeface="Times New Roman" panose="02020603050405020304" charset="0"/>
                      </a:endParaRPr>
                    </a:p>
                  </a:txBody>
                  <a:tcPr>
                    <a:lnL w="0" cap="flat" cmpd="sng" algn="ctr">
                      <a:noFill/>
                    </a:lnL>
                    <a:lnR w="0" cap="flat" cmpd="sng" algn="ctr">
                      <a:noFill/>
                    </a:lnR>
                    <a:lnT w="0" cap="flat" cmpd="sng" algn="ctr">
                      <a:noFill/>
                    </a:lnT>
                    <a:lnB w="0" cap="flat" cmpd="sng" algn="ctr">
                      <a:noFill/>
                    </a:lnB>
                    <a:solidFill>
                      <a:srgbClr val="0D2137"/>
                    </a:solidFill>
                  </a:tcPr>
                </a:tc>
              </a:tr>
              <a:tr h="512064">
                <a:tc>
                  <a:txBody>
                    <a:bodyPr/>
                    <a:lstStyle/>
                    <a:p>
                      <a:pPr marL="0" indent="0">
                        <a:buNone/>
                      </a:pPr>
                      <a:r>
                        <a:rPr lang="en-US" sz="1100" dirty="0">
                          <a:solidFill>
                            <a:srgbClr val="1A2B3C"/>
                          </a:solidFill>
                          <a:latin typeface="Times New Roman" panose="02020603050405020304" charset="0"/>
                          <a:cs typeface="Times New Roman" panose="02020603050405020304" charset="0"/>
                        </a:rPr>
                        <a:t>ARIMA / GARCH</a:t>
                      </a:r>
                      <a:endParaRPr lang="en-US" sz="1100" dirty="0">
                        <a:solidFill>
                          <a:srgbClr val="1A2B3C"/>
                        </a:solidFill>
                        <a:latin typeface="Times New Roman" panose="02020603050405020304" charset="0"/>
                        <a:cs typeface="Times New Roman" panose="02020603050405020304" charset="0"/>
                      </a:endParaRPr>
                    </a:p>
                  </a:txBody>
                  <a:tcPr>
                    <a:lnL w="0" cap="flat" cmpd="sng" algn="ctr">
                      <a:noFill/>
                    </a:lnL>
                    <a:lnR w="0" cap="flat" cmpd="sng" algn="ctr">
                      <a:noFill/>
                    </a:lnR>
                    <a:lnT w="0" cap="flat" cmpd="sng" algn="ctr">
                      <a:noFill/>
                    </a:lnT>
                    <a:lnB w="0" cap="flat" cmpd="sng" algn="ctr">
                      <a:noFill/>
                    </a:lnB>
                    <a:solidFill>
                      <a:srgbClr val="F4F8FC"/>
                    </a:solidFill>
                  </a:tcPr>
                </a:tc>
                <a:tc>
                  <a:txBody>
                    <a:bodyPr/>
                    <a:lstStyle/>
                    <a:p>
                      <a:pPr marL="0" indent="0">
                        <a:buNone/>
                      </a:pPr>
                      <a:r>
                        <a:rPr lang="en-US" sz="1000" dirty="0">
                          <a:solidFill>
                            <a:srgbClr val="1A2B3C"/>
                          </a:solidFill>
                          <a:latin typeface="Times New Roman" panose="02020603050405020304" charset="0"/>
                          <a:cs typeface="Times New Roman" panose="02020603050405020304" charset="0"/>
                        </a:rPr>
                        <a:t>Interpretable, handles stationarity</a:t>
                      </a:r>
                      <a:endParaRPr lang="en-US" sz="1000" dirty="0">
                        <a:solidFill>
                          <a:srgbClr val="1A2B3C"/>
                        </a:solidFill>
                        <a:latin typeface="Times New Roman" panose="02020603050405020304" charset="0"/>
                        <a:cs typeface="Times New Roman" panose="02020603050405020304" charset="0"/>
                      </a:endParaRPr>
                    </a:p>
                  </a:txBody>
                  <a:tcPr>
                    <a:lnL w="0" cap="flat" cmpd="sng" algn="ctr">
                      <a:noFill/>
                    </a:lnL>
                    <a:lnR w="0" cap="flat" cmpd="sng" algn="ctr">
                      <a:noFill/>
                    </a:lnR>
                    <a:lnT w="0" cap="flat" cmpd="sng" algn="ctr">
                      <a:noFill/>
                    </a:lnT>
                    <a:lnB w="0" cap="flat" cmpd="sng" algn="ctr">
                      <a:noFill/>
                    </a:lnB>
                    <a:solidFill>
                      <a:srgbClr val="F4F8FC"/>
                    </a:solidFill>
                  </a:tcPr>
                </a:tc>
                <a:tc>
                  <a:txBody>
                    <a:bodyPr/>
                    <a:lstStyle/>
                    <a:p>
                      <a:pPr marL="0" indent="0">
                        <a:buNone/>
                      </a:pPr>
                      <a:r>
                        <a:rPr lang="en-US" sz="1000" dirty="0">
                          <a:solidFill>
                            <a:srgbClr val="1A2B3C"/>
                          </a:solidFill>
                          <a:latin typeface="Times New Roman" panose="02020603050405020304" charset="0"/>
                          <a:cs typeface="Times New Roman" panose="02020603050405020304" charset="0"/>
                        </a:rPr>
                        <a:t>Only linear trends; can't capture non-linear dependencies</a:t>
                      </a:r>
                      <a:endParaRPr lang="en-US" sz="1000" dirty="0">
                        <a:solidFill>
                          <a:srgbClr val="1A2B3C"/>
                        </a:solidFill>
                        <a:latin typeface="Times New Roman" panose="02020603050405020304" charset="0"/>
                        <a:cs typeface="Times New Roman" panose="02020603050405020304" charset="0"/>
                      </a:endParaRPr>
                    </a:p>
                  </a:txBody>
                  <a:tcPr>
                    <a:lnL w="0" cap="flat" cmpd="sng" algn="ctr">
                      <a:noFill/>
                    </a:lnL>
                    <a:lnR w="0" cap="flat" cmpd="sng" algn="ctr">
                      <a:noFill/>
                    </a:lnR>
                    <a:lnT w="0" cap="flat" cmpd="sng" algn="ctr">
                      <a:noFill/>
                    </a:lnT>
                    <a:lnB w="0" cap="flat" cmpd="sng" algn="ctr">
                      <a:noFill/>
                    </a:lnB>
                    <a:solidFill>
                      <a:srgbClr val="F4F8FC"/>
                    </a:solidFill>
                  </a:tcPr>
                </a:tc>
              </a:tr>
              <a:tr h="512064">
                <a:tc>
                  <a:txBody>
                    <a:bodyPr/>
                    <a:lstStyle/>
                    <a:p>
                      <a:pPr marL="0" indent="0">
                        <a:buNone/>
                      </a:pPr>
                      <a:r>
                        <a:rPr lang="en-US" sz="1100" dirty="0">
                          <a:solidFill>
                            <a:srgbClr val="1A2B3C"/>
                          </a:solidFill>
                          <a:latin typeface="Times New Roman" panose="02020603050405020304" charset="0"/>
                          <a:cs typeface="Times New Roman" panose="02020603050405020304" charset="0"/>
                        </a:rPr>
                        <a:t>Random Forest</a:t>
                      </a:r>
                      <a:endParaRPr lang="en-US" sz="1100" dirty="0">
                        <a:solidFill>
                          <a:srgbClr val="1A2B3C"/>
                        </a:solidFill>
                        <a:latin typeface="Times New Roman" panose="02020603050405020304" charset="0"/>
                        <a:cs typeface="Times New Roman" panose="02020603050405020304"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000" dirty="0">
                          <a:solidFill>
                            <a:srgbClr val="1A2B3C"/>
                          </a:solidFill>
                          <a:latin typeface="Times New Roman" panose="02020603050405020304" charset="0"/>
                          <a:cs typeface="Times New Roman" panose="02020603050405020304" charset="0"/>
                        </a:rPr>
                        <a:t>Handles non-linearity, feature importance</a:t>
                      </a:r>
                      <a:endParaRPr lang="en-US" sz="1000" dirty="0">
                        <a:solidFill>
                          <a:srgbClr val="1A2B3C"/>
                        </a:solidFill>
                        <a:latin typeface="Times New Roman" panose="02020603050405020304" charset="0"/>
                        <a:cs typeface="Times New Roman" panose="02020603050405020304" charset="0"/>
                      </a:endParaRPr>
                    </a:p>
                  </a:txBody>
                  <a:tcP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000" dirty="0">
                          <a:solidFill>
                            <a:srgbClr val="1A2B3C"/>
                          </a:solidFill>
                          <a:latin typeface="Times New Roman" panose="02020603050405020304" charset="0"/>
                          <a:cs typeface="Times New Roman" panose="02020603050405020304" charset="0"/>
                        </a:rPr>
                        <a:t>Ignores temporal order; no sequential memory</a:t>
                      </a:r>
                      <a:endParaRPr lang="en-US" sz="1000" dirty="0">
                        <a:solidFill>
                          <a:srgbClr val="1A2B3C"/>
                        </a:solidFill>
                        <a:latin typeface="Times New Roman" panose="02020603050405020304" charset="0"/>
                        <a:cs typeface="Times New Roman" panose="02020603050405020304" charset="0"/>
                      </a:endParaRPr>
                    </a:p>
                  </a:txBody>
                  <a:tcPr>
                    <a:lnL w="0" cap="flat" cmpd="sng" algn="ctr">
                      <a:noFill/>
                    </a:lnL>
                    <a:lnR w="0" cap="flat" cmpd="sng" algn="ctr">
                      <a:noFill/>
                    </a:lnR>
                    <a:lnT w="0" cap="flat" cmpd="sng" algn="ctr">
                      <a:noFill/>
                    </a:lnT>
                    <a:lnB w="0" cap="flat" cmpd="sng" algn="ctr">
                      <a:noFill/>
                    </a:lnB>
                    <a:solidFill>
                      <a:srgbClr val="FFFFFF"/>
                    </a:solidFill>
                  </a:tcPr>
                </a:tc>
              </a:tr>
              <a:tr h="512064">
                <a:tc>
                  <a:txBody>
                    <a:bodyPr/>
                    <a:lstStyle/>
                    <a:p>
                      <a:pPr marL="0" indent="0">
                        <a:buNone/>
                      </a:pPr>
                      <a:r>
                        <a:rPr lang="en-US" sz="1100" dirty="0">
                          <a:solidFill>
                            <a:srgbClr val="1A2B3C"/>
                          </a:solidFill>
                          <a:latin typeface="Times New Roman" panose="02020603050405020304" charset="0"/>
                          <a:cs typeface="Times New Roman" panose="02020603050405020304" charset="0"/>
                        </a:rPr>
                        <a:t>Vanilla RNN</a:t>
                      </a:r>
                      <a:endParaRPr lang="en-US" sz="1100" dirty="0">
                        <a:solidFill>
                          <a:srgbClr val="1A2B3C"/>
                        </a:solidFill>
                        <a:latin typeface="Times New Roman" panose="02020603050405020304" charset="0"/>
                        <a:cs typeface="Times New Roman" panose="02020603050405020304" charset="0"/>
                      </a:endParaRPr>
                    </a:p>
                  </a:txBody>
                  <a:tcPr>
                    <a:lnL w="0" cap="flat" cmpd="sng" algn="ctr">
                      <a:noFill/>
                    </a:lnL>
                    <a:lnR w="0" cap="flat" cmpd="sng" algn="ctr">
                      <a:noFill/>
                    </a:lnR>
                    <a:lnT w="0" cap="flat" cmpd="sng" algn="ctr">
                      <a:noFill/>
                    </a:lnT>
                    <a:lnB w="0" cap="flat" cmpd="sng" algn="ctr">
                      <a:noFill/>
                    </a:lnB>
                    <a:solidFill>
                      <a:srgbClr val="F4F8FC"/>
                    </a:solidFill>
                  </a:tcPr>
                </a:tc>
                <a:tc>
                  <a:txBody>
                    <a:bodyPr/>
                    <a:lstStyle/>
                    <a:p>
                      <a:pPr marL="0" indent="0">
                        <a:buNone/>
                      </a:pPr>
                      <a:r>
                        <a:rPr lang="en-US" sz="1000" dirty="0">
                          <a:solidFill>
                            <a:srgbClr val="1A2B3C"/>
                          </a:solidFill>
                          <a:latin typeface="Times New Roman" panose="02020603050405020304" charset="0"/>
                          <a:cs typeface="Times New Roman" panose="02020603050405020304" charset="0"/>
                        </a:rPr>
                        <a:t>Sequential memory</a:t>
                      </a:r>
                      <a:endParaRPr lang="en-US" sz="1000" dirty="0">
                        <a:solidFill>
                          <a:srgbClr val="1A2B3C"/>
                        </a:solidFill>
                        <a:latin typeface="Times New Roman" panose="02020603050405020304" charset="0"/>
                        <a:cs typeface="Times New Roman" panose="02020603050405020304" charset="0"/>
                      </a:endParaRPr>
                    </a:p>
                  </a:txBody>
                  <a:tcPr>
                    <a:lnL w="0" cap="flat" cmpd="sng" algn="ctr">
                      <a:noFill/>
                    </a:lnL>
                    <a:lnR w="0" cap="flat" cmpd="sng" algn="ctr">
                      <a:noFill/>
                    </a:lnR>
                    <a:lnT w="0" cap="flat" cmpd="sng" algn="ctr">
                      <a:noFill/>
                    </a:lnT>
                    <a:lnB w="0" cap="flat" cmpd="sng" algn="ctr">
                      <a:noFill/>
                    </a:lnB>
                    <a:solidFill>
                      <a:srgbClr val="F4F8FC"/>
                    </a:solidFill>
                  </a:tcPr>
                </a:tc>
                <a:tc>
                  <a:txBody>
                    <a:bodyPr/>
                    <a:lstStyle/>
                    <a:p>
                      <a:pPr marL="0" indent="0">
                        <a:buNone/>
                      </a:pPr>
                      <a:r>
                        <a:rPr lang="en-US" sz="1000" dirty="0">
                          <a:solidFill>
                            <a:srgbClr val="1A2B3C"/>
                          </a:solidFill>
                          <a:latin typeface="Times New Roman" panose="02020603050405020304" charset="0"/>
                          <a:cs typeface="Times New Roman" panose="02020603050405020304" charset="0"/>
                        </a:rPr>
                        <a:t>Vanishing gradient; fails on long-term dependencies (50+ steps)</a:t>
                      </a:r>
                      <a:endParaRPr lang="en-US" sz="1000" dirty="0">
                        <a:solidFill>
                          <a:srgbClr val="1A2B3C"/>
                        </a:solidFill>
                        <a:latin typeface="Times New Roman" panose="02020603050405020304" charset="0"/>
                        <a:cs typeface="Times New Roman" panose="02020603050405020304" charset="0"/>
                      </a:endParaRPr>
                    </a:p>
                  </a:txBody>
                  <a:tcPr>
                    <a:lnL w="0" cap="flat" cmpd="sng" algn="ctr">
                      <a:noFill/>
                    </a:lnL>
                    <a:lnR w="0" cap="flat" cmpd="sng" algn="ctr">
                      <a:noFill/>
                    </a:lnR>
                    <a:lnT w="0" cap="flat" cmpd="sng" algn="ctr">
                      <a:noFill/>
                    </a:lnT>
                    <a:lnB w="0" cap="flat" cmpd="sng" algn="ctr">
                      <a:noFill/>
                    </a:lnB>
                    <a:solidFill>
                      <a:srgbClr val="F4F8FC"/>
                    </a:solidFill>
                  </a:tcPr>
                </a:tc>
              </a:tr>
              <a:tr h="512064">
                <a:tc>
                  <a:txBody>
                    <a:bodyPr/>
                    <a:lstStyle/>
                    <a:p>
                      <a:pPr marL="0" indent="0">
                        <a:buNone/>
                      </a:pPr>
                      <a:r>
                        <a:rPr lang="en-US" sz="1100" b="1" dirty="0">
                          <a:solidFill>
                            <a:srgbClr val="0A7EA4"/>
                          </a:solidFill>
                          <a:latin typeface="Times New Roman" panose="02020603050405020304" charset="0"/>
                          <a:cs typeface="Times New Roman" panose="02020603050405020304" charset="0"/>
                        </a:rPr>
                        <a:t>LSTM ✓ Chosen</a:t>
                      </a:r>
                      <a:endParaRPr lang="en-US" sz="1100" b="1" dirty="0">
                        <a:solidFill>
                          <a:srgbClr val="0A7EA4"/>
                        </a:solidFill>
                        <a:latin typeface="Times New Roman" panose="02020603050405020304" charset="0"/>
                        <a:cs typeface="Times New Roman" panose="02020603050405020304" charset="0"/>
                      </a:endParaRPr>
                    </a:p>
                  </a:txBody>
                  <a:tcPr>
                    <a:lnL w="0" cap="flat" cmpd="sng" algn="ctr">
                      <a:noFill/>
                    </a:lnL>
                    <a:lnR w="0" cap="flat" cmpd="sng" algn="ctr">
                      <a:noFill/>
                    </a:lnR>
                    <a:lnT w="0" cap="flat" cmpd="sng" algn="ctr">
                      <a:noFill/>
                    </a:lnT>
                    <a:lnB w="0" cap="flat" cmpd="sng" algn="ctr">
                      <a:noFill/>
                    </a:lnB>
                    <a:solidFill>
                      <a:srgbClr val="E8F4FB"/>
                    </a:solidFill>
                  </a:tcPr>
                </a:tc>
                <a:tc>
                  <a:txBody>
                    <a:bodyPr/>
                    <a:lstStyle/>
                    <a:p>
                      <a:pPr marL="0" indent="0">
                        <a:buNone/>
                      </a:pPr>
                      <a:r>
                        <a:rPr lang="en-US" sz="1000" dirty="0">
                          <a:solidFill>
                            <a:srgbClr val="1A2B3C"/>
                          </a:solidFill>
                          <a:latin typeface="Times New Roman" panose="02020603050405020304" charset="0"/>
                          <a:cs typeface="Times New Roman" panose="02020603050405020304" charset="0"/>
                        </a:rPr>
                        <a:t>Long-term dependencies, gating mechanisms, handles 60+ step lookback</a:t>
                      </a:r>
                      <a:endParaRPr lang="en-US" sz="1000" dirty="0">
                        <a:solidFill>
                          <a:srgbClr val="1A2B3C"/>
                        </a:solidFill>
                        <a:latin typeface="Times New Roman" panose="02020603050405020304" charset="0"/>
                        <a:cs typeface="Times New Roman" panose="02020603050405020304" charset="0"/>
                      </a:endParaRPr>
                    </a:p>
                  </a:txBody>
                  <a:tcPr>
                    <a:lnL w="0" cap="flat" cmpd="sng" algn="ctr">
                      <a:noFill/>
                    </a:lnL>
                    <a:lnR w="0" cap="flat" cmpd="sng" algn="ctr">
                      <a:noFill/>
                    </a:lnR>
                    <a:lnT w="0" cap="flat" cmpd="sng" algn="ctr">
                      <a:noFill/>
                    </a:lnT>
                    <a:lnB w="0" cap="flat" cmpd="sng" algn="ctr">
                      <a:noFill/>
                    </a:lnB>
                    <a:solidFill>
                      <a:srgbClr val="E8F4FB"/>
                    </a:solidFill>
                  </a:tcPr>
                </a:tc>
                <a:tc>
                  <a:txBody>
                    <a:bodyPr/>
                    <a:lstStyle/>
                    <a:p>
                      <a:pPr marL="0" indent="0">
                        <a:buNone/>
                      </a:pPr>
                      <a:r>
                        <a:rPr lang="en-US" sz="1000" dirty="0">
                          <a:solidFill>
                            <a:srgbClr val="1A2B3C"/>
                          </a:solidFill>
                          <a:latin typeface="Times New Roman" panose="02020603050405020304" charset="0"/>
                          <a:cs typeface="Times New Roman" panose="02020603050405020304" charset="0"/>
                        </a:rPr>
                        <a:t>Computationally intensive; requires large datasets</a:t>
                      </a:r>
                      <a:endParaRPr lang="en-US" sz="1000" dirty="0">
                        <a:solidFill>
                          <a:srgbClr val="1A2B3C"/>
                        </a:solidFill>
                        <a:latin typeface="Times New Roman" panose="02020603050405020304" charset="0"/>
                        <a:cs typeface="Times New Roman" panose="02020603050405020304" charset="0"/>
                      </a:endParaRPr>
                    </a:p>
                  </a:txBody>
                  <a:tcPr>
                    <a:lnL w="0" cap="flat" cmpd="sng" algn="ctr">
                      <a:noFill/>
                    </a:lnL>
                    <a:lnR w="0" cap="flat" cmpd="sng" algn="ctr">
                      <a:noFill/>
                    </a:lnR>
                    <a:lnT w="0" cap="flat" cmpd="sng" algn="ctr">
                      <a:noFill/>
                    </a:lnT>
                    <a:lnB w="0" cap="flat" cmpd="sng" algn="ctr">
                      <a:noFill/>
                    </a:lnB>
                    <a:solidFill>
                      <a:srgbClr val="E8F4FB"/>
                    </a:solidFill>
                  </a:tcPr>
                </a:tc>
              </a:tr>
            </a:tbl>
          </a:graphicData>
        </a:graphic>
      </p:graphicFrame>
      <p:sp>
        <p:nvSpPr>
          <p:cNvPr id="7" name="Text 4"/>
          <p:cNvSpPr/>
          <p:nvPr/>
        </p:nvSpPr>
        <p:spPr>
          <a:xfrm>
            <a:off x="8046720" y="4800600"/>
            <a:ext cx="914400" cy="228600"/>
          </a:xfrm>
          <a:prstGeom prst="rect">
            <a:avLst/>
          </a:prstGeom>
          <a:noFill/>
        </p:spPr>
        <p:txBody>
          <a:bodyPr wrap="square" rtlCol="0" anchor="ctr"/>
          <a:lstStyle/>
          <a:p>
            <a:pPr marL="0" indent="0" algn="r">
              <a:buNone/>
            </a:pPr>
            <a:r>
              <a:rPr lang="en-US" sz="900" dirty="0">
                <a:solidFill>
                  <a:srgbClr val="5A7490"/>
                </a:solidFill>
                <a:latin typeface="Times New Roman" panose="02020603050405020304" charset="0"/>
                <a:cs typeface="Times New Roman" panose="02020603050405020304" charset="0"/>
              </a:rPr>
              <a:t>14 / 19</a:t>
            </a:r>
            <a:endParaRPr lang="en-US" sz="900" dirty="0">
              <a:solidFill>
                <a:srgbClr val="5A7490"/>
              </a:solidFill>
              <a:latin typeface="Times New Roman" panose="02020603050405020304" charset="0"/>
              <a:cs typeface="Times New Roman" panose="020206030504050203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73152" cy="384048"/>
          </a:xfrm>
          <a:prstGeom prst="rect">
            <a:avLst/>
          </a:prstGeom>
          <a:solidFill>
            <a:srgbClr val="0A7EA4"/>
          </a:solidFill>
          <a:ln w="12700">
            <a:solidFill>
              <a:srgbClr val="0A7EA4"/>
            </a:solidFill>
            <a:prstDash val="solid"/>
          </a:ln>
        </p:spPr>
      </p:sp>
      <p:sp>
        <p:nvSpPr>
          <p:cNvPr id="3" name="Text 1"/>
          <p:cNvSpPr/>
          <p:nvPr/>
        </p:nvSpPr>
        <p:spPr>
          <a:xfrm>
            <a:off x="621792" y="182880"/>
            <a:ext cx="7772400" cy="502920"/>
          </a:xfrm>
          <a:prstGeom prst="rect">
            <a:avLst/>
          </a:prstGeom>
          <a:noFill/>
        </p:spPr>
        <p:txBody>
          <a:bodyPr wrap="square" lIns="0" tIns="0" rIns="0" bIns="0" rtlCol="0" anchor="ctr"/>
          <a:lstStyle/>
          <a:p>
            <a:pPr marL="0" indent="0">
              <a:buNone/>
            </a:pPr>
            <a:r>
              <a:rPr lang="en-US" sz="2200" b="1" dirty="0">
                <a:solidFill>
                  <a:srgbClr val="1A2B3C"/>
                </a:solidFill>
                <a:latin typeface="Times New Roman" panose="02020603050405020304" charset="0"/>
                <a:ea typeface="Calibri" panose="020F0502020204030204" pitchFamily="34" charset="-122"/>
                <a:cs typeface="Times New Roman" panose="02020603050405020304" charset="0"/>
              </a:rPr>
              <a:t>LSTM Network Architecture</a:t>
            </a:r>
            <a:endParaRPr lang="en-US" sz="2200" b="1" dirty="0">
              <a:solidFill>
                <a:srgbClr val="1A2B3C"/>
              </a:solidFill>
              <a:latin typeface="Times New Roman" panose="02020603050405020304" charset="0"/>
              <a:ea typeface="Calibri" panose="020F0502020204030204" pitchFamily="34" charset="-122"/>
              <a:cs typeface="Times New Roman" panose="02020603050405020304" charset="0"/>
            </a:endParaRPr>
          </a:p>
        </p:txBody>
      </p:sp>
      <p:sp>
        <p:nvSpPr>
          <p:cNvPr id="52" name="Text 50"/>
          <p:cNvSpPr/>
          <p:nvPr/>
        </p:nvSpPr>
        <p:spPr>
          <a:xfrm>
            <a:off x="8046720" y="4800600"/>
            <a:ext cx="914400" cy="228600"/>
          </a:xfrm>
          <a:prstGeom prst="rect">
            <a:avLst/>
          </a:prstGeom>
          <a:noFill/>
        </p:spPr>
        <p:txBody>
          <a:bodyPr wrap="square" rtlCol="0" anchor="ctr"/>
          <a:lstStyle/>
          <a:p>
            <a:pPr marL="0" indent="0" algn="r">
              <a:buNone/>
            </a:pPr>
            <a:r>
              <a:rPr lang="en-US" sz="900" dirty="0">
                <a:solidFill>
                  <a:srgbClr val="5A7490"/>
                </a:solidFill>
                <a:latin typeface="Times New Roman" panose="02020603050405020304" charset="0"/>
                <a:cs typeface="Times New Roman" panose="02020603050405020304" charset="0"/>
              </a:rPr>
              <a:t>15 / 19</a:t>
            </a:r>
            <a:endParaRPr lang="en-US" sz="900" dirty="0">
              <a:solidFill>
                <a:srgbClr val="5A7490"/>
              </a:solidFill>
              <a:latin typeface="Times New Roman" panose="02020603050405020304" charset="0"/>
              <a:cs typeface="Times New Roman" panose="02020603050405020304" charset="0"/>
            </a:endParaRPr>
          </a:p>
        </p:txBody>
      </p:sp>
      <p:pic>
        <p:nvPicPr>
          <p:cNvPr id="53" name="Picture 52"/>
          <p:cNvPicPr>
            <a:picLocks noChangeAspect="1"/>
          </p:cNvPicPr>
          <p:nvPr/>
        </p:nvPicPr>
        <p:blipFill>
          <a:blip r:embed="rId1"/>
          <a:stretch>
            <a:fillRect/>
          </a:stretch>
        </p:blipFill>
        <p:spPr>
          <a:xfrm>
            <a:off x="530225" y="1854200"/>
            <a:ext cx="8157210" cy="1322070"/>
          </a:xfrm>
          <a:prstGeom prst="rect">
            <a:avLst/>
          </a:prstGeom>
        </p:spPr>
      </p:pic>
      <p:sp>
        <p:nvSpPr>
          <p:cNvPr id="54" name="Text Box 53"/>
          <p:cNvSpPr txBox="1"/>
          <p:nvPr/>
        </p:nvSpPr>
        <p:spPr>
          <a:xfrm>
            <a:off x="621665" y="3176270"/>
            <a:ext cx="7930515" cy="337185"/>
          </a:xfrm>
          <a:prstGeom prst="rect">
            <a:avLst/>
          </a:prstGeom>
          <a:noFill/>
        </p:spPr>
        <p:txBody>
          <a:bodyPr wrap="square" rtlCol="0">
            <a:spAutoFit/>
          </a:bodyPr>
          <a:p>
            <a:r>
              <a:rPr lang="en-US" altLang="en-GB" sz="1600">
                <a:latin typeface="Times New Roman" panose="02020603050405020304" charset="0"/>
                <a:cs typeface="Times New Roman" panose="02020603050405020304" charset="0"/>
              </a:rPr>
              <a:t>LSTM Neural Network Architecture Block Diagram (2 stacked LSTM layers,Keras/TensorFlow)</a:t>
            </a:r>
            <a:endParaRPr lang="en-US" altLang="en-GB" sz="1600">
              <a:latin typeface="Times New Roman" panose="02020603050405020304" charset="0"/>
              <a:cs typeface="Times New Roman" panose="020206030504050203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73152" cy="384048"/>
          </a:xfrm>
          <a:prstGeom prst="rect">
            <a:avLst/>
          </a:prstGeom>
          <a:solidFill>
            <a:srgbClr val="0A7EA4"/>
          </a:solidFill>
          <a:ln w="12700">
            <a:solidFill>
              <a:srgbClr val="0A7EA4"/>
            </a:solidFill>
            <a:prstDash val="solid"/>
          </a:ln>
        </p:spPr>
      </p:sp>
      <p:sp>
        <p:nvSpPr>
          <p:cNvPr id="3" name="Text 1"/>
          <p:cNvSpPr/>
          <p:nvPr/>
        </p:nvSpPr>
        <p:spPr>
          <a:xfrm>
            <a:off x="621792" y="182880"/>
            <a:ext cx="7772400" cy="502920"/>
          </a:xfrm>
          <a:prstGeom prst="rect">
            <a:avLst/>
          </a:prstGeom>
          <a:noFill/>
        </p:spPr>
        <p:txBody>
          <a:bodyPr wrap="square" lIns="0" tIns="0" rIns="0" bIns="0" rtlCol="0" anchor="ctr"/>
          <a:lstStyle/>
          <a:p>
            <a:pPr marL="0" indent="0">
              <a:buNone/>
            </a:pPr>
            <a:r>
              <a:rPr lang="en-US" sz="2200" b="1" dirty="0">
                <a:solidFill>
                  <a:srgbClr val="1A2B3C"/>
                </a:solidFill>
                <a:latin typeface="Times New Roman" panose="02020603050405020304" charset="0"/>
                <a:ea typeface="Calibri" panose="020F0502020204030204" pitchFamily="34" charset="-122"/>
                <a:cs typeface="Times New Roman" panose="02020603050405020304" charset="0"/>
              </a:rPr>
              <a:t>Results — Model Performance Metrics</a:t>
            </a:r>
            <a:endParaRPr lang="en-US" sz="2200" b="1" dirty="0">
              <a:solidFill>
                <a:srgbClr val="1A2B3C"/>
              </a:solidFill>
              <a:latin typeface="Times New Roman" panose="02020603050405020304" charset="0"/>
              <a:ea typeface="Calibri" panose="020F0502020204030204" pitchFamily="34" charset="-122"/>
              <a:cs typeface="Times New Roman" panose="02020603050405020304" charset="0"/>
            </a:endParaRPr>
          </a:p>
        </p:txBody>
      </p:sp>
      <p:sp>
        <p:nvSpPr>
          <p:cNvPr id="30" name="Text 27"/>
          <p:cNvSpPr/>
          <p:nvPr/>
        </p:nvSpPr>
        <p:spPr>
          <a:xfrm>
            <a:off x="8046720" y="4800600"/>
            <a:ext cx="914400" cy="228600"/>
          </a:xfrm>
          <a:prstGeom prst="rect">
            <a:avLst/>
          </a:prstGeom>
          <a:noFill/>
        </p:spPr>
        <p:txBody>
          <a:bodyPr wrap="square" rtlCol="0" anchor="ctr"/>
          <a:lstStyle/>
          <a:p>
            <a:pPr marL="0" indent="0" algn="r">
              <a:buNone/>
            </a:pPr>
            <a:r>
              <a:rPr lang="en-US" sz="900" dirty="0">
                <a:solidFill>
                  <a:srgbClr val="5A7490"/>
                </a:solidFill>
                <a:latin typeface="Times New Roman" panose="02020603050405020304" charset="0"/>
                <a:cs typeface="Times New Roman" panose="02020603050405020304" charset="0"/>
              </a:rPr>
              <a:t>17 / 19</a:t>
            </a:r>
            <a:endParaRPr lang="en-US" sz="900" dirty="0">
              <a:solidFill>
                <a:srgbClr val="5A7490"/>
              </a:solidFill>
              <a:latin typeface="Times New Roman" panose="02020603050405020304" charset="0"/>
              <a:cs typeface="Times New Roman" panose="02020603050405020304" charset="0"/>
            </a:endParaRPr>
          </a:p>
        </p:txBody>
      </p:sp>
      <p:pic>
        <p:nvPicPr>
          <p:cNvPr id="31" name="Picture 30"/>
          <p:cNvPicPr>
            <a:picLocks noChangeAspect="1"/>
          </p:cNvPicPr>
          <p:nvPr/>
        </p:nvPicPr>
        <p:blipFill>
          <a:blip r:embed="rId1"/>
          <a:stretch>
            <a:fillRect/>
          </a:stretch>
        </p:blipFill>
        <p:spPr>
          <a:xfrm>
            <a:off x="31750" y="743585"/>
            <a:ext cx="4710430" cy="1828165"/>
          </a:xfrm>
          <a:prstGeom prst="rect">
            <a:avLst/>
          </a:prstGeom>
        </p:spPr>
      </p:pic>
      <p:pic>
        <p:nvPicPr>
          <p:cNvPr id="32" name="Picture 31"/>
          <p:cNvPicPr>
            <a:picLocks noChangeAspect="1"/>
          </p:cNvPicPr>
          <p:nvPr/>
        </p:nvPicPr>
        <p:blipFill>
          <a:blip r:embed="rId2"/>
          <a:stretch>
            <a:fillRect/>
          </a:stretch>
        </p:blipFill>
        <p:spPr>
          <a:xfrm>
            <a:off x="3999865" y="1847215"/>
            <a:ext cx="4826000" cy="2429510"/>
          </a:xfrm>
          <a:prstGeom prst="rect">
            <a:avLst/>
          </a:prstGeom>
        </p:spPr>
      </p:pic>
      <p:sp>
        <p:nvSpPr>
          <p:cNvPr id="33" name="Text Box 32"/>
          <p:cNvSpPr txBox="1"/>
          <p:nvPr/>
        </p:nvSpPr>
        <p:spPr>
          <a:xfrm>
            <a:off x="575945" y="2629535"/>
            <a:ext cx="3048000" cy="275590"/>
          </a:xfrm>
          <a:prstGeom prst="rect">
            <a:avLst/>
          </a:prstGeom>
          <a:noFill/>
        </p:spPr>
        <p:txBody>
          <a:bodyPr wrap="square" rtlCol="0">
            <a:spAutoFit/>
          </a:bodyPr>
          <a:p>
            <a:r>
              <a:rPr lang="en-US" altLang="en-GB" sz="1200">
                <a:latin typeface="Times New Roman" panose="02020603050405020304" charset="0"/>
                <a:cs typeface="Times New Roman" panose="02020603050405020304" charset="0"/>
              </a:rPr>
              <a:t>LSTM Model — Training vs Validation Loss</a:t>
            </a:r>
            <a:endParaRPr lang="en-US" altLang="en-GB" sz="1200">
              <a:latin typeface="Times New Roman" panose="02020603050405020304" charset="0"/>
              <a:cs typeface="Times New Roman" panose="02020603050405020304" charset="0"/>
            </a:endParaRPr>
          </a:p>
        </p:txBody>
      </p:sp>
      <p:sp>
        <p:nvSpPr>
          <p:cNvPr id="34" name="Text Box 33"/>
          <p:cNvSpPr txBox="1"/>
          <p:nvPr/>
        </p:nvSpPr>
        <p:spPr>
          <a:xfrm>
            <a:off x="4906645" y="4319270"/>
            <a:ext cx="3487420" cy="275590"/>
          </a:xfrm>
          <a:prstGeom prst="rect">
            <a:avLst/>
          </a:prstGeom>
          <a:noFill/>
        </p:spPr>
        <p:txBody>
          <a:bodyPr wrap="square" rtlCol="0">
            <a:spAutoFit/>
          </a:bodyPr>
          <a:p>
            <a:r>
              <a:rPr lang="en-US" altLang="en-GB" sz="1200">
                <a:latin typeface="Times New Roman" panose="02020603050405020304" charset="0"/>
                <a:cs typeface="Times New Roman" panose="02020603050405020304" charset="0"/>
              </a:rPr>
              <a:t>LSTM Model — Actual vs. Predicted Closing Price </a:t>
            </a:r>
            <a:endParaRPr lang="en-US" altLang="en-GB" sz="1200">
              <a:latin typeface="Times New Roman" panose="02020603050405020304" charset="0"/>
              <a:cs typeface="Times New Roman" panose="02020603050405020304" charset="0"/>
            </a:endParaRPr>
          </a:p>
        </p:txBody>
      </p:sp>
      <p:pic>
        <p:nvPicPr>
          <p:cNvPr id="35" name="Picture 34"/>
          <p:cNvPicPr>
            <a:picLocks noChangeAspect="1"/>
          </p:cNvPicPr>
          <p:nvPr/>
        </p:nvPicPr>
        <p:blipFill>
          <a:blip r:embed="rId3"/>
          <a:stretch>
            <a:fillRect/>
          </a:stretch>
        </p:blipFill>
        <p:spPr>
          <a:xfrm>
            <a:off x="405765" y="2962910"/>
            <a:ext cx="3500120" cy="1509395"/>
          </a:xfrm>
          <a:prstGeom prst="rect">
            <a:avLst/>
          </a:prstGeom>
        </p:spPr>
      </p:pic>
      <p:sp>
        <p:nvSpPr>
          <p:cNvPr id="36" name="Text Box 35"/>
          <p:cNvSpPr txBox="1"/>
          <p:nvPr/>
        </p:nvSpPr>
        <p:spPr>
          <a:xfrm>
            <a:off x="549910" y="4430395"/>
            <a:ext cx="3048000" cy="306705"/>
          </a:xfrm>
          <a:prstGeom prst="rect">
            <a:avLst/>
          </a:prstGeom>
          <a:noFill/>
        </p:spPr>
        <p:txBody>
          <a:bodyPr wrap="square" rtlCol="0">
            <a:spAutoFit/>
          </a:bodyPr>
          <a:p>
            <a:r>
              <a:rPr lang="en-US" altLang="en-GB" sz="1400">
                <a:latin typeface="Times New Roman" panose="02020603050405020304" charset="0"/>
                <a:cs typeface="Times New Roman" panose="02020603050405020304" charset="0"/>
              </a:rPr>
              <a:t>LSTM Model Performance Metrics</a:t>
            </a:r>
            <a:endParaRPr lang="en-US" altLang="en-GB" sz="1400">
              <a:latin typeface="Times New Roman" panose="02020603050405020304" charset="0"/>
              <a:cs typeface="Times New Roman" panose="020206030504050203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8FC"/>
        </a:solidFill>
        <a:effectLst/>
      </p:bgPr>
    </p:bg>
    <p:spTree>
      <p:nvGrpSpPr>
        <p:cNvPr id="1" name=""/>
        <p:cNvGrpSpPr/>
        <p:nvPr/>
      </p:nvGrpSpPr>
      <p:grpSpPr>
        <a:xfrm>
          <a:off x="0" y="0"/>
          <a:ext cx="0" cy="0"/>
          <a:chOff x="0" y="0"/>
          <a:chExt cx="0" cy="0"/>
        </a:xfrm>
      </p:grpSpPr>
      <p:sp>
        <p:nvSpPr>
          <p:cNvPr id="2" name="Shape 0"/>
          <p:cNvSpPr/>
          <p:nvPr/>
        </p:nvSpPr>
        <p:spPr>
          <a:xfrm>
            <a:off x="457200" y="256032"/>
            <a:ext cx="73152" cy="384048"/>
          </a:xfrm>
          <a:prstGeom prst="rect">
            <a:avLst/>
          </a:prstGeom>
          <a:solidFill>
            <a:srgbClr val="0A7EA4"/>
          </a:solidFill>
          <a:ln w="12700">
            <a:solidFill>
              <a:srgbClr val="0A7EA4"/>
            </a:solidFill>
            <a:prstDash val="solid"/>
          </a:ln>
        </p:spPr>
      </p:sp>
      <p:sp>
        <p:nvSpPr>
          <p:cNvPr id="3" name="Text 1"/>
          <p:cNvSpPr/>
          <p:nvPr/>
        </p:nvSpPr>
        <p:spPr>
          <a:xfrm>
            <a:off x="621792" y="182880"/>
            <a:ext cx="7772400" cy="502920"/>
          </a:xfrm>
          <a:prstGeom prst="rect">
            <a:avLst/>
          </a:prstGeom>
          <a:noFill/>
        </p:spPr>
        <p:txBody>
          <a:bodyPr wrap="square" lIns="0" tIns="0" rIns="0" bIns="0" rtlCol="0" anchor="ctr"/>
          <a:lstStyle/>
          <a:p>
            <a:pPr marL="0" indent="0">
              <a:buNone/>
            </a:pPr>
            <a:r>
              <a:rPr lang="en-US" sz="2200" b="1" dirty="0">
                <a:solidFill>
                  <a:srgbClr val="1A2B3C"/>
                </a:solidFill>
                <a:latin typeface="Times New Roman" panose="02020603050405020304" charset="0"/>
                <a:ea typeface="Calibri" panose="020F0502020204030204" pitchFamily="34" charset="-122"/>
                <a:cs typeface="Times New Roman" panose="02020603050405020304" charset="0"/>
              </a:rPr>
              <a:t>Key Insights &amp; Business Implications</a:t>
            </a:r>
            <a:endParaRPr lang="en-US" sz="2200" b="1" dirty="0">
              <a:solidFill>
                <a:srgbClr val="1A2B3C"/>
              </a:solidFill>
              <a:latin typeface="Times New Roman" panose="02020603050405020304" charset="0"/>
              <a:ea typeface="Calibri" panose="020F0502020204030204" pitchFamily="34" charset="-122"/>
              <a:cs typeface="Times New Roman" panose="02020603050405020304" charset="0"/>
            </a:endParaRPr>
          </a:p>
        </p:txBody>
      </p:sp>
      <p:sp>
        <p:nvSpPr>
          <p:cNvPr id="4" name="Shape 2"/>
          <p:cNvSpPr/>
          <p:nvPr/>
        </p:nvSpPr>
        <p:spPr>
          <a:xfrm>
            <a:off x="457200" y="822960"/>
            <a:ext cx="4160520" cy="1737360"/>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5" name="Shape 3"/>
          <p:cNvSpPr/>
          <p:nvPr/>
        </p:nvSpPr>
        <p:spPr>
          <a:xfrm>
            <a:off x="457200" y="822960"/>
            <a:ext cx="109728" cy="1737360"/>
          </a:xfrm>
          <a:prstGeom prst="rect">
            <a:avLst/>
          </a:prstGeom>
          <a:solidFill>
            <a:srgbClr val="0A7EA4"/>
          </a:solidFill>
          <a:ln w="12700">
            <a:solidFill>
              <a:srgbClr val="0A7EA4"/>
            </a:solidFill>
            <a:prstDash val="solid"/>
          </a:ln>
        </p:spPr>
      </p:sp>
      <p:sp>
        <p:nvSpPr>
          <p:cNvPr id="6" name="Text 4"/>
          <p:cNvSpPr/>
          <p:nvPr/>
        </p:nvSpPr>
        <p:spPr>
          <a:xfrm>
            <a:off x="640080" y="914400"/>
            <a:ext cx="3886200" cy="365760"/>
          </a:xfrm>
          <a:prstGeom prst="rect">
            <a:avLst/>
          </a:prstGeom>
          <a:noFill/>
        </p:spPr>
        <p:txBody>
          <a:bodyPr wrap="square" rtlCol="0" anchor="ctr"/>
          <a:lstStyle/>
          <a:p>
            <a:pPr marL="0" indent="0">
              <a:buNone/>
            </a:pPr>
            <a:r>
              <a:rPr lang="en-US" sz="1200" b="1" dirty="0">
                <a:solidFill>
                  <a:srgbClr val="1A2B3C"/>
                </a:solidFill>
                <a:latin typeface="Times New Roman" panose="02020603050405020304" charset="0"/>
                <a:cs typeface="Times New Roman" panose="02020603050405020304" charset="0"/>
              </a:rPr>
              <a:t>Directional Accuracy Matters</a:t>
            </a:r>
            <a:endParaRPr lang="en-US" sz="1200" b="1" dirty="0">
              <a:solidFill>
                <a:srgbClr val="1A2B3C"/>
              </a:solidFill>
              <a:latin typeface="Times New Roman" panose="02020603050405020304" charset="0"/>
              <a:cs typeface="Times New Roman" panose="02020603050405020304" charset="0"/>
            </a:endParaRPr>
          </a:p>
        </p:txBody>
      </p:sp>
      <p:sp>
        <p:nvSpPr>
          <p:cNvPr id="7" name="Text 5"/>
          <p:cNvSpPr/>
          <p:nvPr/>
        </p:nvSpPr>
        <p:spPr>
          <a:xfrm>
            <a:off x="640080" y="1298448"/>
            <a:ext cx="3886200" cy="1170432"/>
          </a:xfrm>
          <a:prstGeom prst="rect">
            <a:avLst/>
          </a:prstGeom>
          <a:noFill/>
        </p:spPr>
        <p:txBody>
          <a:bodyPr wrap="square" rtlCol="0" anchor="ctr"/>
          <a:lstStyle/>
          <a:p>
            <a:pPr marL="0" indent="0">
              <a:buNone/>
            </a:pPr>
            <a:r>
              <a:rPr lang="en-US" sz="1100" dirty="0">
                <a:solidFill>
                  <a:srgbClr val="5A7490"/>
                </a:solidFill>
                <a:latin typeface="Times New Roman" panose="02020603050405020304" charset="0"/>
                <a:cs typeface="Times New Roman" panose="02020603050405020304" charset="0"/>
              </a:rPr>
              <a:t>The LSTM's directional accuracy of 54.26% (and 71.8% during trending phases) is the practically relevant metric for trading. A naive baseline has 0% directional accuracy despite a lower MAPE.</a:t>
            </a:r>
            <a:endParaRPr lang="en-US" sz="1100" dirty="0">
              <a:solidFill>
                <a:srgbClr val="5A7490"/>
              </a:solidFill>
              <a:latin typeface="Times New Roman" panose="02020603050405020304" charset="0"/>
              <a:cs typeface="Times New Roman" panose="02020603050405020304" charset="0"/>
            </a:endParaRPr>
          </a:p>
        </p:txBody>
      </p:sp>
      <p:sp>
        <p:nvSpPr>
          <p:cNvPr id="8" name="Shape 6"/>
          <p:cNvSpPr/>
          <p:nvPr/>
        </p:nvSpPr>
        <p:spPr>
          <a:xfrm>
            <a:off x="4846320" y="822960"/>
            <a:ext cx="4160520" cy="1737360"/>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9" name="Shape 7"/>
          <p:cNvSpPr/>
          <p:nvPr/>
        </p:nvSpPr>
        <p:spPr>
          <a:xfrm>
            <a:off x="4846320" y="822960"/>
            <a:ext cx="109728" cy="1737360"/>
          </a:xfrm>
          <a:prstGeom prst="rect">
            <a:avLst/>
          </a:prstGeom>
          <a:solidFill>
            <a:srgbClr val="7952B3"/>
          </a:solidFill>
          <a:ln w="12700">
            <a:solidFill>
              <a:srgbClr val="7952B3"/>
            </a:solidFill>
            <a:prstDash val="solid"/>
          </a:ln>
        </p:spPr>
      </p:sp>
      <p:sp>
        <p:nvSpPr>
          <p:cNvPr id="10" name="Text 8"/>
          <p:cNvSpPr/>
          <p:nvPr/>
        </p:nvSpPr>
        <p:spPr>
          <a:xfrm>
            <a:off x="5029200" y="914400"/>
            <a:ext cx="3886200" cy="365760"/>
          </a:xfrm>
          <a:prstGeom prst="rect">
            <a:avLst/>
          </a:prstGeom>
          <a:noFill/>
        </p:spPr>
        <p:txBody>
          <a:bodyPr wrap="square" rtlCol="0" anchor="ctr"/>
          <a:lstStyle/>
          <a:p>
            <a:pPr marL="0" indent="0">
              <a:buNone/>
            </a:pPr>
            <a:r>
              <a:rPr lang="en-US" sz="1200" b="1" dirty="0">
                <a:solidFill>
                  <a:srgbClr val="1A2B3C"/>
                </a:solidFill>
                <a:latin typeface="Times New Roman" panose="02020603050405020304" charset="0"/>
                <a:cs typeface="Times New Roman" panose="02020603050405020304" charset="0"/>
              </a:rPr>
              <a:t>Feature Importance (Permutation Analysis)</a:t>
            </a:r>
            <a:endParaRPr lang="en-US" sz="1200" b="1" dirty="0">
              <a:solidFill>
                <a:srgbClr val="1A2B3C"/>
              </a:solidFill>
              <a:latin typeface="Times New Roman" panose="02020603050405020304" charset="0"/>
              <a:cs typeface="Times New Roman" panose="02020603050405020304" charset="0"/>
            </a:endParaRPr>
          </a:p>
        </p:txBody>
      </p:sp>
      <p:sp>
        <p:nvSpPr>
          <p:cNvPr id="11" name="Text 9"/>
          <p:cNvSpPr/>
          <p:nvPr/>
        </p:nvSpPr>
        <p:spPr>
          <a:xfrm>
            <a:off x="5029200" y="1298448"/>
            <a:ext cx="3886200" cy="1170432"/>
          </a:xfrm>
          <a:prstGeom prst="rect">
            <a:avLst/>
          </a:prstGeom>
          <a:noFill/>
        </p:spPr>
        <p:txBody>
          <a:bodyPr wrap="square" rtlCol="0" anchor="ctr"/>
          <a:lstStyle/>
          <a:p>
            <a:pPr marL="0" indent="0">
              <a:buNone/>
            </a:pPr>
            <a:r>
              <a:rPr lang="en-US" sz="1100" dirty="0">
                <a:solidFill>
                  <a:srgbClr val="5A7490"/>
                </a:solidFill>
                <a:latin typeface="Times New Roman" panose="02020603050405020304" charset="0"/>
                <a:cs typeface="Times New Roman" panose="02020603050405020304" charset="0"/>
              </a:rPr>
              <a:t>MA20 and MA50 were top contributors to model accuracy, followed by Close price lag, RSI, and MACD — validating the feature engineering effort and technical analysis theory.</a:t>
            </a:r>
            <a:endParaRPr lang="en-US" sz="1100" dirty="0">
              <a:solidFill>
                <a:srgbClr val="5A7490"/>
              </a:solidFill>
              <a:latin typeface="Times New Roman" panose="02020603050405020304" charset="0"/>
              <a:cs typeface="Times New Roman" panose="02020603050405020304" charset="0"/>
            </a:endParaRPr>
          </a:p>
        </p:txBody>
      </p:sp>
      <p:sp>
        <p:nvSpPr>
          <p:cNvPr id="12" name="Shape 10"/>
          <p:cNvSpPr/>
          <p:nvPr/>
        </p:nvSpPr>
        <p:spPr>
          <a:xfrm>
            <a:off x="457200" y="2788920"/>
            <a:ext cx="4160520" cy="1737360"/>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13" name="Shape 11"/>
          <p:cNvSpPr/>
          <p:nvPr/>
        </p:nvSpPr>
        <p:spPr>
          <a:xfrm>
            <a:off x="457200" y="2788920"/>
            <a:ext cx="109728" cy="1737360"/>
          </a:xfrm>
          <a:prstGeom prst="rect">
            <a:avLst/>
          </a:prstGeom>
          <a:solidFill>
            <a:srgbClr val="1DB954"/>
          </a:solidFill>
          <a:ln w="12700">
            <a:solidFill>
              <a:srgbClr val="1DB954"/>
            </a:solidFill>
            <a:prstDash val="solid"/>
          </a:ln>
        </p:spPr>
      </p:sp>
      <p:sp>
        <p:nvSpPr>
          <p:cNvPr id="14" name="Text 12"/>
          <p:cNvSpPr/>
          <p:nvPr/>
        </p:nvSpPr>
        <p:spPr>
          <a:xfrm>
            <a:off x="640080" y="2880360"/>
            <a:ext cx="3886200" cy="365760"/>
          </a:xfrm>
          <a:prstGeom prst="rect">
            <a:avLst/>
          </a:prstGeom>
          <a:noFill/>
        </p:spPr>
        <p:txBody>
          <a:bodyPr wrap="square" rtlCol="0" anchor="ctr"/>
          <a:lstStyle/>
          <a:p>
            <a:pPr marL="0" indent="0">
              <a:buNone/>
            </a:pPr>
            <a:r>
              <a:rPr lang="en-US" sz="1200" b="1" dirty="0">
                <a:solidFill>
                  <a:srgbClr val="1A2B3C"/>
                </a:solidFill>
                <a:latin typeface="Times New Roman" panose="02020603050405020304" charset="0"/>
                <a:cs typeface="Times New Roman" panose="02020603050405020304" charset="0"/>
              </a:rPr>
              <a:t>RSI Buy Signals — High Alpha</a:t>
            </a:r>
            <a:endParaRPr lang="en-US" sz="1200" b="1" dirty="0">
              <a:solidFill>
                <a:srgbClr val="1A2B3C"/>
              </a:solidFill>
              <a:latin typeface="Times New Roman" panose="02020603050405020304" charset="0"/>
              <a:cs typeface="Times New Roman" panose="02020603050405020304" charset="0"/>
            </a:endParaRPr>
          </a:p>
        </p:txBody>
      </p:sp>
      <p:sp>
        <p:nvSpPr>
          <p:cNvPr id="15" name="Text 13"/>
          <p:cNvSpPr/>
          <p:nvPr/>
        </p:nvSpPr>
        <p:spPr>
          <a:xfrm>
            <a:off x="640080" y="3264408"/>
            <a:ext cx="3886200" cy="1170432"/>
          </a:xfrm>
          <a:prstGeom prst="rect">
            <a:avLst/>
          </a:prstGeom>
          <a:noFill/>
        </p:spPr>
        <p:txBody>
          <a:bodyPr wrap="square" rtlCol="0" anchor="ctr"/>
          <a:lstStyle/>
          <a:p>
            <a:pPr marL="0" indent="0">
              <a:buNone/>
            </a:pPr>
            <a:r>
              <a:rPr lang="en-US" sz="1100" dirty="0">
                <a:solidFill>
                  <a:srgbClr val="5A7490"/>
                </a:solidFill>
                <a:latin typeface="Times New Roman" panose="02020603050405020304" charset="0"/>
                <a:cs typeface="Times New Roman" panose="02020603050405020304" charset="0"/>
              </a:rPr>
              <a:t>RSI &lt; 30 oversold signals generated an average forward 30-day return of +8.4% across 8 instances — significantly above the market's +2.1% average 30-day return.</a:t>
            </a:r>
            <a:endParaRPr lang="en-US" sz="1100" dirty="0">
              <a:solidFill>
                <a:srgbClr val="5A7490"/>
              </a:solidFill>
              <a:latin typeface="Times New Roman" panose="02020603050405020304" charset="0"/>
              <a:cs typeface="Times New Roman" panose="02020603050405020304" charset="0"/>
            </a:endParaRPr>
          </a:p>
        </p:txBody>
      </p:sp>
      <p:sp>
        <p:nvSpPr>
          <p:cNvPr id="16" name="Shape 14"/>
          <p:cNvSpPr/>
          <p:nvPr/>
        </p:nvSpPr>
        <p:spPr>
          <a:xfrm>
            <a:off x="4846320" y="2788920"/>
            <a:ext cx="4160520" cy="1737360"/>
          </a:xfrm>
          <a:prstGeom prst="rect">
            <a:avLst/>
          </a:prstGeom>
          <a:solidFill>
            <a:srgbClr val="FFFFFF"/>
          </a:solidFill>
          <a:ln w="12700">
            <a:solidFill>
              <a:srgbClr val="E0EAF2"/>
            </a:solidFill>
            <a:prstDash val="solid"/>
          </a:ln>
          <a:effectLst>
            <a:outerShdw blurRad="101600" dist="38100" dir="8100000" algn="bl" rotWithShape="0">
              <a:srgbClr val="000000">
                <a:alpha val="10000"/>
              </a:srgbClr>
            </a:outerShdw>
          </a:effectLst>
        </p:spPr>
      </p:sp>
      <p:sp>
        <p:nvSpPr>
          <p:cNvPr id="17" name="Shape 15"/>
          <p:cNvSpPr/>
          <p:nvPr/>
        </p:nvSpPr>
        <p:spPr>
          <a:xfrm>
            <a:off x="4846320" y="2788920"/>
            <a:ext cx="109728" cy="1737360"/>
          </a:xfrm>
          <a:prstGeom prst="rect">
            <a:avLst/>
          </a:prstGeom>
          <a:solidFill>
            <a:srgbClr val="F5A623"/>
          </a:solidFill>
          <a:ln w="12700">
            <a:solidFill>
              <a:srgbClr val="F5A623"/>
            </a:solidFill>
            <a:prstDash val="solid"/>
          </a:ln>
        </p:spPr>
      </p:sp>
      <p:sp>
        <p:nvSpPr>
          <p:cNvPr id="18" name="Text 16"/>
          <p:cNvSpPr/>
          <p:nvPr/>
        </p:nvSpPr>
        <p:spPr>
          <a:xfrm>
            <a:off x="5029200" y="2880360"/>
            <a:ext cx="3886200" cy="365760"/>
          </a:xfrm>
          <a:prstGeom prst="rect">
            <a:avLst/>
          </a:prstGeom>
          <a:noFill/>
        </p:spPr>
        <p:txBody>
          <a:bodyPr wrap="square" rtlCol="0" anchor="ctr"/>
          <a:lstStyle/>
          <a:p>
            <a:pPr marL="0" indent="0">
              <a:buNone/>
            </a:pPr>
            <a:r>
              <a:rPr lang="en-US" sz="1200" b="1" dirty="0">
                <a:solidFill>
                  <a:srgbClr val="1A2B3C"/>
                </a:solidFill>
                <a:latin typeface="Times New Roman" panose="02020603050405020304" charset="0"/>
                <a:cs typeface="Times New Roman" panose="02020603050405020304" charset="0"/>
              </a:rPr>
              <a:t>Sector Allocation Outperformance</a:t>
            </a:r>
            <a:endParaRPr lang="en-US" sz="1200" b="1" dirty="0">
              <a:solidFill>
                <a:srgbClr val="1A2B3C"/>
              </a:solidFill>
              <a:latin typeface="Times New Roman" panose="02020603050405020304" charset="0"/>
              <a:cs typeface="Times New Roman" panose="02020603050405020304" charset="0"/>
            </a:endParaRPr>
          </a:p>
        </p:txBody>
      </p:sp>
      <p:sp>
        <p:nvSpPr>
          <p:cNvPr id="19" name="Text 17"/>
          <p:cNvSpPr/>
          <p:nvPr/>
        </p:nvSpPr>
        <p:spPr>
          <a:xfrm>
            <a:off x="5029200" y="3264408"/>
            <a:ext cx="3886200" cy="1170432"/>
          </a:xfrm>
          <a:prstGeom prst="rect">
            <a:avLst/>
          </a:prstGeom>
          <a:noFill/>
        </p:spPr>
        <p:txBody>
          <a:bodyPr wrap="square" rtlCol="0" anchor="ctr"/>
          <a:lstStyle/>
          <a:p>
            <a:pPr marL="0" indent="0">
              <a:buNone/>
            </a:pPr>
            <a:r>
              <a:rPr lang="en-US" sz="1100" dirty="0">
                <a:solidFill>
                  <a:srgbClr val="5A7490"/>
                </a:solidFill>
                <a:latin typeface="Times New Roman" panose="02020603050405020304" charset="0"/>
                <a:cs typeface="Times New Roman" panose="02020603050405020304" charset="0"/>
              </a:rPr>
              <a:t>A portfolio weighted toward Realty, Energy, and Metals in FY 2023-24 would have yielded returns 19.7 percentage points above the broader market average of 21.5%.</a:t>
            </a:r>
            <a:endParaRPr lang="en-US" sz="1100" dirty="0">
              <a:solidFill>
                <a:srgbClr val="5A7490"/>
              </a:solidFill>
              <a:latin typeface="Times New Roman" panose="02020603050405020304" charset="0"/>
              <a:cs typeface="Times New Roman" panose="02020603050405020304" charset="0"/>
            </a:endParaRPr>
          </a:p>
        </p:txBody>
      </p:sp>
      <p:sp>
        <p:nvSpPr>
          <p:cNvPr id="20" name="Text 18"/>
          <p:cNvSpPr/>
          <p:nvPr/>
        </p:nvSpPr>
        <p:spPr>
          <a:xfrm>
            <a:off x="8046720" y="4800600"/>
            <a:ext cx="914400" cy="228600"/>
          </a:xfrm>
          <a:prstGeom prst="rect">
            <a:avLst/>
          </a:prstGeom>
          <a:noFill/>
        </p:spPr>
        <p:txBody>
          <a:bodyPr wrap="square" rtlCol="0" anchor="ctr"/>
          <a:lstStyle/>
          <a:p>
            <a:pPr marL="0" indent="0" algn="r">
              <a:buNone/>
            </a:pPr>
            <a:r>
              <a:rPr lang="en-US" sz="900" dirty="0">
                <a:solidFill>
                  <a:srgbClr val="5A7490"/>
                </a:solidFill>
                <a:latin typeface="Times New Roman" panose="02020603050405020304" charset="0"/>
                <a:cs typeface="Times New Roman" panose="02020603050405020304" charset="0"/>
              </a:rPr>
              <a:t>18 / 19</a:t>
            </a:r>
            <a:endParaRPr lang="en-US" sz="900" dirty="0">
              <a:solidFill>
                <a:srgbClr val="5A7490"/>
              </a:solidFill>
              <a:latin typeface="Times New Roman" panose="02020603050405020304" charset="0"/>
              <a:cs typeface="Times New Roman" panose="0202060305040502030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A7EA4"/>
          </a:solidFill>
          <a:ln w="12700">
            <a:solidFill>
              <a:srgbClr val="0A7EA4"/>
            </a:solidFill>
            <a:prstDash val="solid"/>
          </a:ln>
        </p:spPr>
      </p:sp>
      <p:sp>
        <p:nvSpPr>
          <p:cNvPr id="3" name="Text 1"/>
          <p:cNvSpPr/>
          <p:nvPr/>
        </p:nvSpPr>
        <p:spPr>
          <a:xfrm>
            <a:off x="457200" y="182880"/>
            <a:ext cx="8229600" cy="457200"/>
          </a:xfrm>
          <a:prstGeom prst="rect">
            <a:avLst/>
          </a:prstGeom>
          <a:noFill/>
        </p:spPr>
        <p:txBody>
          <a:bodyPr wrap="square" rtlCol="0" anchor="ctr"/>
          <a:lstStyle/>
          <a:p>
            <a:pPr marL="0" indent="0">
              <a:buNone/>
            </a:pPr>
            <a:r>
              <a:rPr lang="en-US" sz="2200" b="1" dirty="0">
                <a:solidFill>
                  <a:schemeClr val="bg1"/>
                </a:solidFill>
                <a:effectLst>
                  <a:outerShdw blurRad="38100" dist="19050" dir="2700000" algn="tl" rotWithShape="0">
                    <a:schemeClr val="dk1">
                      <a:alpha val="40000"/>
                    </a:schemeClr>
                  </a:outerShdw>
                </a:effectLst>
                <a:latin typeface="Times New Roman" panose="02020603050405020304" charset="0"/>
                <a:ea typeface="Calibri" panose="020F0502020204030204" pitchFamily="34" charset="-122"/>
                <a:cs typeface="Times New Roman" panose="02020603050405020304" charset="0"/>
              </a:rPr>
              <a:t>Conclusion</a:t>
            </a:r>
            <a:endParaRPr lang="en-US" sz="2200" b="1" dirty="0">
              <a:solidFill>
                <a:schemeClr val="bg1"/>
              </a:solidFill>
              <a:effectLst>
                <a:outerShdw blurRad="38100" dist="19050" dir="2700000" algn="tl" rotWithShape="0">
                  <a:schemeClr val="dk1">
                    <a:alpha val="40000"/>
                  </a:schemeClr>
                </a:outerShdw>
              </a:effectLst>
              <a:latin typeface="Times New Roman" panose="02020603050405020304" charset="0"/>
              <a:ea typeface="Calibri" panose="020F0502020204030204" pitchFamily="34" charset="-122"/>
              <a:cs typeface="Times New Roman" panose="02020603050405020304" charset="0"/>
            </a:endParaRPr>
          </a:p>
        </p:txBody>
      </p:sp>
      <p:sp>
        <p:nvSpPr>
          <p:cNvPr id="4" name="Shape 2"/>
          <p:cNvSpPr/>
          <p:nvPr/>
        </p:nvSpPr>
        <p:spPr>
          <a:xfrm>
            <a:off x="457200" y="749808"/>
            <a:ext cx="4114800" cy="1828800"/>
          </a:xfrm>
          <a:prstGeom prst="rect">
            <a:avLst/>
          </a:prstGeom>
          <a:solidFill>
            <a:srgbClr val="081827"/>
          </a:solidFill>
          <a:ln w="6350">
            <a:solidFill>
              <a:schemeClr val="bg1"/>
            </a:solidFill>
            <a:prstDash val="solid"/>
          </a:ln>
        </p:spPr>
      </p:sp>
      <p:sp>
        <p:nvSpPr>
          <p:cNvPr id="5" name="Text 3"/>
          <p:cNvSpPr/>
          <p:nvPr/>
        </p:nvSpPr>
        <p:spPr>
          <a:xfrm>
            <a:off x="566928" y="804672"/>
            <a:ext cx="3913632" cy="1719072"/>
          </a:xfrm>
          <a:prstGeom prst="rect">
            <a:avLst/>
          </a:prstGeom>
          <a:noFill/>
        </p:spPr>
        <p:txBody>
          <a:bodyPr wrap="square" rtlCol="0" anchor="ctr"/>
          <a:lstStyle/>
          <a:p>
            <a:pPr marL="342900" indent="-342900">
              <a:buSzPct val="100000"/>
              <a:buChar char="•"/>
            </a:pPr>
            <a:r>
              <a:rPr lang="en-US" sz="1100" dirty="0">
                <a:solidFill>
                  <a:schemeClr val="bg1"/>
                </a:solidFill>
                <a:latin typeface="Times New Roman" panose="02020603050405020304" charset="0"/>
                <a:cs typeface="Times New Roman" panose="02020603050405020304" charset="0"/>
              </a:rPr>
              <a:t>Complete end-to-end pipeline: data collection → preprocessing → feature engineering → EDA → LSTM model</a:t>
            </a:r>
            <a:endParaRPr lang="en-US" sz="1100" dirty="0">
              <a:solidFill>
                <a:schemeClr val="bg1"/>
              </a:solidFill>
              <a:latin typeface="Times New Roman" panose="02020603050405020304" charset="0"/>
              <a:cs typeface="Times New Roman" panose="02020603050405020304" charset="0"/>
            </a:endParaRPr>
          </a:p>
          <a:p>
            <a:pPr marL="342900" indent="-342900">
              <a:buSzPct val="100000"/>
              <a:buChar char="•"/>
            </a:pPr>
            <a:r>
              <a:rPr lang="en-US" sz="1100" dirty="0">
                <a:solidFill>
                  <a:schemeClr val="bg1"/>
                </a:solidFill>
                <a:latin typeface="Times New Roman" panose="02020603050405020304" charset="0"/>
                <a:cs typeface="Times New Roman" panose="02020603050405020304" charset="0"/>
              </a:rPr>
              <a:t>LSTM achieved MAPE 1.39%, R² = 0.9307, directional accuracy 54.26% on the 230-day test set</a:t>
            </a:r>
            <a:endParaRPr lang="en-US" sz="1100" dirty="0">
              <a:solidFill>
                <a:schemeClr val="bg1"/>
              </a:solidFill>
              <a:latin typeface="Times New Roman" panose="02020603050405020304" charset="0"/>
              <a:cs typeface="Times New Roman" panose="02020603050405020304" charset="0"/>
            </a:endParaRPr>
          </a:p>
          <a:p>
            <a:pPr marL="342900" indent="-342900">
              <a:buSzPct val="100000"/>
              <a:buChar char="•"/>
            </a:pPr>
            <a:r>
              <a:rPr lang="en-US" sz="1100" dirty="0">
                <a:solidFill>
                  <a:schemeClr val="bg1"/>
                </a:solidFill>
                <a:latin typeface="Times New Roman" panose="02020603050405020304" charset="0"/>
                <a:cs typeface="Times New Roman" panose="02020603050405020304" charset="0"/>
              </a:rPr>
              <a:t>All 6 project objectives fully achieved — demonstrates full-stack data science capability in FinTech</a:t>
            </a:r>
            <a:endParaRPr lang="en-US" sz="1100" dirty="0">
              <a:solidFill>
                <a:schemeClr val="bg1"/>
              </a:solidFill>
              <a:latin typeface="Times New Roman" panose="02020603050405020304" charset="0"/>
              <a:cs typeface="Times New Roman" panose="02020603050405020304" charset="0"/>
            </a:endParaRPr>
          </a:p>
          <a:p>
            <a:pPr marL="342900" indent="-342900">
              <a:buSzPct val="100000"/>
              <a:buChar char="•"/>
            </a:pPr>
            <a:r>
              <a:rPr lang="en-US" sz="1100" dirty="0">
                <a:solidFill>
                  <a:schemeClr val="bg1"/>
                </a:solidFill>
                <a:latin typeface="Times New Roman" panose="02020603050405020304" charset="0"/>
                <a:cs typeface="Times New Roman" panose="02020603050405020304" charset="0"/>
              </a:rPr>
              <a:t>Portfolio optimization analysis yielded 19.7 pp alpha over market benchmark using sector rotation</a:t>
            </a:r>
            <a:endParaRPr lang="en-US" sz="1100" dirty="0">
              <a:solidFill>
                <a:schemeClr val="bg1"/>
              </a:solidFill>
              <a:latin typeface="Times New Roman" panose="02020603050405020304" charset="0"/>
              <a:cs typeface="Times New Roman" panose="02020603050405020304" charset="0"/>
            </a:endParaRPr>
          </a:p>
        </p:txBody>
      </p:sp>
      <p:sp>
        <p:nvSpPr>
          <p:cNvPr id="6" name="Text 4"/>
          <p:cNvSpPr/>
          <p:nvPr/>
        </p:nvSpPr>
        <p:spPr>
          <a:xfrm>
            <a:off x="4709160" y="182880"/>
            <a:ext cx="4114800" cy="457200"/>
          </a:xfrm>
          <a:prstGeom prst="rect">
            <a:avLst/>
          </a:prstGeom>
          <a:noFill/>
        </p:spPr>
        <p:txBody>
          <a:bodyPr wrap="square" rtlCol="0" anchor="ctr"/>
          <a:lstStyle/>
          <a:p>
            <a:pPr marL="0" indent="0">
              <a:buNone/>
            </a:pPr>
            <a:r>
              <a:rPr lang="en-US" sz="2200" b="1" dirty="0">
                <a:solidFill>
                  <a:schemeClr val="bg1"/>
                </a:solidFill>
                <a:latin typeface="Times New Roman" panose="02020603050405020304" charset="0"/>
                <a:ea typeface="Calibri" panose="020F0502020204030204" pitchFamily="34" charset="-122"/>
                <a:cs typeface="Times New Roman" panose="02020603050405020304" charset="0"/>
              </a:rPr>
              <a:t>Future Scope</a:t>
            </a:r>
            <a:endParaRPr lang="en-US" sz="2200" b="1" dirty="0">
              <a:solidFill>
                <a:schemeClr val="bg1"/>
              </a:solidFill>
              <a:latin typeface="Times New Roman" panose="02020603050405020304" charset="0"/>
              <a:ea typeface="Calibri" panose="020F0502020204030204" pitchFamily="34" charset="-122"/>
              <a:cs typeface="Times New Roman" panose="02020603050405020304" charset="0"/>
            </a:endParaRPr>
          </a:p>
        </p:txBody>
      </p:sp>
      <p:sp>
        <p:nvSpPr>
          <p:cNvPr id="7" name="Shape 5"/>
          <p:cNvSpPr/>
          <p:nvPr/>
        </p:nvSpPr>
        <p:spPr>
          <a:xfrm>
            <a:off x="4709160" y="749808"/>
            <a:ext cx="4114800" cy="1828800"/>
          </a:xfrm>
          <a:prstGeom prst="rect">
            <a:avLst/>
          </a:prstGeom>
          <a:solidFill>
            <a:srgbClr val="081827"/>
          </a:solidFill>
          <a:ln w="6350">
            <a:solidFill>
              <a:schemeClr val="bg1"/>
            </a:solidFill>
            <a:prstDash val="solid"/>
          </a:ln>
        </p:spPr>
      </p:sp>
      <p:sp>
        <p:nvSpPr>
          <p:cNvPr id="8" name="Text 6"/>
          <p:cNvSpPr/>
          <p:nvPr/>
        </p:nvSpPr>
        <p:spPr>
          <a:xfrm>
            <a:off x="4818888" y="804672"/>
            <a:ext cx="3913632" cy="1719072"/>
          </a:xfrm>
          <a:prstGeom prst="rect">
            <a:avLst/>
          </a:prstGeom>
          <a:noFill/>
        </p:spPr>
        <p:txBody>
          <a:bodyPr wrap="square" rtlCol="0" anchor="ctr"/>
          <a:lstStyle/>
          <a:p>
            <a:pPr marL="342900" indent="-342900">
              <a:buSzPct val="100000"/>
              <a:buChar char="•"/>
            </a:pPr>
            <a:r>
              <a:rPr lang="en-US" sz="1100" dirty="0">
                <a:solidFill>
                  <a:schemeClr val="bg1"/>
                </a:solidFill>
                <a:latin typeface="Times New Roman" panose="02020603050405020304" charset="0"/>
                <a:cs typeface="Times New Roman" panose="02020603050405020304" charset="0"/>
              </a:rPr>
              <a:t>Sentiment Analysis — BERT/FinBERT on financial news as LSTM features</a:t>
            </a:r>
            <a:endParaRPr lang="en-US" sz="1100" dirty="0">
              <a:solidFill>
                <a:schemeClr val="bg1"/>
              </a:solidFill>
              <a:latin typeface="Times New Roman" panose="02020603050405020304" charset="0"/>
              <a:cs typeface="Times New Roman" panose="02020603050405020304" charset="0"/>
            </a:endParaRPr>
          </a:p>
          <a:p>
            <a:pPr marL="342900" indent="-342900">
              <a:buSzPct val="100000"/>
              <a:buChar char="•"/>
            </a:pPr>
            <a:r>
              <a:rPr lang="en-US" sz="1100" dirty="0">
                <a:solidFill>
                  <a:schemeClr val="bg1"/>
                </a:solidFill>
                <a:latin typeface="Times New Roman" panose="02020603050405020304" charset="0"/>
                <a:cs typeface="Times New Roman" panose="02020603050405020304" charset="0"/>
              </a:rPr>
              <a:t>Transformer Models — Temporal Fusion Transformers for multi-step ahead forecasting</a:t>
            </a:r>
            <a:endParaRPr lang="en-US" sz="1100" dirty="0">
              <a:solidFill>
                <a:schemeClr val="bg1"/>
              </a:solidFill>
              <a:latin typeface="Times New Roman" panose="02020603050405020304" charset="0"/>
              <a:cs typeface="Times New Roman" panose="02020603050405020304" charset="0"/>
            </a:endParaRPr>
          </a:p>
          <a:p>
            <a:pPr marL="342900" indent="-342900">
              <a:buSzPct val="100000"/>
              <a:buChar char="•"/>
            </a:pPr>
            <a:r>
              <a:rPr lang="en-US" sz="1100" dirty="0">
                <a:solidFill>
                  <a:schemeClr val="bg1"/>
                </a:solidFill>
                <a:latin typeface="Times New Roman" panose="02020603050405020304" charset="0"/>
                <a:cs typeface="Times New Roman" panose="02020603050405020304" charset="0"/>
              </a:rPr>
              <a:t>Real-Time Trading — FastAPI + Zerodha Kite Connect for live NSE signals</a:t>
            </a:r>
            <a:endParaRPr lang="en-US" sz="1100" dirty="0">
              <a:solidFill>
                <a:schemeClr val="bg1"/>
              </a:solidFill>
              <a:latin typeface="Times New Roman" panose="02020603050405020304" charset="0"/>
              <a:cs typeface="Times New Roman" panose="02020603050405020304" charset="0"/>
            </a:endParaRPr>
          </a:p>
          <a:p>
            <a:pPr marL="342900" indent="-342900">
              <a:buSzPct val="100000"/>
              <a:buChar char="•"/>
            </a:pPr>
            <a:r>
              <a:rPr lang="en-US" sz="1100" dirty="0">
                <a:solidFill>
                  <a:schemeClr val="bg1"/>
                </a:solidFill>
                <a:latin typeface="Times New Roman" panose="02020603050405020304" charset="0"/>
                <a:cs typeface="Times New Roman" panose="02020603050405020304" charset="0"/>
              </a:rPr>
              <a:t>Options Analytics — India VIX, PCR, implied volatility surfaces</a:t>
            </a:r>
            <a:endParaRPr lang="en-US" sz="1100" dirty="0">
              <a:solidFill>
                <a:schemeClr val="bg1"/>
              </a:solidFill>
              <a:latin typeface="Times New Roman" panose="02020603050405020304" charset="0"/>
              <a:cs typeface="Times New Roman" panose="02020603050405020304" charset="0"/>
            </a:endParaRPr>
          </a:p>
          <a:p>
            <a:pPr marL="342900" indent="-342900">
              <a:buSzPct val="100000"/>
              <a:buChar char="•"/>
            </a:pPr>
            <a:r>
              <a:rPr lang="en-US" sz="1100" dirty="0">
                <a:solidFill>
                  <a:schemeClr val="bg1"/>
                </a:solidFill>
                <a:latin typeface="Times New Roman" panose="02020603050405020304" charset="0"/>
                <a:cs typeface="Times New Roman" panose="02020603050405020304" charset="0"/>
              </a:rPr>
              <a:t>Reinforcement Learning — DQN/PPO autonomous trading agent</a:t>
            </a:r>
            <a:endParaRPr lang="en-US" sz="1100" dirty="0">
              <a:solidFill>
                <a:schemeClr val="bg1"/>
              </a:solidFill>
              <a:latin typeface="Times New Roman" panose="02020603050405020304" charset="0"/>
              <a:cs typeface="Times New Roman" panose="02020603050405020304" charset="0"/>
            </a:endParaRPr>
          </a:p>
        </p:txBody>
      </p:sp>
      <p:sp>
        <p:nvSpPr>
          <p:cNvPr id="9" name="Text 7"/>
          <p:cNvSpPr/>
          <p:nvPr/>
        </p:nvSpPr>
        <p:spPr>
          <a:xfrm>
            <a:off x="502920" y="2945130"/>
            <a:ext cx="8229600" cy="320040"/>
          </a:xfrm>
          <a:prstGeom prst="rect">
            <a:avLst/>
          </a:prstGeom>
          <a:noFill/>
        </p:spPr>
        <p:txBody>
          <a:bodyPr wrap="square" rtlCol="0" anchor="ctr"/>
          <a:lstStyle/>
          <a:p>
            <a:pPr marL="0" indent="0">
              <a:buNone/>
            </a:pPr>
            <a:r>
              <a:rPr lang="en-US" sz="1400" b="1" dirty="0">
                <a:solidFill>
                  <a:schemeClr val="bg1"/>
                </a:solidFill>
                <a:latin typeface="Times New Roman" panose="02020603050405020304" charset="0"/>
                <a:cs typeface="Times New Roman" panose="02020603050405020304" charset="0"/>
              </a:rPr>
              <a:t>References</a:t>
            </a:r>
            <a:endParaRPr lang="en-US" sz="1400" b="1" dirty="0">
              <a:solidFill>
                <a:schemeClr val="bg1"/>
              </a:solidFill>
              <a:latin typeface="Times New Roman" panose="02020603050405020304" charset="0"/>
              <a:cs typeface="Times New Roman" panose="02020603050405020304" charset="0"/>
            </a:endParaRPr>
          </a:p>
        </p:txBody>
      </p:sp>
      <p:sp>
        <p:nvSpPr>
          <p:cNvPr id="10" name="Text 8"/>
          <p:cNvSpPr/>
          <p:nvPr/>
        </p:nvSpPr>
        <p:spPr>
          <a:xfrm>
            <a:off x="457200" y="3108960"/>
            <a:ext cx="8229600" cy="1097280"/>
          </a:xfrm>
          <a:prstGeom prst="rect">
            <a:avLst/>
          </a:prstGeom>
          <a:noFill/>
        </p:spPr>
        <p:txBody>
          <a:bodyPr wrap="square" rtlCol="0" anchor="ctr"/>
          <a:lstStyle/>
          <a:p>
            <a:pPr marL="0" indent="0">
              <a:buNone/>
            </a:pPr>
            <a:r>
              <a:rPr lang="en-US" sz="1000" dirty="0">
                <a:solidFill>
                  <a:schemeClr val="bg1"/>
                </a:solidFill>
                <a:latin typeface="Times New Roman" panose="02020603050405020304" charset="0"/>
                <a:cs typeface="Times New Roman" panose="02020603050405020304" charset="0"/>
              </a:rPr>
              <a:t>[1] Hochreiter &amp; Schmidhuber, Neural Computation, 1997 — LSTM</a:t>
            </a:r>
            <a:endParaRPr lang="en-US" sz="1000" dirty="0">
              <a:solidFill>
                <a:schemeClr val="bg1"/>
              </a:solidFill>
              <a:latin typeface="Times New Roman" panose="02020603050405020304" charset="0"/>
              <a:cs typeface="Times New Roman" panose="02020603050405020304" charset="0"/>
            </a:endParaRPr>
          </a:p>
          <a:p>
            <a:pPr marL="0" indent="0">
              <a:buNone/>
            </a:pPr>
            <a:r>
              <a:rPr lang="en-US" sz="1000" dirty="0">
                <a:solidFill>
                  <a:schemeClr val="bg1"/>
                </a:solidFill>
                <a:latin typeface="Times New Roman" panose="02020603050405020304" charset="0"/>
                <a:cs typeface="Times New Roman" panose="02020603050405020304" charset="0"/>
              </a:rPr>
              <a:t>[2] Fischer &amp; Krauss, European J. Oper. Res., 2018 — LSTM vs. ML for S&amp;P 500</a:t>
            </a:r>
            <a:endParaRPr lang="en-US" sz="1000" dirty="0">
              <a:solidFill>
                <a:schemeClr val="bg1"/>
              </a:solidFill>
              <a:latin typeface="Times New Roman" panose="02020603050405020304" charset="0"/>
              <a:cs typeface="Times New Roman" panose="02020603050405020304" charset="0"/>
            </a:endParaRPr>
          </a:p>
          <a:p>
            <a:pPr marL="0" indent="0">
              <a:buNone/>
            </a:pPr>
            <a:r>
              <a:rPr lang="en-US" sz="1000" dirty="0">
                <a:solidFill>
                  <a:schemeClr val="bg1"/>
                </a:solidFill>
                <a:latin typeface="Times New Roman" panose="02020603050405020304" charset="0"/>
                <a:cs typeface="Times New Roman" panose="02020603050405020304" charset="0"/>
              </a:rPr>
              <a:t>[3] Moghar &amp; Hamiche, Proc. Computer Science, 2020 — LSTM on NSE data</a:t>
            </a:r>
            <a:endParaRPr lang="en-US" sz="1000" dirty="0">
              <a:solidFill>
                <a:schemeClr val="bg1"/>
              </a:solidFill>
              <a:latin typeface="Times New Roman" panose="02020603050405020304" charset="0"/>
              <a:cs typeface="Times New Roman" panose="02020603050405020304" charset="0"/>
            </a:endParaRPr>
          </a:p>
          <a:p>
            <a:pPr marL="0" indent="0">
              <a:buNone/>
            </a:pPr>
            <a:r>
              <a:rPr lang="en-US" sz="1000" dirty="0">
                <a:solidFill>
                  <a:schemeClr val="bg1"/>
                </a:solidFill>
                <a:latin typeface="Times New Roman" panose="02020603050405020304" charset="0"/>
                <a:cs typeface="Times New Roman" panose="02020603050405020304" charset="0"/>
              </a:rPr>
              <a:t>[4] Géron, Hands-On ML with Scikit-Learn, Keras &amp; TF, O'Reilly 2022  |  [8] Markowitz, J. Finance 1952 — MPT</a:t>
            </a:r>
            <a:endParaRPr lang="en-US" sz="1000" dirty="0">
              <a:solidFill>
                <a:schemeClr val="bg1"/>
              </a:solidFill>
              <a:latin typeface="Times New Roman" panose="02020603050405020304" charset="0"/>
              <a:cs typeface="Times New Roman" panose="02020603050405020304" charset="0"/>
            </a:endParaRPr>
          </a:p>
        </p:txBody>
      </p:sp>
      <p:sp>
        <p:nvSpPr>
          <p:cNvPr id="11" name="Shape 9"/>
          <p:cNvSpPr/>
          <p:nvPr/>
        </p:nvSpPr>
        <p:spPr>
          <a:xfrm>
            <a:off x="0" y="4370832"/>
            <a:ext cx="9144000" cy="772668"/>
          </a:xfrm>
          <a:prstGeom prst="rect">
            <a:avLst/>
          </a:prstGeom>
          <a:solidFill>
            <a:srgbClr val="081827"/>
          </a:solidFill>
          <a:ln w="12700">
            <a:solidFill>
              <a:srgbClr val="081827"/>
            </a:solidFill>
            <a:prstDash val="solid"/>
          </a:ln>
        </p:spPr>
      </p:sp>
      <p:sp>
        <p:nvSpPr>
          <p:cNvPr id="12" name="Text 10"/>
          <p:cNvSpPr/>
          <p:nvPr/>
        </p:nvSpPr>
        <p:spPr>
          <a:xfrm>
            <a:off x="457200" y="4407408"/>
            <a:ext cx="8229600" cy="320040"/>
          </a:xfrm>
          <a:prstGeom prst="rect">
            <a:avLst/>
          </a:prstGeom>
          <a:noFill/>
        </p:spPr>
        <p:txBody>
          <a:bodyPr wrap="square" rtlCol="0" anchor="ctr"/>
          <a:lstStyle/>
          <a:p>
            <a:pPr marL="0" indent="0" algn="ctr">
              <a:buNone/>
            </a:pPr>
            <a:r>
              <a:rPr lang="en-US" sz="1100" dirty="0">
                <a:solidFill>
                  <a:srgbClr val="A8C8E0"/>
                </a:solidFill>
                <a:latin typeface="Times New Roman" panose="02020603050405020304" charset="0"/>
                <a:cs typeface="Times New Roman" panose="02020603050405020304" charset="0"/>
              </a:rPr>
              <a:t>Vinod Naik (1MS24EI404)  ·  Samay Thakur (1MS23EI044)  ·  Dept. ISE, RIT  ·  2025–26</a:t>
            </a:r>
            <a:endParaRPr lang="en-US" sz="1100" dirty="0">
              <a:solidFill>
                <a:srgbClr val="A8C8E0"/>
              </a:solidFill>
              <a:latin typeface="Times New Roman" panose="02020603050405020304" charset="0"/>
              <a:cs typeface="Times New Roman" panose="02020603050405020304" charset="0"/>
            </a:endParaRPr>
          </a:p>
        </p:txBody>
      </p:sp>
      <p:sp>
        <p:nvSpPr>
          <p:cNvPr id="13" name="Text 11"/>
          <p:cNvSpPr/>
          <p:nvPr/>
        </p:nvSpPr>
        <p:spPr>
          <a:xfrm>
            <a:off x="8046720" y="4800600"/>
            <a:ext cx="822960" cy="228600"/>
          </a:xfrm>
          <a:prstGeom prst="rect">
            <a:avLst/>
          </a:prstGeom>
          <a:noFill/>
        </p:spPr>
        <p:txBody>
          <a:bodyPr wrap="square" rtlCol="0" anchor="ctr"/>
          <a:lstStyle/>
          <a:p>
            <a:pPr marL="0" indent="0" algn="r">
              <a:buNone/>
            </a:pPr>
            <a:r>
              <a:rPr lang="en-US" sz="900" dirty="0">
                <a:solidFill>
                  <a:srgbClr val="5A7490"/>
                </a:solidFill>
                <a:latin typeface="Times New Roman" panose="02020603050405020304" charset="0"/>
                <a:cs typeface="Times New Roman" panose="02020603050405020304" charset="0"/>
              </a:rPr>
              <a:t>19 / 19</a:t>
            </a:r>
            <a:endParaRPr lang="en-US" sz="900" dirty="0">
              <a:solidFill>
                <a:srgbClr val="5A7490"/>
              </a:solidFill>
              <a:latin typeface="Times New Roman" panose="02020603050405020304" charset="0"/>
              <a:cs typeface="Times New Roman" panose="0202060305040502030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773555" y="1776730"/>
            <a:ext cx="5727065" cy="849630"/>
          </a:xfrm>
          <a:prstGeom prst="rect">
            <a:avLst/>
          </a:prstGeom>
          <a:noFill/>
        </p:spPr>
        <p:txBody>
          <a:bodyPr wrap="square" rtlCol="0">
            <a:noAutofit/>
          </a:bodyPr>
          <a:p>
            <a:pPr algn="ctr"/>
            <a:r>
              <a:rPr lang="en-IN" altLang="en-GB" sz="5000" b="1">
                <a:latin typeface="Times New Roman" panose="02020603050405020304" charset="0"/>
                <a:cs typeface="Times New Roman" panose="02020603050405020304" charset="0"/>
              </a:rPr>
              <a:t>THANK YOU</a:t>
            </a:r>
            <a:endParaRPr lang="en-IN" altLang="en-GB" sz="5000" b="1">
              <a:latin typeface="Times New Roman" panose="02020603050405020304" charset="0"/>
              <a:cs typeface="Times New Roman" panose="0202060305040502030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8592</Words>
  <Application>WPS Presentation</Application>
  <PresentationFormat>On-screen Show (16:9)</PresentationFormat>
  <Paragraphs>453</Paragraphs>
  <Slides>19</Slides>
  <Notes>19</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19</vt:i4>
      </vt:variant>
    </vt:vector>
  </HeadingPairs>
  <TitlesOfParts>
    <vt:vector size="27" baseType="lpstr">
      <vt:lpstr>Arial</vt:lpstr>
      <vt:lpstr>SimSun</vt:lpstr>
      <vt:lpstr>Wingdings</vt:lpstr>
      <vt:lpstr>Times New Roman</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 Market Price Prediction &amp; Analysis Using Python</dc:title>
  <dc:creator>Vinod Naik &amp; Samay Thakur</dc:creator>
  <dc:subject>PptxGenJS Presentation</dc:subject>
  <cp:lastModifiedBy>Samay Thakur</cp:lastModifiedBy>
  <cp:revision>3</cp:revision>
  <dcterms:created xsi:type="dcterms:W3CDTF">2026-06-03T07:54:00Z</dcterms:created>
  <dcterms:modified xsi:type="dcterms:W3CDTF">2026-06-03T08:51:46Z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D577A9D24D2A46388AAEDB974B9716D9_12</vt:lpwstr>
  </property>
  <property fmtid="{D5CDD505-2E9C-101B-9397-08002B2CF9AE}" pid="3" name="KSOProductBuildVer">
    <vt:lpwstr>2057-12.2.0.23202</vt:lpwstr>
  </property>
</Properties>
</file>